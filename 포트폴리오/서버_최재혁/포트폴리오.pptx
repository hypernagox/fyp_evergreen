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9" r:id="rId45"/>
    <p:sldId id="312" r:id="rId46"/>
    <p:sldId id="311" r:id="rId47"/>
    <p:sldId id="262" r:id="rId48"/>
    <p:sldId id="263" r:id="rId49"/>
    <p:sldId id="264" r:id="rId50"/>
    <p:sldId id="266" r:id="rId51"/>
    <p:sldId id="267" r:id="rId52"/>
    <p:sldId id="268" r:id="rId53"/>
    <p:sldId id="269" r:id="rId54"/>
    <p:sldId id="271" r:id="rId55"/>
    <p:sldId id="272" r:id="rId56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11" y="-6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YUXPkwEod1Q" TargetMode="External"/><Relationship Id="rId2" Type="http://schemas.openxmlformats.org/officeDocument/2006/relationships/hyperlink" Target="https://github.com/hypernagox/FYP_Evergreen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3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5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jpg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jpg"/><Relationship Id="rId4" Type="http://schemas.openxmlformats.org/officeDocument/2006/relationships/image" Target="../media/image51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7" Type="http://schemas.openxmlformats.org/officeDocument/2006/relationships/image" Target="../media/image58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jpg"/><Relationship Id="rId5" Type="http://schemas.openxmlformats.org/officeDocument/2006/relationships/image" Target="../media/image56.jpg"/><Relationship Id="rId4" Type="http://schemas.openxmlformats.org/officeDocument/2006/relationships/image" Target="../media/image55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2.jpg"/><Relationship Id="rId4" Type="http://schemas.openxmlformats.org/officeDocument/2006/relationships/image" Target="../media/image61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0.jpg"/><Relationship Id="rId5" Type="http://schemas.openxmlformats.org/officeDocument/2006/relationships/image" Target="../media/image69.jpg"/><Relationship Id="rId4" Type="http://schemas.openxmlformats.org/officeDocument/2006/relationships/image" Target="../media/image68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9.jpg"/><Relationship Id="rId5" Type="http://schemas.openxmlformats.org/officeDocument/2006/relationships/image" Target="../media/image78.jpg"/><Relationship Id="rId4" Type="http://schemas.openxmlformats.org/officeDocument/2006/relationships/image" Target="../media/image77.jp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989459"/>
              </p:ext>
            </p:extLst>
          </p:nvPr>
        </p:nvGraphicFramePr>
        <p:xfrm>
          <a:off x="4400550" y="71348"/>
          <a:ext cx="5520592" cy="67513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14796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105796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Evergreen (</a:t>
                      </a:r>
                      <a:r>
                        <a:rPr lang="ko-KR" altLang="en-US" sz="1600" dirty="0" err="1"/>
                        <a:t>에버그린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21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253045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1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100" dirty="0"/>
                        <a:t>   컴포넌트 패턴 기반의 서버프레임 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파티 퀘스트 컨텐츠 및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제작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 사이드에서 다른 유저의 위치 정보 보간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 사이드에서 서버로부터 전달되는 유저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각종 컨텐츠 정보를 동기화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 err="1"/>
                        <a:t>FlatBuffers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라이브러리를 이용한 프로토콜 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패킷 정의 및 자동화 툴 제작</a:t>
                      </a:r>
                      <a:endParaRPr lang="en-US" altLang="ko-KR" sz="1100" dirty="0"/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100" dirty="0"/>
                        <a:t>DB Query Server </a:t>
                      </a:r>
                      <a:r>
                        <a:rPr lang="ko-KR" altLang="en-US" sz="1100" dirty="0"/>
                        <a:t>제작 및 </a:t>
                      </a:r>
                      <a:r>
                        <a:rPr lang="en-US" altLang="ko-KR" sz="1100" dirty="0"/>
                        <a:t>DB</a:t>
                      </a:r>
                      <a:r>
                        <a:rPr lang="ko-KR" altLang="en-US" sz="1100" dirty="0"/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2"/>
                        </a:rPr>
                        <a:t>https://github.com/hypernagox/FYP_Evergreen</a:t>
                      </a:r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3"/>
                        </a:rPr>
                        <a:t>https://www.youtube.com/watch?v=YUXPkwEod1Q</a:t>
                      </a:r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0325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한국공학대전 </a:t>
                      </a:r>
                      <a:r>
                        <a:rPr lang="ko-KR" altLang="en-US" sz="1200" dirty="0" err="1"/>
                        <a:t>한국산업기술기획평가원</a:t>
                      </a:r>
                      <a:r>
                        <a:rPr lang="ko-KR" altLang="en-US" sz="1200" dirty="0"/>
                        <a:t> </a:t>
                      </a:r>
                      <a:r>
                        <a:rPr lang="ko-KR" altLang="en-US" sz="1200" dirty="0" err="1"/>
                        <a:t>원장상</a:t>
                      </a:r>
                      <a:r>
                        <a:rPr lang="ko-KR" altLang="en-US" sz="1200" dirty="0"/>
                        <a:t> 수상</a:t>
                      </a:r>
                      <a:endParaRPr lang="en-US" altLang="ko-KR" sz="12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한국공학대학교 게임공학과 최우수 졸업작품 선정</a:t>
                      </a:r>
                      <a:endParaRPr lang="en-US" altLang="ko-KR" sz="12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SW</a:t>
                      </a:r>
                      <a:r>
                        <a:rPr lang="ko-KR" altLang="en-US" sz="1200" dirty="0"/>
                        <a:t>중심대학 우수작품 </a:t>
                      </a:r>
                      <a:r>
                        <a:rPr lang="ko-KR" altLang="en-US" sz="1200"/>
                        <a:t>경진대회 학교 대표 선정</a:t>
                      </a:r>
                      <a:endParaRPr lang="en-US" altLang="ko-KR" sz="1200" dirty="0"/>
                    </a:p>
                    <a:p>
                      <a:pPr latinLnBrk="1"/>
                      <a:r>
                        <a:rPr lang="ko-KR" altLang="en-US" sz="1200" dirty="0"/>
                        <a:t>한국공학대전 체육관 오프라인 전시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304A468A-B298-89A3-B938-2BF929D854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9950"/>
            <a:ext cx="4285881" cy="529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7082"/>
            <a:ext cx="9071640" cy="365638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4. Task vs std::function</a:t>
            </a:r>
          </a:p>
          <a:p>
            <a:pPr marL="0" indent="0">
              <a:buNone/>
            </a:pPr>
            <a:r>
              <a:rPr lang="en-US" altLang="ko-KR" dirty="0"/>
              <a:t>5. Cluster </a:t>
            </a:r>
            <a:r>
              <a:rPr lang="ko-KR" altLang="en-US" dirty="0"/>
              <a:t>공간분할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6. view list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1298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4986337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F6075-BC46-FABC-3A71-806184DE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75" y="419010"/>
            <a:ext cx="9071640" cy="609398"/>
          </a:xfrm>
        </p:spPr>
        <p:txBody>
          <a:bodyPr/>
          <a:lstStyle/>
          <a:p>
            <a:r>
              <a:rPr lang="en-US" altLang="ko-KR" dirty="0"/>
              <a:t>2. MPSQ </a:t>
            </a:r>
            <a:r>
              <a:rPr lang="ko-KR" altLang="en-US" dirty="0"/>
              <a:t>큐 </a:t>
            </a:r>
            <a:r>
              <a:rPr lang="en-US" altLang="ko-KR" sz="2000" dirty="0"/>
              <a:t>(Multi Producer Single Consumer </a:t>
            </a:r>
            <a:r>
              <a:rPr lang="ko-KR" altLang="en-US" sz="2000" dirty="0"/>
              <a:t>큐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6D382B-EFE2-E945-2470-7D32BED99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2075" y="1105301"/>
            <a:ext cx="9071640" cy="179796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앞서 언급된 </a:t>
            </a:r>
            <a:r>
              <a:rPr lang="en-US" altLang="ko-KR" sz="1200" dirty="0"/>
              <a:t>Lock Free Executor</a:t>
            </a:r>
            <a:r>
              <a:rPr lang="ko-KR" altLang="en-US" sz="1200" dirty="0"/>
              <a:t>의 작동 방식이 </a:t>
            </a:r>
            <a:r>
              <a:rPr lang="en-US" altLang="ko-KR" sz="1200" dirty="0"/>
              <a:t>Pop (Flush)</a:t>
            </a:r>
            <a:r>
              <a:rPr lang="ko-KR" altLang="en-US" sz="1200" dirty="0"/>
              <a:t>할 때 반드시 </a:t>
            </a:r>
            <a:r>
              <a:rPr lang="ko-KR" altLang="en-US" sz="1200" dirty="0" err="1"/>
              <a:t>싱글스레드로</a:t>
            </a:r>
            <a:r>
              <a:rPr lang="ko-KR" altLang="en-US" sz="1200" dirty="0"/>
              <a:t> 동작함이 보장되기에 </a:t>
            </a:r>
            <a:r>
              <a:rPr lang="en-US" altLang="ko-KR" sz="1200" dirty="0"/>
              <a:t>ABA </a:t>
            </a:r>
            <a:r>
              <a:rPr lang="ko-KR" altLang="en-US" sz="1200" dirty="0"/>
              <a:t>문제 해결을 위한 오버헤드를 없앨 수 있고 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일반적인 </a:t>
            </a:r>
            <a:r>
              <a:rPr lang="en-US" altLang="ko-KR" sz="1200" dirty="0"/>
              <a:t>Lock-Free</a:t>
            </a:r>
            <a:r>
              <a:rPr lang="ko-KR" altLang="en-US" sz="1200" dirty="0"/>
              <a:t>큐의 </a:t>
            </a:r>
            <a:r>
              <a:rPr lang="en-US" altLang="ko-KR" sz="1200" dirty="0"/>
              <a:t>Push / Pop </a:t>
            </a:r>
            <a:r>
              <a:rPr lang="ko-KR" altLang="en-US" sz="1200" dirty="0"/>
              <a:t>로직 구현에 필요한 루프 </a:t>
            </a:r>
            <a:r>
              <a:rPr lang="en-US" altLang="ko-KR" sz="1200" dirty="0"/>
              <a:t>+ CAS</a:t>
            </a:r>
            <a:r>
              <a:rPr lang="ko-KR" altLang="en-US" sz="1200" dirty="0"/>
              <a:t> 구조에서 루프를 제거하고 </a:t>
            </a:r>
            <a:r>
              <a:rPr lang="en-US" altLang="ko-KR" sz="1200" dirty="0"/>
              <a:t>CAS</a:t>
            </a:r>
            <a:r>
              <a:rPr lang="ko-KR" altLang="en-US" sz="1200" dirty="0"/>
              <a:t>연산을 더 가벼운 </a:t>
            </a:r>
            <a:r>
              <a:rPr lang="en-US" altLang="ko-KR" sz="1200" dirty="0"/>
              <a:t>atomic </a:t>
            </a:r>
            <a:r>
              <a:rPr lang="ko-KR" altLang="en-US" sz="1200" dirty="0"/>
              <a:t>연산으로 바꿀 수 있기에 큰 성능 향상을 기대할 수 있다고 생각하였다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또한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</a:t>
            </a:r>
            <a:r>
              <a:rPr lang="ko-KR" altLang="en-US" sz="1200" dirty="0"/>
              <a:t> 로직도 앞서 언급한 방식과 매우 유사하게 작동하기 때문에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 </a:t>
            </a:r>
            <a:r>
              <a:rPr lang="ko-KR" altLang="en-US" sz="1200" dirty="0"/>
              <a:t>큐에도 </a:t>
            </a:r>
            <a:r>
              <a:rPr lang="en-US" altLang="ko-KR" sz="1200" dirty="0"/>
              <a:t>MPSC </a:t>
            </a:r>
            <a:r>
              <a:rPr lang="ko-KR" altLang="en-US" sz="1200" dirty="0"/>
              <a:t>큐를 사용한다면 이 부분에서도 마찬가지로 큰 성능 향상을 기대할 수 있다고 생각하였다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88253B-74D0-F331-8258-3BEC8A3F5DDC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989673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84516-38F7-2627-60E8-91BDC7B7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612750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구현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구현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38F20B-97A9-6B4D-45C8-A27EE8CF8E08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F38D-DEB8-035E-E079-DCC7149A7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3" y="2895600"/>
            <a:ext cx="4238133" cy="21415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D08252-6F0E-8A39-7816-496DAC687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898524"/>
            <a:ext cx="4819157" cy="18637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B9F7432-F31D-AD58-6D69-584D21593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3" y="931862"/>
            <a:ext cx="4253515" cy="19034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29545C4-4D23-0A65-7ED2-E09A04B9A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2835275"/>
            <a:ext cx="4862020" cy="21415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C7AE39-DA26-54F8-749B-78467716AB53}"/>
              </a:ext>
            </a:extLst>
          </p:cNvPr>
          <p:cNvSpPr txBox="1"/>
          <p:nvPr/>
        </p:nvSpPr>
        <p:spPr>
          <a:xfrm>
            <a:off x="4485180" y="1719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99FF6-AB6C-7AC3-7035-5DB1F33730A9}"/>
              </a:ext>
            </a:extLst>
          </p:cNvPr>
          <p:cNvSpPr txBox="1"/>
          <p:nvPr/>
        </p:nvSpPr>
        <p:spPr>
          <a:xfrm>
            <a:off x="4466375" y="3551088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FFEFD1-9D9B-FD26-44F5-64284A2E7B65}"/>
              </a:ext>
            </a:extLst>
          </p:cNvPr>
          <p:cNvSpPr txBox="1"/>
          <p:nvPr/>
        </p:nvSpPr>
        <p:spPr>
          <a:xfrm>
            <a:off x="1257300" y="5059657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좌측이 </a:t>
            </a:r>
            <a:r>
              <a:rPr lang="en-US" altLang="ko-KR" dirty="0" err="1"/>
              <a:t>tbb</a:t>
            </a:r>
            <a:r>
              <a:rPr lang="ko-KR" altLang="en-US" dirty="0"/>
              <a:t>의 </a:t>
            </a:r>
            <a:r>
              <a:rPr lang="en-US" altLang="ko-KR" dirty="0" err="1"/>
              <a:t>concurrent_queue</a:t>
            </a:r>
            <a:r>
              <a:rPr lang="en-US" altLang="ko-KR" dirty="0"/>
              <a:t> / </a:t>
            </a:r>
            <a:r>
              <a:rPr lang="ko-KR" altLang="en-US" dirty="0"/>
              <a:t>우측이 직접 제작한 </a:t>
            </a:r>
            <a:r>
              <a:rPr lang="en-US" altLang="ko-KR" dirty="0"/>
              <a:t>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MPSC </a:t>
            </a:r>
            <a:r>
              <a:rPr lang="ko-KR" altLang="en-US" dirty="0"/>
              <a:t>큐에서는 루프가 사라지고 </a:t>
            </a:r>
            <a:r>
              <a:rPr lang="en-US" altLang="ko-KR" dirty="0"/>
              <a:t>CAS</a:t>
            </a:r>
            <a:r>
              <a:rPr lang="ko-KR" altLang="en-US" dirty="0"/>
              <a:t>가 다른 </a:t>
            </a:r>
            <a:r>
              <a:rPr lang="en-US" altLang="ko-KR" dirty="0"/>
              <a:t>atomic </a:t>
            </a:r>
            <a:r>
              <a:rPr lang="ko-KR" altLang="en-US" dirty="0"/>
              <a:t>연산으로 대체되었다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4053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86529-81D4-3067-087D-3E9196C3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52474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성능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성능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42F1482-9A7A-9943-2777-8A3FFB66F67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8F22EE-A5C2-48BA-766B-5C65A85F7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5699"/>
            <a:ext cx="3313113" cy="23918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0AAC39B-293E-347F-92F9-B336F32D0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57525"/>
            <a:ext cx="3313113" cy="25177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B89178-7475-7B21-EDAE-CDAFA6F859BD}"/>
              </a:ext>
            </a:extLst>
          </p:cNvPr>
          <p:cNvSpPr txBox="1"/>
          <p:nvPr/>
        </p:nvSpPr>
        <p:spPr>
          <a:xfrm>
            <a:off x="3228975" y="620967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9D4CB6-A90A-E457-ED35-78EE25360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667583"/>
            <a:ext cx="3838574" cy="81915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5313D9-B2D0-8BF0-3B40-5AAC56184C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1474005"/>
            <a:ext cx="3838575" cy="88582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AF91EB-6D20-9642-4339-B18EBB73D21D}"/>
              </a:ext>
            </a:extLst>
          </p:cNvPr>
          <p:cNvSpPr txBox="1"/>
          <p:nvPr/>
        </p:nvSpPr>
        <p:spPr>
          <a:xfrm>
            <a:off x="7616823" y="1630894"/>
            <a:ext cx="233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</a:t>
            </a:r>
            <a:r>
              <a:rPr lang="en-US" altLang="ko-KR" sz="800" dirty="0"/>
              <a:t>1</a:t>
            </a:r>
            <a:r>
              <a:rPr lang="ko-KR" altLang="en-US" sz="800" dirty="0" err="1"/>
              <a:t>억개의</a:t>
            </a:r>
            <a:r>
              <a:rPr lang="ko-KR" altLang="en-US" sz="800" dirty="0"/>
              <a:t>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3050ms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E5980-39C4-E624-8B76-B41A22C87E7E}"/>
              </a:ext>
            </a:extLst>
          </p:cNvPr>
          <p:cNvSpPr txBox="1"/>
          <p:nvPr/>
        </p:nvSpPr>
        <p:spPr>
          <a:xfrm>
            <a:off x="7616823" y="711233"/>
            <a:ext cx="24638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천만개의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1350ms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92F7C5-0773-50C7-3D7B-1DD219E0C8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0" y="3730345"/>
            <a:ext cx="2989264" cy="18002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138F247-754F-C77B-4193-2A6FDCE3FB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486" y="3730345"/>
            <a:ext cx="3259139" cy="18002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FFCB30-BB8B-FA85-9033-84D3DC2B639E}"/>
              </a:ext>
            </a:extLst>
          </p:cNvPr>
          <p:cNvSpPr txBox="1"/>
          <p:nvPr/>
        </p:nvSpPr>
        <p:spPr>
          <a:xfrm>
            <a:off x="3778249" y="3361013"/>
            <a:ext cx="4560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자료구조 작성 시 고민했던 문제들</a:t>
            </a:r>
            <a:r>
              <a:rPr lang="en-US" altLang="ko-KR" dirty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3977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5EE45-EB94-8FB4-9534-9472AEC4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18638"/>
            <a:ext cx="9071640" cy="609398"/>
          </a:xfrm>
        </p:spPr>
        <p:txBody>
          <a:bodyPr/>
          <a:lstStyle/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제작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13C6F2-FADB-D150-8D57-442663E5A89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1064660"/>
            <a:ext cx="9071640" cy="2854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- </a:t>
            </a: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shared_ptr</a:t>
            </a:r>
            <a:r>
              <a:rPr lang="ko-KR" altLang="en-US" sz="1600" dirty="0"/>
              <a:t>을 이용하고 있다면 </a:t>
            </a:r>
            <a:r>
              <a:rPr lang="en-US" altLang="ko-KR" sz="1600" dirty="0"/>
              <a:t>this</a:t>
            </a:r>
            <a:r>
              <a:rPr lang="ko-KR" altLang="en-US" sz="1600" dirty="0"/>
              <a:t>포인터를 전달할 필요가 있을 때 반드시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를 상속받아서 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()</a:t>
            </a:r>
            <a:r>
              <a:rPr lang="ko-KR" altLang="en-US" sz="1600" dirty="0"/>
              <a:t>를 호출하여 생성하여야 한다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는 자기자신의 </a:t>
            </a:r>
            <a:r>
              <a:rPr lang="en-US" altLang="ko-KR" sz="1600" dirty="0" err="1"/>
              <a:t>weak_ptr</a:t>
            </a:r>
            <a:r>
              <a:rPr lang="ko-KR" altLang="en-US" sz="1600" dirty="0"/>
              <a:t>을 멤버변수로 가지고 이를 매개변수로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생성자를 이용하여 반환하도록 구현되어 있다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shared_from_this</a:t>
            </a:r>
            <a:r>
              <a:rPr lang="ko-KR" altLang="en-US" sz="1600" dirty="0"/>
              <a:t>는 매우 자주 호출될 함수인데 내부 구현이 루프 </a:t>
            </a:r>
            <a:r>
              <a:rPr lang="en-US" altLang="ko-KR" sz="1600" dirty="0"/>
              <a:t>+ CAS</a:t>
            </a:r>
            <a:r>
              <a:rPr lang="ko-KR" altLang="en-US" sz="1600" dirty="0"/>
              <a:t>로 되어있어 큰 오버헤드가 예상되고 직접 구현하면 </a:t>
            </a:r>
            <a:r>
              <a:rPr lang="en-US" altLang="ko-KR" sz="1600" dirty="0" err="1"/>
              <a:t>InterlockedIncrement</a:t>
            </a:r>
            <a:r>
              <a:rPr lang="ko-KR" altLang="en-US" sz="1600" dirty="0"/>
              <a:t>를 한번만 호출하는 것으로 성능 개선 가능성이 보인다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크기가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바이트인데 직접 제작한다면 이를 </a:t>
            </a:r>
            <a:r>
              <a:rPr lang="en-US" altLang="ko-KR" sz="1600" dirty="0"/>
              <a:t>8</a:t>
            </a:r>
            <a:r>
              <a:rPr lang="ko-KR" altLang="en-US" sz="1600" dirty="0"/>
              <a:t>바이트로 줄일 수 있고 제어블록 대신 정수 값 하나만을 이용하여 더 적은 메모리로 구현할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>
              <a:buFontTx/>
              <a:buChar char="-"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F5EFB4-FDAF-8E90-7922-381BE8B526E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365534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C897C25-3C39-23BA-7011-5855BA5B49A7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EA543-EEF6-061D-2F10-8493B08A3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7111"/>
            <a:ext cx="3538538" cy="209065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10CCC9-A89C-EA7F-9EF7-C47DDD1B2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460599"/>
            <a:ext cx="3538539" cy="2619375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F1FAFB09-DA64-2FF9-DC87-8EA358840603}"/>
              </a:ext>
            </a:extLst>
          </p:cNvPr>
          <p:cNvSpPr txBox="1">
            <a:spLocks/>
          </p:cNvSpPr>
          <p:nvPr/>
        </p:nvSpPr>
        <p:spPr>
          <a:xfrm>
            <a:off x="-1" y="5160926"/>
            <a:ext cx="3469783" cy="2492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 </a:t>
            </a:r>
            <a:r>
              <a:rPr lang="ko-KR" altLang="en-US" sz="1200" dirty="0"/>
              <a:t>표준 </a:t>
            </a:r>
            <a:r>
              <a:rPr lang="en-US" altLang="ko-KR" sz="1200" dirty="0" err="1"/>
              <a:t>shared_from_this</a:t>
            </a:r>
            <a:r>
              <a:rPr lang="en-US" altLang="ko-KR" sz="1200" dirty="0"/>
              <a:t>()</a:t>
            </a:r>
            <a:r>
              <a:rPr lang="ko-KR" altLang="en-US" sz="1200" dirty="0"/>
              <a:t>의 내부 구현 </a:t>
            </a:r>
            <a:r>
              <a:rPr lang="en-US" altLang="ko-KR" sz="1200" dirty="0"/>
              <a:t>(MSVC </a:t>
            </a:r>
            <a:r>
              <a:rPr lang="ko-KR" altLang="en-US" sz="1200" dirty="0"/>
              <a:t>기준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897DB-BCDE-3537-5ED2-61A80A5D6419}"/>
              </a:ext>
            </a:extLst>
          </p:cNvPr>
          <p:cNvSpPr txBox="1"/>
          <p:nvPr/>
        </p:nvSpPr>
        <p:spPr>
          <a:xfrm>
            <a:off x="3538538" y="252008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910359-8159-1D23-6F42-D35E1FEFE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72185"/>
            <a:ext cx="5880100" cy="227572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128EB6A-2B17-D5B4-3F1E-570A87E99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347913"/>
            <a:ext cx="5880099" cy="27320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985B1B-4367-6FFD-B0AA-93FD23686594}"/>
              </a:ext>
            </a:extLst>
          </p:cNvPr>
          <p:cNvSpPr txBox="1"/>
          <p:nvPr/>
        </p:nvSpPr>
        <p:spPr>
          <a:xfrm>
            <a:off x="4200525" y="5147330"/>
            <a:ext cx="583614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루프와 </a:t>
            </a:r>
            <a:r>
              <a:rPr lang="en-US" altLang="ko-KR" sz="1000" dirty="0"/>
              <a:t>CAS</a:t>
            </a:r>
            <a:r>
              <a:rPr lang="ko-KR" altLang="en-US" sz="1000" dirty="0"/>
              <a:t>를 없애고 </a:t>
            </a:r>
            <a:r>
              <a:rPr lang="en-US" altLang="ko-KR" sz="1000" dirty="0" err="1"/>
              <a:t>InterlockedIncrement</a:t>
            </a:r>
            <a:r>
              <a:rPr lang="en-US" altLang="ko-KR" sz="1000" dirty="0"/>
              <a:t> </a:t>
            </a:r>
            <a:r>
              <a:rPr lang="ko-KR" altLang="en-US" sz="1000" dirty="0"/>
              <a:t>호출 한번으로 간단하게 </a:t>
            </a:r>
            <a:r>
              <a:rPr lang="en-US" altLang="ko-KR" sz="1000" dirty="0" err="1"/>
              <a:t>shared_from_this</a:t>
            </a:r>
            <a:r>
              <a:rPr lang="ko-KR" altLang="en-US" sz="1000" dirty="0"/>
              <a:t>를 구현 가능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 전문은 </a:t>
            </a:r>
            <a:r>
              <a:rPr lang="en-US" altLang="ko-KR" sz="1000" dirty="0" err="1"/>
              <a:t>RefCountable.h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67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11A4E-97B2-4B55-F1CF-D275BCE53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22286"/>
            <a:ext cx="9071640" cy="247331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Custom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제작으로 얻는 것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en-US" altLang="ko-KR" sz="1600" dirty="0"/>
              <a:t>1. 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에 비해 훨씬 더 적은 메모리로 구현 가능</a:t>
            </a:r>
            <a:br>
              <a:rPr lang="en-US" altLang="ko-KR" sz="1600" dirty="0"/>
            </a:br>
            <a:r>
              <a:rPr lang="en-US" altLang="ko-KR" sz="1600" dirty="0"/>
              <a:t>2. </a:t>
            </a:r>
            <a:r>
              <a:rPr lang="ko-KR" altLang="en-US" sz="1600" dirty="0"/>
              <a:t>객체의 수명 보장을 위해 불필요한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복사가 여러 번 발생 하는 것을 한번에 레퍼런스 카운터를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큰 값을 증가시키는 것으로 대체 가능</a:t>
            </a:r>
            <a:br>
              <a:rPr lang="en-US" altLang="ko-KR" sz="1600" dirty="0"/>
            </a:br>
            <a:r>
              <a:rPr lang="en-US" altLang="ko-KR" sz="1600" dirty="0"/>
              <a:t>3. </a:t>
            </a:r>
            <a:r>
              <a:rPr lang="ko-KR" altLang="en-US" sz="1600" dirty="0"/>
              <a:t>자기 자신에 대한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생성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)</a:t>
            </a:r>
            <a:r>
              <a:rPr lang="ko-KR" altLang="en-US" sz="1600" dirty="0"/>
              <a:t>에 발생했던 오버헤드를 크게 감소</a:t>
            </a:r>
            <a:br>
              <a:rPr lang="en-US" altLang="ko-KR" sz="1600" dirty="0"/>
            </a:b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24AF3C29-58EC-372F-EE46-2C269210400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2D015B0-DE39-780A-0142-73170003D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0033" y="2691605"/>
            <a:ext cx="1562100" cy="19796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F82CD0-8018-83E9-E996-285A1119E7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450" y="2691605"/>
            <a:ext cx="2634583" cy="19796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08C56-CD97-6E9E-E222-A406593D1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2" y="2232025"/>
            <a:ext cx="3810000" cy="34020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3F319-0C3F-3B9C-38D7-E37E58D2120B}"/>
              </a:ext>
            </a:extLst>
          </p:cNvPr>
          <p:cNvSpPr txBox="1"/>
          <p:nvPr/>
        </p:nvSpPr>
        <p:spPr>
          <a:xfrm>
            <a:off x="4453351" y="353292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F0887-AD97-C5EB-0FF9-26C8F43EDF22}"/>
              </a:ext>
            </a:extLst>
          </p:cNvPr>
          <p:cNvSpPr txBox="1"/>
          <p:nvPr/>
        </p:nvSpPr>
        <p:spPr>
          <a:xfrm>
            <a:off x="5348288" y="4733925"/>
            <a:ext cx="4643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직접만든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과 표준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shared_from_this</a:t>
            </a:r>
            <a:r>
              <a:rPr lang="ko-KR" altLang="en-US" sz="1200" dirty="0"/>
              <a:t>를 각각 </a:t>
            </a:r>
            <a:r>
              <a:rPr lang="en-US" altLang="ko-KR" sz="1200" dirty="0"/>
              <a:t>1</a:t>
            </a:r>
            <a:r>
              <a:rPr lang="ko-KR" altLang="en-US" sz="1200" dirty="0" err="1"/>
              <a:t>억번씩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호출하였을때</a:t>
            </a:r>
            <a:r>
              <a:rPr lang="ko-KR" altLang="en-US" sz="1200" dirty="0"/>
              <a:t> 약 </a:t>
            </a:r>
            <a:r>
              <a:rPr lang="en-US" altLang="ko-KR" sz="1200" dirty="0"/>
              <a:t>500ms</a:t>
            </a:r>
            <a:r>
              <a:rPr lang="ko-KR" altLang="en-US" sz="1200" dirty="0"/>
              <a:t> 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8950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AD9E9-408C-F7C0-596E-CEDFA343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27951"/>
            <a:ext cx="9071640" cy="609398"/>
          </a:xfrm>
        </p:spPr>
        <p:txBody>
          <a:bodyPr/>
          <a:lstStyle/>
          <a:p>
            <a:r>
              <a:rPr lang="en-US" altLang="ko-KR" dirty="0"/>
              <a:t>4. Task vs std::function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7FCD62-A7B8-49E3-6862-59550A3B3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371873"/>
            <a:ext cx="9071640" cy="137315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en-US" altLang="ko-KR" sz="1600" dirty="0"/>
              <a:t>- std::function</a:t>
            </a:r>
            <a:r>
              <a:rPr lang="ko-KR" altLang="en-US" sz="1600" dirty="0"/>
              <a:t>을 람다 캡처로 만들 시 발생하는 동적 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오버헤드를 고성능 커스텀 메모리 풀을 이용하여 개선할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- x64 </a:t>
            </a:r>
            <a:r>
              <a:rPr lang="ko-KR" altLang="en-US" sz="1600" dirty="0"/>
              <a:t>기준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 크기</a:t>
            </a:r>
            <a:r>
              <a:rPr lang="en-US" altLang="ko-KR" sz="1600" dirty="0"/>
              <a:t>(</a:t>
            </a:r>
            <a:r>
              <a:rPr lang="ko-KR" altLang="en-US" sz="1600" dirty="0"/>
              <a:t>포인터 두개</a:t>
            </a:r>
            <a:r>
              <a:rPr lang="en-US" altLang="ko-KR" sz="1600" dirty="0"/>
              <a:t>)</a:t>
            </a:r>
            <a:r>
              <a:rPr lang="ko-KR" altLang="en-US" sz="1600" dirty="0"/>
              <a:t>로 제작이 가능하여 </a:t>
            </a:r>
            <a:r>
              <a:rPr lang="en-US" altLang="ko-KR" sz="1600" dirty="0"/>
              <a:t>64</a:t>
            </a:r>
            <a:r>
              <a:rPr lang="ko-KR" altLang="en-US" sz="1600" dirty="0"/>
              <a:t>바이트인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에 비해 훨씬 더 적은 메모리를 이용하여 구현 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CD6DD7A-8A65-ABBC-74CD-3ACFA2B80EA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46C9DA-7059-88A3-6835-99BA38DF6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788" y="2218631"/>
            <a:ext cx="2271712" cy="2795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639A8D-F0AB-958D-FC7D-6C29D3AE85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7" y="2218631"/>
            <a:ext cx="2088201" cy="2795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F139E8-606F-429F-EF9A-9CC0A4EC1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5812" y="3619057"/>
            <a:ext cx="1447800" cy="13978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35EA786-765E-C3CA-6BDB-743A7643C0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574" y="2218631"/>
            <a:ext cx="1438275" cy="13978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E6679C0-6709-DAD7-B3C3-0D62F8DB17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724" y="2218631"/>
            <a:ext cx="2219325" cy="27956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92A3BE-3F48-1721-2660-217F5AA524A8}"/>
              </a:ext>
            </a:extLst>
          </p:cNvPr>
          <p:cNvSpPr txBox="1"/>
          <p:nvPr/>
        </p:nvSpPr>
        <p:spPr>
          <a:xfrm>
            <a:off x="4815708" y="345010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07DF41-8C60-43A6-22A3-4541609D6F66}"/>
              </a:ext>
            </a:extLst>
          </p:cNvPr>
          <p:cNvSpPr txBox="1"/>
          <p:nvPr/>
        </p:nvSpPr>
        <p:spPr>
          <a:xfrm>
            <a:off x="595312" y="5057775"/>
            <a:ext cx="9001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직접 만든 </a:t>
            </a:r>
            <a:r>
              <a:rPr lang="en-US" altLang="ko-KR" sz="1200" dirty="0"/>
              <a:t>Task</a:t>
            </a:r>
            <a:r>
              <a:rPr lang="ko-KR" altLang="en-US" sz="1200" dirty="0"/>
              <a:t>와 </a:t>
            </a:r>
            <a:r>
              <a:rPr lang="en-US" altLang="ko-KR" sz="1200" dirty="0"/>
              <a:t>std::function</a:t>
            </a:r>
            <a:r>
              <a:rPr lang="ko-KR" altLang="en-US" sz="1200" dirty="0"/>
              <a:t>을 동일한 멤버함수 포인터와 매개변수를 캡처하여 생성 및 각각 천만번 씩 호출했을 때 </a:t>
            </a:r>
            <a:r>
              <a:rPr lang="en-US" altLang="ko-KR" sz="1200" dirty="0"/>
              <a:t>Task </a:t>
            </a:r>
            <a:r>
              <a:rPr lang="ko-KR" altLang="en-US" sz="1200" dirty="0"/>
              <a:t>클래스가 약 </a:t>
            </a:r>
            <a:r>
              <a:rPr lang="en-US" altLang="ko-KR" sz="1200" dirty="0"/>
              <a:t>250ms </a:t>
            </a:r>
            <a:r>
              <a:rPr lang="ko-KR" altLang="en-US" sz="1200" dirty="0"/>
              <a:t>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32902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AB8C-B198-B473-65EB-EBFE7540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888" y="507854"/>
            <a:ext cx="9071640" cy="276999"/>
          </a:xfrm>
        </p:spPr>
        <p:txBody>
          <a:bodyPr/>
          <a:lstStyle/>
          <a:p>
            <a:r>
              <a:rPr lang="en-US" altLang="ko-KR" sz="2000" dirty="0"/>
              <a:t>5. Cluster </a:t>
            </a:r>
            <a:r>
              <a:rPr lang="ko-KR" altLang="en-US" sz="2000" dirty="0"/>
              <a:t>공간분할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5DE2D-7A76-CE85-628A-73A0138DF39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00148"/>
            <a:ext cx="9071640" cy="2619832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패킷 전달</a:t>
            </a:r>
            <a:r>
              <a:rPr lang="en-US" altLang="ko-KR" sz="1600" dirty="0"/>
              <a:t>, </a:t>
            </a:r>
            <a:r>
              <a:rPr lang="ko-KR" altLang="en-US" sz="1600" dirty="0"/>
              <a:t>충돌검사</a:t>
            </a:r>
            <a:r>
              <a:rPr lang="en-US" altLang="ko-KR" sz="1600" dirty="0"/>
              <a:t> </a:t>
            </a:r>
            <a:r>
              <a:rPr lang="ko-KR" altLang="en-US" sz="1600" dirty="0"/>
              <a:t>등 순회 및 특정 조건에 맞는 오브젝트를 찾아내기 위해 선형탐색을 진행할 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매번 월드전체의 오브젝트를 검색하기엔 탐색공간이 너무나도 크다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월드를 격자판으로 쪼개서 자신이 속한 격자판과 그 근처의 격자판만 검색한다면 탐색공간을 크게 줄일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게임서버의 많은 알고리즘들이 대부분 </a:t>
            </a:r>
            <a:r>
              <a:rPr lang="ko-KR" altLang="en-US" sz="1600" dirty="0" err="1"/>
              <a:t>시간복잡도가</a:t>
            </a:r>
            <a:r>
              <a:rPr lang="ko-KR" altLang="en-US" sz="1600" dirty="0"/>
              <a:t> </a:t>
            </a:r>
            <a:r>
              <a:rPr lang="en-US" altLang="ko-KR" sz="1600" dirty="0"/>
              <a:t>O(N^2) </a:t>
            </a:r>
            <a:r>
              <a:rPr lang="ko-KR" altLang="en-US" sz="1600" dirty="0"/>
              <a:t>수준이기 때문에 반드시 이 </a:t>
            </a:r>
            <a:r>
              <a:rPr lang="en-US" altLang="ko-KR" sz="1600" dirty="0"/>
              <a:t>N</a:t>
            </a:r>
            <a:r>
              <a:rPr lang="ko-KR" altLang="en-US" sz="1600" dirty="0"/>
              <a:t>을 줄여야만 한다고 생각하였다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이 프로젝트에서 </a:t>
            </a:r>
            <a:r>
              <a:rPr lang="ko-KR" altLang="en-US" sz="1200" dirty="0" err="1"/>
              <a:t>격자판</a:t>
            </a:r>
            <a:r>
              <a:rPr lang="ko-KR" altLang="en-US" sz="1200" dirty="0"/>
              <a:t> 하나를 </a:t>
            </a:r>
            <a:r>
              <a:rPr lang="en-US" altLang="ko-KR" sz="1200" dirty="0"/>
              <a:t>Cluster</a:t>
            </a:r>
            <a:r>
              <a:rPr lang="ko-KR" altLang="en-US" sz="1200" dirty="0"/>
              <a:t>라고 부르며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r>
              <a:rPr lang="en-US" altLang="ko-KR" sz="1200" dirty="0"/>
              <a:t>Cluster [ x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en-US" altLang="ko-KR" sz="1200" dirty="0" err="1"/>
              <a:t>cluster_x_scale</a:t>
            </a:r>
            <a:r>
              <a:rPr lang="en-US" altLang="ko-KR" sz="1200" dirty="0"/>
              <a:t> ][ z / </a:t>
            </a:r>
            <a:r>
              <a:rPr lang="en-US" altLang="ko-KR" sz="1200" dirty="0" err="1"/>
              <a:t>cluster_z_scale</a:t>
            </a:r>
            <a:r>
              <a:rPr lang="en-US" altLang="ko-KR" sz="1200" dirty="0"/>
              <a:t> ]</a:t>
            </a:r>
            <a:r>
              <a:rPr lang="ko-KR" altLang="en-US" sz="1200" dirty="0"/>
              <a:t>와 같은 방식으로 자신이 속한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 접근할 수 있도록 하였다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01297D4-FA82-625C-4406-DBADA7E5E622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BF3793-4307-4A39-591B-9E8ABF10C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3" y="2670188"/>
            <a:ext cx="3648487" cy="23256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A702473-ACFE-8C9B-8454-3B05D96E8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13" y="2670188"/>
            <a:ext cx="3951287" cy="23256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B5F1F3-060B-F75F-8757-15B6FE820E55}"/>
              </a:ext>
            </a:extLst>
          </p:cNvPr>
          <p:cNvSpPr txBox="1"/>
          <p:nvPr/>
        </p:nvSpPr>
        <p:spPr>
          <a:xfrm>
            <a:off x="3654878" y="363297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3E69D-4442-3C38-E045-A9111F616426}"/>
              </a:ext>
            </a:extLst>
          </p:cNvPr>
          <p:cNvSpPr txBox="1"/>
          <p:nvPr/>
        </p:nvSpPr>
        <p:spPr>
          <a:xfrm>
            <a:off x="8161020" y="2670188"/>
            <a:ext cx="181737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더미 클라이언트를 이용한 동시접속자 </a:t>
            </a:r>
            <a:r>
              <a:rPr lang="en-US" altLang="ko-KR" sz="1000" dirty="0"/>
              <a:t>2000</a:t>
            </a:r>
            <a:r>
              <a:rPr lang="ko-KR" altLang="en-US" sz="1000" dirty="0"/>
              <a:t>명 시뮬레이션 결과 </a:t>
            </a:r>
            <a:endParaRPr lang="en-US" altLang="ko-KR" sz="1000" dirty="0"/>
          </a:p>
          <a:p>
            <a:r>
              <a:rPr lang="ko-KR" altLang="en-US" sz="1000" dirty="0"/>
              <a:t>공간분할 유무에 따른 엄청난 성능차이가 발생한다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특히 공간분할 적용 후의 서버의 </a:t>
            </a:r>
            <a:r>
              <a:rPr lang="en-US" altLang="ko-KR" sz="1000" dirty="0"/>
              <a:t>CPU</a:t>
            </a:r>
            <a:r>
              <a:rPr lang="ko-KR" altLang="en-US" sz="1000" dirty="0"/>
              <a:t>는 아직도 여유가 있는 상태</a:t>
            </a:r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000" dirty="0"/>
          </a:p>
          <a:p>
            <a:r>
              <a:rPr lang="en-US" altLang="ko-KR" sz="800" dirty="0"/>
              <a:t>(</a:t>
            </a:r>
            <a:r>
              <a:rPr lang="ko-KR" altLang="en-US" sz="800" dirty="0"/>
              <a:t>자세한 코드는 </a:t>
            </a:r>
            <a:r>
              <a:rPr lang="en-US" altLang="ko-KR" sz="800" dirty="0" err="1"/>
              <a:t>ClusterInfoHelper.h</a:t>
            </a:r>
            <a:r>
              <a:rPr lang="en-US" altLang="ko-KR" sz="800" dirty="0"/>
              <a:t> / </a:t>
            </a:r>
            <a:r>
              <a:rPr lang="en-US" altLang="ko-KR" sz="800" dirty="0" err="1"/>
              <a:t>cpp</a:t>
            </a:r>
            <a:r>
              <a:rPr lang="ko-KR" altLang="en-US" sz="800" dirty="0"/>
              <a:t> 및</a:t>
            </a:r>
            <a:endParaRPr lang="en-US" altLang="ko-KR" sz="800" dirty="0"/>
          </a:p>
          <a:p>
            <a:r>
              <a:rPr lang="en-US" altLang="ko-KR" sz="800" dirty="0"/>
              <a:t>main.cpp </a:t>
            </a:r>
            <a:r>
              <a:rPr lang="ko-KR" altLang="en-US" sz="800" dirty="0"/>
              <a:t>의 </a:t>
            </a:r>
            <a:r>
              <a:rPr lang="en-US" altLang="ko-KR" sz="800" dirty="0"/>
              <a:t>main </a:t>
            </a:r>
            <a:r>
              <a:rPr lang="ko-KR" altLang="en-US" sz="800" dirty="0"/>
              <a:t>함수 밑 </a:t>
            </a:r>
            <a:endParaRPr lang="en-US" altLang="ko-KR" sz="800" dirty="0"/>
          </a:p>
          <a:p>
            <a:r>
              <a:rPr lang="en-US" altLang="ko-KR" sz="800" dirty="0" err="1"/>
              <a:t>GlobalClusterFilter</a:t>
            </a:r>
            <a:r>
              <a:rPr lang="en-US" altLang="ko-KR" sz="800" dirty="0"/>
              <a:t> </a:t>
            </a:r>
            <a:r>
              <a:rPr lang="ko-KR" altLang="en-US" sz="800" dirty="0"/>
              <a:t>참조</a:t>
            </a:r>
            <a:endParaRPr lang="en-US" altLang="ko-KR" sz="800" dirty="0"/>
          </a:p>
          <a:p>
            <a:r>
              <a:rPr lang="ko-KR" altLang="en-US" sz="800" dirty="0"/>
              <a:t>컨텐츠 단에서 어디에서 누구를 어떻게 쪼개고 필터링 할 것인가에 대한 </a:t>
            </a:r>
            <a:r>
              <a:rPr lang="ko-KR" altLang="en-US" sz="800" dirty="0" err="1"/>
              <a:t>함수포인터를</a:t>
            </a:r>
            <a:r>
              <a:rPr lang="ko-KR" altLang="en-US" sz="800" dirty="0"/>
              <a:t> </a:t>
            </a:r>
            <a:r>
              <a:rPr lang="ko-KR" altLang="en-US" sz="800" dirty="0" err="1"/>
              <a:t>서버엔진쪽에</a:t>
            </a:r>
            <a:r>
              <a:rPr lang="ko-KR" altLang="en-US" sz="800" dirty="0"/>
              <a:t> 전달하는 식으로 동작한다</a:t>
            </a:r>
            <a:r>
              <a:rPr lang="en-US" altLang="ko-KR" sz="800" dirty="0"/>
              <a:t>.)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31F36A-642E-9414-9C14-E93E95F9A1DB}"/>
              </a:ext>
            </a:extLst>
          </p:cNvPr>
          <p:cNvSpPr txBox="1"/>
          <p:nvPr/>
        </p:nvSpPr>
        <p:spPr>
          <a:xfrm>
            <a:off x="741362" y="509804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X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2000ms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93%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1AA8F-0AB2-65A1-2C23-BCA9D39ED458}"/>
              </a:ext>
            </a:extLst>
          </p:cNvPr>
          <p:cNvSpPr txBox="1"/>
          <p:nvPr/>
        </p:nvSpPr>
        <p:spPr>
          <a:xfrm>
            <a:off x="4901708" y="512471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O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10ms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63%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0947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F2B9-6051-9998-F4F4-3DED651E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312396"/>
            <a:ext cx="9071640" cy="609398"/>
          </a:xfrm>
        </p:spPr>
        <p:txBody>
          <a:bodyPr/>
          <a:lstStyle/>
          <a:p>
            <a:r>
              <a:rPr lang="en-US" altLang="ko-KR" dirty="0"/>
              <a:t>6. view list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D563F3-3A85-8524-D4C3-162CA9591D8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74983"/>
            <a:ext cx="9071640" cy="262627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성능을 위해 </a:t>
            </a:r>
            <a:r>
              <a:rPr lang="en-US" altLang="ko-KR" sz="1200" dirty="0"/>
              <a:t>Concurrency Visualizer</a:t>
            </a:r>
            <a:r>
              <a:rPr lang="ko-KR" altLang="en-US" sz="1200" dirty="0"/>
              <a:t>로 프로파일링 해본 결과 </a:t>
            </a:r>
            <a:r>
              <a:rPr lang="en-US" altLang="ko-KR" sz="1200" dirty="0"/>
              <a:t>Move</a:t>
            </a:r>
            <a:r>
              <a:rPr lang="ko-KR" altLang="en-US" sz="1200" dirty="0"/>
              <a:t>패킷 전달 시 발생하는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오버헤드가 가장 문제라고 판단하였다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하지만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함수는 내부 구현에 접근할 수 없어서 직접 최적화를 시도하는 것은 불가능하였다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따라서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호출 횟수를 줄이는 방향으로 접근하였고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각 </a:t>
            </a:r>
            <a:r>
              <a:rPr lang="en-US" altLang="ko-KR" sz="1200" dirty="0"/>
              <a:t>Player</a:t>
            </a:r>
            <a:r>
              <a:rPr lang="ko-KR" altLang="en-US" sz="1200" dirty="0"/>
              <a:t>마다 자신의 시야에 존재하는 오브젝트들을 관리하는 자료구조를 두어 이 자료구조에 존재하는 오브젝트에 대해서만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를 호출하도록 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이 자료구조를 업데이트 할 때 순회와 검색이 둘 다 많이 발생하여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와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조합해 메모리에서 연속적인 구조를 유지하면서도 검색</a:t>
            </a:r>
            <a:r>
              <a:rPr lang="en-US" altLang="ko-KR" sz="1200" dirty="0"/>
              <a:t>/</a:t>
            </a:r>
            <a:r>
              <a:rPr lang="ko-KR" altLang="en-US" sz="1200" dirty="0"/>
              <a:t>삽입</a:t>
            </a:r>
            <a:r>
              <a:rPr lang="en-US" altLang="ko-KR" sz="1200" dirty="0"/>
              <a:t>/</a:t>
            </a:r>
            <a:r>
              <a:rPr lang="ko-KR" altLang="en-US" sz="1200" dirty="0"/>
              <a:t>삭제에 </a:t>
            </a:r>
            <a:r>
              <a:rPr lang="en-US" altLang="ko-KR" sz="1200" dirty="0"/>
              <a:t>O(1) </a:t>
            </a:r>
            <a:r>
              <a:rPr lang="ko-KR" altLang="en-US" sz="1200" dirty="0" err="1"/>
              <a:t>시간복잡도를</a:t>
            </a:r>
            <a:r>
              <a:rPr lang="ko-KR" altLang="en-US" sz="1200" dirty="0"/>
              <a:t> 가진 자료구조를 제작하였다</a:t>
            </a:r>
            <a:r>
              <a:rPr lang="en-US" altLang="ko-KR" sz="1200" dirty="0"/>
              <a:t>.</a:t>
            </a:r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코드는 </a:t>
            </a:r>
            <a:r>
              <a:rPr lang="en-US" altLang="ko-KR" sz="1000" dirty="0" err="1"/>
              <a:t>MoveBroadcaster.h</a:t>
            </a:r>
            <a:r>
              <a:rPr lang="en-US" altLang="ko-KR" sz="1000" dirty="0"/>
              <a:t> /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/>
              <a:t>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36A5B1F-0A80-26FF-DC97-ED088FC82685}"/>
              </a:ext>
            </a:extLst>
          </p:cNvPr>
          <p:cNvSpPr txBox="1">
            <a:spLocks/>
          </p:cNvSpPr>
          <p:nvPr/>
        </p:nvSpPr>
        <p:spPr>
          <a:xfrm>
            <a:off x="299213" y="115484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122EC0-99C6-5230-431D-160C2E8E1E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25" y="2873620"/>
            <a:ext cx="4596637" cy="23508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F91431-4069-D442-E87B-82B76392C398}"/>
              </a:ext>
            </a:extLst>
          </p:cNvPr>
          <p:cNvSpPr txBox="1"/>
          <p:nvPr/>
        </p:nvSpPr>
        <p:spPr>
          <a:xfrm>
            <a:off x="94425" y="5270440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이용한 </a:t>
            </a:r>
            <a:r>
              <a:rPr lang="en-US" altLang="ko-KR" sz="1000" dirty="0" err="1"/>
              <a:t>view_list</a:t>
            </a:r>
            <a:r>
              <a:rPr lang="en-US" altLang="ko-KR" sz="1000" dirty="0"/>
              <a:t> </a:t>
            </a:r>
            <a:r>
              <a:rPr lang="ko-KR" altLang="en-US" sz="1000" dirty="0"/>
              <a:t>적용 전 성능분석 결과</a:t>
            </a:r>
            <a:endParaRPr lang="en-US" altLang="ko-KR" sz="1000" dirty="0"/>
          </a:p>
          <a:p>
            <a:r>
              <a:rPr lang="en-US" altLang="ko-KR" sz="1000" dirty="0"/>
              <a:t>Send</a:t>
            </a:r>
            <a:r>
              <a:rPr lang="ko-KR" altLang="en-US" sz="1000" dirty="0"/>
              <a:t>관련 함수의 오버헤드가 가장 높게 측정되었다</a:t>
            </a:r>
            <a:r>
              <a:rPr lang="en-US" altLang="ko-KR" sz="1000" dirty="0"/>
              <a:t>. (</a:t>
            </a:r>
            <a:r>
              <a:rPr lang="ko-KR" altLang="en-US" sz="1000" dirty="0"/>
              <a:t>약 </a:t>
            </a:r>
            <a:r>
              <a:rPr lang="en-US" altLang="ko-KR" sz="1000" dirty="0"/>
              <a:t>40%</a:t>
            </a:r>
            <a:r>
              <a:rPr lang="ko-KR" altLang="en-US" sz="1000" dirty="0"/>
              <a:t>의 지분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9176921-1FE4-9E8C-2555-72E4266C6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854447"/>
            <a:ext cx="4475988" cy="23891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753236-5A66-9E05-8E08-69B7498490A4}"/>
              </a:ext>
            </a:extLst>
          </p:cNvPr>
          <p:cNvSpPr txBox="1"/>
          <p:nvPr/>
        </p:nvSpPr>
        <p:spPr>
          <a:xfrm>
            <a:off x="4895850" y="5280668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전 </a:t>
            </a:r>
            <a:r>
              <a:rPr lang="en-US" altLang="ko-KR" sz="1000" dirty="0"/>
              <a:t>2</a:t>
            </a:r>
            <a:r>
              <a:rPr lang="ko-KR" altLang="en-US" sz="1000" dirty="0"/>
              <a:t>천명의 더미 클라이언트 부하테스트 결과</a:t>
            </a:r>
            <a:endParaRPr lang="en-US" altLang="ko-KR" sz="1000" dirty="0"/>
          </a:p>
          <a:p>
            <a:r>
              <a:rPr lang="ko-KR" altLang="en-US" sz="1000" dirty="0"/>
              <a:t>약 </a:t>
            </a:r>
            <a:r>
              <a:rPr lang="en-US" altLang="ko-KR" sz="1000" dirty="0"/>
              <a:t>160ms</a:t>
            </a:r>
            <a:r>
              <a:rPr lang="ko-KR" altLang="en-US" sz="1000" dirty="0"/>
              <a:t>의 딜레이와 </a:t>
            </a:r>
            <a:r>
              <a:rPr lang="en-US" altLang="ko-KR" sz="1000" dirty="0"/>
              <a:t>92%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</p:spTree>
    <p:extLst>
      <p:ext uri="{BB962C8B-B14F-4D97-AF65-F5344CB8AC3E}">
        <p14:creationId xmlns:p14="http://schemas.microsoft.com/office/powerpoint/2010/main" val="34432000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8747F84-6D0B-5A0A-D647-0E2BBEC5BF5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B961FE-EE1F-CC8E-4912-64C73AAE2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" y="483479"/>
            <a:ext cx="4559299" cy="237227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82D56A9-3924-B275-6AF6-7EEAC7CE1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793" y="3051177"/>
            <a:ext cx="4610100" cy="21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096858-7852-8323-2059-C16831A6BC58}"/>
              </a:ext>
            </a:extLst>
          </p:cNvPr>
          <p:cNvSpPr txBox="1"/>
          <p:nvPr/>
        </p:nvSpPr>
        <p:spPr>
          <a:xfrm>
            <a:off x="5211793" y="5171217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시야리스트 업데이트 알고리즘의 수도코드</a:t>
            </a:r>
            <a:endParaRPr lang="en-US" altLang="ko-KR" sz="1000" dirty="0"/>
          </a:p>
          <a:p>
            <a:r>
              <a:rPr lang="ko-KR" altLang="en-US" sz="1000" dirty="0"/>
              <a:t>상세한 코드는 </a:t>
            </a:r>
            <a:r>
              <a:rPr lang="en-US" altLang="ko-KR" sz="1000" dirty="0"/>
              <a:t>MoveBroadcaster.cpp</a:t>
            </a:r>
            <a:r>
              <a:rPr lang="ko-KR" altLang="en-US" sz="1000" dirty="0"/>
              <a:t> 참조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A00D2D-4E52-60D0-0D10-9EE4708E6C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2700" y="99223"/>
            <a:ext cx="4848286" cy="25201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82D61F-9F8B-E4E5-ABEC-5E174BFDDA0C}"/>
              </a:ext>
            </a:extLst>
          </p:cNvPr>
          <p:cNvSpPr txBox="1"/>
          <p:nvPr/>
        </p:nvSpPr>
        <p:spPr>
          <a:xfrm>
            <a:off x="119859" y="2835275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적용 후 개선된 프로파일링 결과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4459A-9739-4909-A951-BDD24A50E197}"/>
              </a:ext>
            </a:extLst>
          </p:cNvPr>
          <p:cNvSpPr txBox="1"/>
          <p:nvPr/>
        </p:nvSpPr>
        <p:spPr>
          <a:xfrm>
            <a:off x="5597494" y="2651067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더미클라이언트</a:t>
            </a:r>
            <a:r>
              <a:rPr lang="ko-KR" altLang="en-US" sz="1000" dirty="0"/>
              <a:t> </a:t>
            </a:r>
            <a:r>
              <a:rPr lang="en-US" altLang="ko-KR" sz="1000" dirty="0"/>
              <a:t>5</a:t>
            </a:r>
            <a:r>
              <a:rPr lang="ko-KR" altLang="en-US" sz="1000" dirty="0"/>
              <a:t>천명 수준에서 </a:t>
            </a:r>
            <a:r>
              <a:rPr lang="en-US" altLang="ko-KR" sz="1000" dirty="0"/>
              <a:t>10ms </a:t>
            </a:r>
            <a:r>
              <a:rPr lang="ko-KR" altLang="en-US" sz="1000" dirty="0"/>
              <a:t>딜레이와 </a:t>
            </a:r>
            <a:r>
              <a:rPr lang="en-US" altLang="ko-KR" sz="1000" dirty="0"/>
              <a:t>41%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7DC54C8-2093-4710-421A-96E06413C9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48150"/>
            <a:ext cx="4491038" cy="110347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1BB91BA-9F42-97AB-4E64-26E2F9DD82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20039"/>
            <a:ext cx="4491037" cy="12281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4F27B04-CF3D-AD6F-871A-4738C6B8478B}"/>
              </a:ext>
            </a:extLst>
          </p:cNvPr>
          <p:cNvSpPr txBox="1"/>
          <p:nvPr/>
        </p:nvSpPr>
        <p:spPr>
          <a:xfrm>
            <a:off x="-68262" y="5351621"/>
            <a:ext cx="5230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vector</a:t>
            </a:r>
            <a:r>
              <a:rPr lang="ko-KR" altLang="en-US" sz="1000" dirty="0"/>
              <a:t>와 해시테이블을 같이 이용하여 메모리에서 연속적인 구조를 유지하면서 검색</a:t>
            </a:r>
            <a:r>
              <a:rPr lang="en-US" altLang="ko-KR" sz="1000" dirty="0"/>
              <a:t>/</a:t>
            </a:r>
            <a:r>
              <a:rPr lang="ko-KR" altLang="en-US" sz="1000" dirty="0"/>
              <a:t>삽입</a:t>
            </a:r>
            <a:r>
              <a:rPr lang="en-US" altLang="ko-KR" sz="1000" dirty="0"/>
              <a:t>/</a:t>
            </a:r>
            <a:r>
              <a:rPr lang="ko-KR" altLang="en-US" sz="1000" dirty="0"/>
              <a:t>삭제에 </a:t>
            </a:r>
            <a:r>
              <a:rPr lang="en-US" altLang="ko-KR" sz="1000" dirty="0"/>
              <a:t>O(1) </a:t>
            </a:r>
            <a:r>
              <a:rPr lang="ko-KR" altLang="en-US" sz="1000" dirty="0" err="1"/>
              <a:t>시간복잡도를</a:t>
            </a:r>
            <a:r>
              <a:rPr lang="ko-KR" altLang="en-US" sz="1000" dirty="0"/>
              <a:t> 가진 커스텀 자료구조 </a:t>
            </a:r>
            <a:r>
              <a:rPr lang="en-US" altLang="ko-KR" sz="1000" dirty="0"/>
              <a:t>(VectorHash.hpp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93874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4F694-6EB7-0B18-DC21-2ACA7E39E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66" y="108851"/>
            <a:ext cx="9071640" cy="524562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기타 구현 내용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73FF06-3B31-ECEA-32CD-CD78FBB3BF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0166" y="547001"/>
            <a:ext cx="9071640" cy="477996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sz="4800" dirty="0"/>
              <a:t>1. DB</a:t>
            </a:r>
            <a:r>
              <a:rPr lang="ko-KR" altLang="en-US" sz="4800" dirty="0"/>
              <a:t> 쿼리서버</a:t>
            </a:r>
            <a:endParaRPr lang="en-US" altLang="ko-KR" sz="4800" dirty="0"/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en-US" altLang="ko-KR" sz="4800" dirty="0"/>
              <a:t>DB</a:t>
            </a:r>
            <a:r>
              <a:rPr lang="ko-KR" altLang="en-US" sz="4800" dirty="0"/>
              <a:t>관련 로직을 수행하는 서버를 따로 제작하여 메인 서버는 해당 서버의 소켓으로 관련 요청만 보내게 함으로써 메인 서버의 부하를 감소시켰다</a:t>
            </a:r>
            <a:r>
              <a:rPr lang="en-US" altLang="ko-KR" sz="4800" dirty="0"/>
              <a:t>. (</a:t>
            </a:r>
            <a:r>
              <a:rPr lang="ko-KR" altLang="en-US" sz="4800" dirty="0"/>
              <a:t>첨부된 </a:t>
            </a:r>
            <a:r>
              <a:rPr lang="en-US" altLang="ko-KR" sz="4800" dirty="0"/>
              <a:t>Git</a:t>
            </a:r>
            <a:r>
              <a:rPr lang="ko-KR" altLang="en-US" sz="4800" dirty="0"/>
              <a:t>의 </a:t>
            </a:r>
            <a:r>
              <a:rPr lang="en-US" altLang="ko-KR" sz="4800" dirty="0" err="1"/>
              <a:t>DBQueryServer</a:t>
            </a:r>
            <a:r>
              <a:rPr lang="en-US" altLang="ko-KR" sz="4800" dirty="0"/>
              <a:t> </a:t>
            </a:r>
            <a:r>
              <a:rPr lang="ko-KR" altLang="en-US" sz="4800" dirty="0"/>
              <a:t>솔루션 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2. </a:t>
            </a:r>
            <a:r>
              <a:rPr lang="ko-KR" altLang="en-US" sz="4800" dirty="0" err="1"/>
              <a:t>행동트리</a:t>
            </a:r>
            <a:r>
              <a:rPr lang="ko-KR" altLang="en-US" sz="4800" dirty="0"/>
              <a:t> 및 </a:t>
            </a:r>
            <a:r>
              <a:rPr lang="en-US" altLang="ko-KR" sz="4800" dirty="0"/>
              <a:t>FSM</a:t>
            </a:r>
            <a:r>
              <a:rPr lang="ko-KR" altLang="en-US" sz="4800" dirty="0"/>
              <a:t>을 이용한 몬스터 </a:t>
            </a:r>
            <a:r>
              <a:rPr lang="en-US" altLang="ko-KR" sz="4800" dirty="0"/>
              <a:t>AI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sz="4800" dirty="0" err="1"/>
              <a:t>행동트리</a:t>
            </a:r>
            <a:r>
              <a:rPr lang="ko-KR" altLang="en-US" sz="4800" dirty="0"/>
              <a:t> 프레임워크를 직접 제작하여 보스와 같은 복잡한 몬스터는 </a:t>
            </a:r>
            <a:r>
              <a:rPr lang="ko-KR" altLang="en-US" sz="4800" dirty="0" err="1"/>
              <a:t>행동트리를</a:t>
            </a:r>
            <a:r>
              <a:rPr lang="en-US" altLang="ko-KR" sz="4800" dirty="0"/>
              <a:t>, </a:t>
            </a:r>
            <a:r>
              <a:rPr lang="ko-KR" altLang="en-US" sz="4800" dirty="0"/>
              <a:t>간단한 일반 몬스터의 경우 </a:t>
            </a:r>
            <a:r>
              <a:rPr lang="en-US" altLang="ko-KR" sz="4800" dirty="0"/>
              <a:t>FSM</a:t>
            </a:r>
            <a:r>
              <a:rPr lang="ko-KR" altLang="en-US" sz="4800" dirty="0"/>
              <a:t>을 이용한 몬스터 </a:t>
            </a:r>
            <a:r>
              <a:rPr lang="en-US" altLang="ko-KR" sz="4800" dirty="0"/>
              <a:t>AI</a:t>
            </a:r>
            <a:r>
              <a:rPr lang="ko-KR" altLang="en-US" sz="4800" dirty="0"/>
              <a:t>를 구현하였다</a:t>
            </a:r>
            <a:r>
              <a:rPr lang="en-US" altLang="ko-KR" sz="4800" dirty="0"/>
              <a:t>. ( </a:t>
            </a:r>
            <a:r>
              <a:rPr lang="en-US" altLang="ko-KR" sz="4800" dirty="0" err="1"/>
              <a:t>TickTimer.h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BehaviorTree.hpp , </a:t>
            </a:r>
            <a:r>
              <a:rPr lang="en-US" altLang="ko-KR" sz="4800" dirty="0" err="1"/>
              <a:t>ContentsBehaviorNode.h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BossBehaviorNode.h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3. </a:t>
            </a:r>
            <a:r>
              <a:rPr lang="ko-KR" altLang="en-US" sz="4800" dirty="0"/>
              <a:t>채널 및 인스턴스 던전 구조</a:t>
            </a:r>
            <a:endParaRPr lang="en-US" altLang="ko-KR" sz="4800" dirty="0"/>
          </a:p>
          <a:p>
            <a:pPr>
              <a:lnSpc>
                <a:spcPct val="17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유저를 분산시키기 위한 채널 및 파티 퀘스트 수행을 위한 인스턴스 던전을 구현하였다</a:t>
            </a:r>
            <a:r>
              <a:rPr lang="en-US" altLang="ko-KR" sz="4800" dirty="0"/>
              <a:t>. (</a:t>
            </a:r>
            <a:r>
              <a:rPr lang="en-US" altLang="ko-KR" sz="4800" dirty="0" err="1"/>
              <a:t>PartyQuestSystem.h</a:t>
            </a:r>
            <a:r>
              <a:rPr lang="en-US" altLang="ko-KR" sz="4800" dirty="0"/>
              <a:t>  / </a:t>
            </a:r>
            <a:r>
              <a:rPr lang="en-US" altLang="ko-KR" sz="4800" dirty="0" err="1"/>
              <a:t>cpp</a:t>
            </a:r>
            <a:r>
              <a:rPr lang="ko-KR" altLang="en-US" sz="4800" dirty="0"/>
              <a:t> </a:t>
            </a:r>
            <a:r>
              <a:rPr lang="en-US" altLang="ko-KR" sz="4800" dirty="0"/>
              <a:t>, </a:t>
            </a:r>
            <a:r>
              <a:rPr lang="en-US" altLang="ko-KR" sz="4800" dirty="0" err="1"/>
              <a:t>FieldMgr.h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4. </a:t>
            </a:r>
            <a:r>
              <a:rPr lang="ko-KR" altLang="en-US" sz="4800" dirty="0"/>
              <a:t>파티 퀘스트 컨텐츠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인스턴스 던전에서 수행할 파티 퀘스트 컨텐츠들을 구현하였다</a:t>
            </a:r>
            <a:r>
              <a:rPr lang="en-US" altLang="ko-KR" sz="4800" dirty="0"/>
              <a:t>. (NPC</a:t>
            </a:r>
            <a:r>
              <a:rPr lang="ko-KR" altLang="en-US" sz="4800" dirty="0"/>
              <a:t> </a:t>
            </a:r>
            <a:r>
              <a:rPr lang="ko-KR" altLang="en-US" sz="4800" dirty="0" err="1"/>
              <a:t>호위퀘스트</a:t>
            </a:r>
            <a:r>
              <a:rPr lang="en-US" altLang="ko-KR" sz="4800" dirty="0"/>
              <a:t>, </a:t>
            </a:r>
            <a:r>
              <a:rPr lang="ko-KR" altLang="en-US" sz="4800" dirty="0"/>
              <a:t>사냥 퀘스트</a:t>
            </a:r>
            <a:r>
              <a:rPr lang="en-US" altLang="ko-KR" sz="4800" dirty="0"/>
              <a:t>, </a:t>
            </a:r>
            <a:r>
              <a:rPr lang="ko-KR" altLang="en-US" sz="4800" dirty="0"/>
              <a:t>침투 퀘스트</a:t>
            </a:r>
            <a:r>
              <a:rPr lang="en-US" altLang="ko-KR" sz="4800" dirty="0"/>
              <a:t>) (</a:t>
            </a:r>
            <a:r>
              <a:rPr lang="en-US" altLang="ko-KR" sz="4800" dirty="0" err="1"/>
              <a:t>QuestRoom.h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 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5. </a:t>
            </a:r>
            <a:r>
              <a:rPr lang="ko-KR" altLang="en-US" sz="4800" dirty="0"/>
              <a:t>파티시스템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수락 </a:t>
            </a:r>
            <a:r>
              <a:rPr lang="en-US" altLang="ko-KR" sz="4800" dirty="0"/>
              <a:t>, </a:t>
            </a:r>
            <a:r>
              <a:rPr lang="ko-KR" altLang="en-US" sz="4800" dirty="0"/>
              <a:t>거절이 가능하며 파티 퀘스트 수행 도중 파티장이 나간다면 그 다음 유저가 자동으로 파티장이 되는 파티 시스템을 구현하였다</a:t>
            </a:r>
            <a:r>
              <a:rPr lang="en-US" altLang="ko-KR" sz="4800" dirty="0"/>
              <a:t>. (</a:t>
            </a:r>
            <a:r>
              <a:rPr lang="en-US" altLang="ko-KR" sz="4800" dirty="0" err="1"/>
              <a:t>PartyQuestSystem.h</a:t>
            </a:r>
            <a:r>
              <a:rPr lang="en-US" altLang="ko-KR" sz="4800" dirty="0"/>
              <a:t>  / </a:t>
            </a:r>
            <a:r>
              <a:rPr lang="en-US" altLang="ko-KR" sz="4800" dirty="0" err="1"/>
              <a:t>cpp</a:t>
            </a:r>
            <a:r>
              <a:rPr lang="ko-KR" altLang="en-US" sz="4800" dirty="0"/>
              <a:t> 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6. </a:t>
            </a:r>
            <a:r>
              <a:rPr lang="ko-KR" altLang="en-US" sz="4800" dirty="0"/>
              <a:t>움직임 보간 시스템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클라이언트 사이드에서 다른 유저의 위치 동기화를 </a:t>
            </a:r>
            <a:r>
              <a:rPr lang="en-US" altLang="ko-KR" sz="4800" dirty="0"/>
              <a:t>0.1</a:t>
            </a:r>
            <a:r>
              <a:rPr lang="ko-KR" altLang="en-US" sz="4800" dirty="0"/>
              <a:t>초 </a:t>
            </a:r>
            <a:r>
              <a:rPr lang="en-US" altLang="ko-KR" sz="4800" dirty="0"/>
              <a:t>~ 0.5</a:t>
            </a:r>
            <a:r>
              <a:rPr lang="ko-KR" altLang="en-US" sz="4800" dirty="0"/>
              <a:t>초에 한번만 해도 자연스럽게 보이도록 보간 시스템을 구현하였다</a:t>
            </a:r>
            <a:r>
              <a:rPr lang="en-US" altLang="ko-KR" sz="4800" dirty="0"/>
              <a:t>. (</a:t>
            </a:r>
            <a:r>
              <a:rPr lang="ko-KR" altLang="en-US" sz="4800" dirty="0"/>
              <a:t>서버 부하 감소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 (</a:t>
            </a:r>
            <a:r>
              <a:rPr lang="ko-KR" altLang="en-US" sz="4800" dirty="0"/>
              <a:t>클라이언트 쪽 솔루션의 </a:t>
            </a:r>
            <a:r>
              <a:rPr lang="en-US" altLang="ko-KR" sz="4800" dirty="0" err="1"/>
              <a:t>MovePacketSender.h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MoveInterpolator.h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Interpolator.hpp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7. </a:t>
            </a:r>
            <a:r>
              <a:rPr lang="ko-KR" altLang="en-US" sz="4800" dirty="0"/>
              <a:t>클라이언트 사이드에서의 네트워크 관련 로직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 - </a:t>
            </a:r>
            <a:r>
              <a:rPr lang="ko-KR" altLang="en-US" sz="4800" dirty="0"/>
              <a:t>클라이언트 사이드에서 연결 및 패킷 송수신 로직을 구현하고</a:t>
            </a:r>
            <a:r>
              <a:rPr lang="en-US" altLang="ko-KR" sz="4800" dirty="0"/>
              <a:t>, </a:t>
            </a:r>
            <a:r>
              <a:rPr lang="ko-KR" altLang="en-US" sz="4800" dirty="0"/>
              <a:t>서버로부터 전달되는 유저</a:t>
            </a:r>
            <a:r>
              <a:rPr lang="en-US" altLang="ko-KR" sz="4800" dirty="0"/>
              <a:t>·</a:t>
            </a:r>
            <a:r>
              <a:rPr lang="ko-KR" altLang="en-US" sz="4800" dirty="0"/>
              <a:t>몬스터</a:t>
            </a:r>
            <a:r>
              <a:rPr lang="en-US" altLang="ko-KR" sz="4800" dirty="0"/>
              <a:t>·</a:t>
            </a:r>
            <a:r>
              <a:rPr lang="ko-KR" altLang="en-US" sz="4800" dirty="0"/>
              <a:t>각종 컨텐츠 정보를 동기화하였다</a:t>
            </a:r>
            <a:r>
              <a:rPr lang="en-US" altLang="ko-KR" sz="4800" dirty="0"/>
              <a:t>.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8. </a:t>
            </a:r>
            <a:r>
              <a:rPr lang="en-US" altLang="ko-KR" sz="4800" dirty="0" err="1"/>
              <a:t>FlatBuffers</a:t>
            </a:r>
            <a:r>
              <a:rPr lang="en-US" altLang="ko-KR" sz="4800" dirty="0"/>
              <a:t> </a:t>
            </a:r>
            <a:r>
              <a:rPr lang="ko-KR" altLang="en-US" sz="4800" dirty="0"/>
              <a:t>라이브러리 및 자동화 툴 제작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en-US" altLang="ko-KR" sz="4800" dirty="0" err="1"/>
              <a:t>FlatBuffers</a:t>
            </a:r>
            <a:r>
              <a:rPr lang="en-US" altLang="ko-KR" sz="4800" dirty="0"/>
              <a:t> </a:t>
            </a:r>
            <a:r>
              <a:rPr lang="ko-KR" altLang="en-US" sz="4800" dirty="0"/>
              <a:t>라이브러리를 이용하여 프로토콜 및 패킷을 정의하였고 이를 간편하게 사용하기 위해 </a:t>
            </a:r>
            <a:r>
              <a:rPr lang="ko-KR" altLang="en-US" sz="4800" dirty="0" err="1"/>
              <a:t>파이썬과</a:t>
            </a:r>
            <a:r>
              <a:rPr lang="ko-KR" altLang="en-US" sz="4800" dirty="0"/>
              <a:t> </a:t>
            </a:r>
            <a:r>
              <a:rPr lang="en-US" altLang="ko-KR" sz="4800" dirty="0"/>
              <a:t>Jinja2 </a:t>
            </a:r>
            <a:r>
              <a:rPr lang="ko-KR" altLang="en-US" sz="4800" dirty="0"/>
              <a:t>라이브러리를 이용한 툴을 제작해 프로토콜 및 패킷 작성을 자동화하였다</a:t>
            </a:r>
            <a:r>
              <a:rPr lang="en-US" altLang="ko-KR" sz="4800" dirty="0"/>
              <a:t>.</a:t>
            </a:r>
            <a:r>
              <a:rPr lang="ko-KR" altLang="en-US" sz="4800" dirty="0"/>
              <a:t> 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dirty="0"/>
              <a:t>9. </a:t>
            </a:r>
            <a:r>
              <a:rPr lang="ko-KR" altLang="en-US" dirty="0"/>
              <a:t>더미 클라이언트를 이용한 부하 테스트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- </a:t>
            </a:r>
            <a:r>
              <a:rPr lang="ko-KR" altLang="en-US" dirty="0"/>
              <a:t>단순한 랜덤 움직임이 아닌 가까운 채집물들 중 </a:t>
            </a:r>
            <a:r>
              <a:rPr lang="en-US" altLang="ko-KR" dirty="0"/>
              <a:t>k</a:t>
            </a:r>
            <a:r>
              <a:rPr lang="ko-KR" altLang="en-US" dirty="0"/>
              <a:t>번째로 가까운 채집물을 향해 채집을 시도하고</a:t>
            </a:r>
            <a:r>
              <a:rPr lang="en-US" altLang="ko-KR" dirty="0"/>
              <a:t>, </a:t>
            </a:r>
            <a:r>
              <a:rPr lang="ko-KR" altLang="en-US" dirty="0"/>
              <a:t>공격 및 스킬을 사용하여 간단한 전투가 가능한 </a:t>
            </a:r>
            <a:r>
              <a:rPr lang="ko-KR" altLang="en-US" dirty="0" err="1"/>
              <a:t>더미클라이언트를</a:t>
            </a:r>
            <a:r>
              <a:rPr lang="ko-KR" altLang="en-US" dirty="0"/>
              <a:t> 이용해 서버의 안정성 테스트 및 성능 측정이 가능하도록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0331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87873-BB95-064E-FEBC-8B546955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결과물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BEB2E-DD30-CAF5-85D7-E74C9D691174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동접자</a:t>
            </a:r>
            <a:r>
              <a:rPr lang="ko-KR" altLang="en-US" dirty="0"/>
              <a:t> 수 측정결과첨부</a:t>
            </a:r>
          </a:p>
        </p:txBody>
      </p:sp>
    </p:spTree>
    <p:extLst>
      <p:ext uri="{BB962C8B-B14F-4D97-AF65-F5344CB8AC3E}">
        <p14:creationId xmlns:p14="http://schemas.microsoft.com/office/powerpoint/2010/main" val="5206022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2348</TotalTime>
  <Words>5613</Words>
  <Application>Microsoft Office PowerPoint</Application>
  <PresentationFormat>사용자 지정</PresentationFormat>
  <Paragraphs>429</Paragraphs>
  <Slides>55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1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 향상을 위한 노력</vt:lpstr>
      <vt:lpstr>4.3 졸작 – 성능 향상을 위한 노력</vt:lpstr>
      <vt:lpstr>4.3 졸작 – 성능 향상을 위한 노력</vt:lpstr>
      <vt:lpstr>2. MPSQ 큐 (Multi Producer Single Consumer 큐)</vt:lpstr>
      <vt:lpstr>- tbb 큐 구현 vs MPSC 큐 구현</vt:lpstr>
      <vt:lpstr>- tbb 큐 성능 vs MPSC 큐 성능</vt:lpstr>
      <vt:lpstr>3. Custom shared_ptr 제작</vt:lpstr>
      <vt:lpstr>PowerPoint 프레젠테이션</vt:lpstr>
      <vt:lpstr>- Custom shared_ptr 제작으로 얻는 것: 1. 표준 shared_ptr에 비해 훨씬 더 적은 메모리로 구현 가능 2. 객체의 수명 보장을 위해 불필요한 shared_ptr의 복사가 여러 번 발생 하는 것을 한번에 레퍼런스 카운터를 1보다 더 큰 값을 증가시키는 것으로 대체 가능 3. 자기 자신에 대한 shared_ptr 생성(shared_from_this)에 발생했던 오버헤드를 크게 감소  </vt:lpstr>
      <vt:lpstr>4. Task vs std::function</vt:lpstr>
      <vt:lpstr>5. Cluster 공간분할</vt:lpstr>
      <vt:lpstr>6. view list (시야처리)</vt:lpstr>
      <vt:lpstr>PowerPoint 프레젠테이션</vt:lpstr>
      <vt:lpstr>4.4 기타 구현 내용</vt:lpstr>
      <vt:lpstr>4.4 졸작 - 결과물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1106</cp:revision>
  <dcterms:created xsi:type="dcterms:W3CDTF">2025-08-16T11:18:25Z</dcterms:created>
  <dcterms:modified xsi:type="dcterms:W3CDTF">2025-09-11T15:27:07Z</dcterms:modified>
  <dc:language>ko-KR</dc:language>
</cp:coreProperties>
</file>