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73" r:id="rId8"/>
    <p:sldId id="270" r:id="rId9"/>
    <p:sldId id="274" r:id="rId10"/>
    <p:sldId id="275" r:id="rId11"/>
    <p:sldId id="276" r:id="rId12"/>
    <p:sldId id="277" r:id="rId13"/>
    <p:sldId id="278" r:id="rId14"/>
    <p:sldId id="279" r:id="rId15"/>
    <p:sldId id="280" r:id="rId16"/>
    <p:sldId id="281" r:id="rId17"/>
    <p:sldId id="282" r:id="rId18"/>
    <p:sldId id="283" r:id="rId19"/>
    <p:sldId id="284" r:id="rId20"/>
    <p:sldId id="285" r:id="rId21"/>
    <p:sldId id="286" r:id="rId22"/>
    <p:sldId id="265" r:id="rId23"/>
    <p:sldId id="287" r:id="rId24"/>
    <p:sldId id="288" r:id="rId25"/>
    <p:sldId id="289" r:id="rId26"/>
    <p:sldId id="290" r:id="rId27"/>
    <p:sldId id="291" r:id="rId28"/>
    <p:sldId id="292" r:id="rId29"/>
    <p:sldId id="293" r:id="rId30"/>
    <p:sldId id="294" r:id="rId31"/>
    <p:sldId id="295" r:id="rId32"/>
    <p:sldId id="296" r:id="rId33"/>
    <p:sldId id="297" r:id="rId34"/>
    <p:sldId id="298" r:id="rId35"/>
    <p:sldId id="299" r:id="rId36"/>
    <p:sldId id="300" r:id="rId37"/>
    <p:sldId id="301" r:id="rId38"/>
    <p:sldId id="302" r:id="rId39"/>
    <p:sldId id="303" r:id="rId40"/>
    <p:sldId id="304" r:id="rId41"/>
    <p:sldId id="305" r:id="rId42"/>
    <p:sldId id="306" r:id="rId43"/>
    <p:sldId id="308" r:id="rId44"/>
    <p:sldId id="307" r:id="rId45"/>
    <p:sldId id="309" r:id="rId46"/>
    <p:sldId id="310" r:id="rId47"/>
    <p:sldId id="311" r:id="rId48"/>
    <p:sldId id="262" r:id="rId49"/>
    <p:sldId id="263" r:id="rId50"/>
    <p:sldId id="264" r:id="rId51"/>
    <p:sldId id="266" r:id="rId52"/>
    <p:sldId id="267" r:id="rId53"/>
    <p:sldId id="268" r:id="rId54"/>
    <p:sldId id="269" r:id="rId55"/>
    <p:sldId id="271" r:id="rId56"/>
    <p:sldId id="272" r:id="rId57"/>
  </p:sldIdLst>
  <p:sldSz cx="10080625" cy="5670550"/>
  <p:notesSz cx="7559675" cy="10691813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0" d="100"/>
          <a:sy n="100" d="100"/>
        </p:scale>
        <p:origin x="411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tableStyles" Target="tableStyle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pPr algn="ctr"/>
            <a:endParaRPr lang="en-US" sz="4400" b="0" strike="noStrike" spc="-1">
              <a:latin typeface="굴림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pPr algn="ctr"/>
            <a:endParaRPr lang="en-US" sz="3200" b="0" strike="noStrike" spc="-1">
              <a:latin typeface="굴림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pPr algn="ctr"/>
            <a:endParaRPr lang="en-US" sz="4400" b="0" strike="noStrike" spc="-1">
              <a:latin typeface="굴림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pPr algn="ctr"/>
            <a:endParaRPr lang="en-US" sz="4400" b="0" strike="noStrike" spc="-1">
              <a:latin typeface="굴림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920" cy="32882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920" cy="32882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pPr algn="ctr"/>
            <a:endParaRPr lang="en-US" sz="4400" b="0" strike="noStrike" spc="-1">
              <a:latin typeface="굴림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504000" y="226080"/>
            <a:ext cx="9071640" cy="438840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pPr algn="ctr"/>
            <a:endParaRPr lang="en-US" sz="3200" b="0" strike="noStrike" spc="-1">
              <a:latin typeface="굴림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pPr algn="ctr"/>
            <a:endParaRPr lang="en-US" sz="4400" b="0" strike="noStrike" spc="-1">
              <a:latin typeface="굴림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92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920" cy="32882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 type="body"/>
          </p:nvPr>
        </p:nvSpPr>
        <p:spPr>
          <a:xfrm>
            <a:off x="504000" y="3044160"/>
            <a:ext cx="442692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pPr algn="ctr"/>
            <a:endParaRPr lang="en-US" sz="4400" b="0" strike="noStrike" spc="-1">
              <a:latin typeface="굴림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920" cy="32882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92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 type="body"/>
          </p:nvPr>
        </p:nvSpPr>
        <p:spPr>
          <a:xfrm>
            <a:off x="5152680" y="3044160"/>
            <a:ext cx="442692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pPr algn="ctr"/>
            <a:endParaRPr lang="en-US" sz="4400" b="0" strike="noStrike" spc="-1">
              <a:latin typeface="굴림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92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92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body"/>
          </p:nvPr>
        </p:nvSpPr>
        <p:spPr>
          <a:xfrm>
            <a:off x="504000" y="3044160"/>
            <a:ext cx="907164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pPr algn="ctr"/>
            <a:endParaRPr lang="en-US" sz="4400" b="0" strike="noStrike" spc="-1">
              <a:latin typeface="굴림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504000" y="3044160"/>
            <a:ext cx="907164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pPr algn="ctr"/>
            <a:endParaRPr lang="en-US" sz="4400" b="0" strike="noStrike" spc="-1">
              <a:latin typeface="굴림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92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92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 type="body"/>
          </p:nvPr>
        </p:nvSpPr>
        <p:spPr>
          <a:xfrm>
            <a:off x="504000" y="3044160"/>
            <a:ext cx="442692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 type="body"/>
          </p:nvPr>
        </p:nvSpPr>
        <p:spPr>
          <a:xfrm>
            <a:off x="5152680" y="3044160"/>
            <a:ext cx="442692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pPr algn="ctr"/>
            <a:endParaRPr lang="en-US" sz="4400" b="0" strike="noStrike" spc="-1">
              <a:latin typeface="굴림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292068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 type="body"/>
          </p:nvPr>
        </p:nvSpPr>
        <p:spPr>
          <a:xfrm>
            <a:off x="3571200" y="1326600"/>
            <a:ext cx="292068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 type="body"/>
          </p:nvPr>
        </p:nvSpPr>
        <p:spPr>
          <a:xfrm>
            <a:off x="6638040" y="1326600"/>
            <a:ext cx="292068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 type="body"/>
          </p:nvPr>
        </p:nvSpPr>
        <p:spPr>
          <a:xfrm>
            <a:off x="504000" y="3044160"/>
            <a:ext cx="292068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 type="body"/>
          </p:nvPr>
        </p:nvSpPr>
        <p:spPr>
          <a:xfrm>
            <a:off x="3571200" y="3044160"/>
            <a:ext cx="292068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 type="body"/>
          </p:nvPr>
        </p:nvSpPr>
        <p:spPr>
          <a:xfrm>
            <a:off x="6638040" y="3044160"/>
            <a:ext cx="2920680" cy="156816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굴림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4400" b="0" strike="noStrike" spc="-1">
                <a:latin typeface="굴림"/>
              </a:rPr>
              <a:t>Click to edit the title text format</a:t>
            </a:r>
          </a:p>
        </p:txBody>
      </p:sp>
      <p:sp>
        <p:nvSpPr>
          <p:cNvPr id="6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latin typeface="굴림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strike="noStrike" spc="-1">
                <a:latin typeface="굴림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strike="noStrike" spc="-1">
                <a:latin typeface="굴림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latin typeface="굴림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latin typeface="굴림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latin typeface="굴림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latin typeface="굴림"/>
              </a:rPr>
              <a:t>Seventh Outline Level</a:t>
            </a:r>
          </a:p>
        </p:txBody>
      </p:sp>
      <p:sp>
        <p:nvSpPr>
          <p:cNvPr id="2" name="PlaceHolder 3"/>
          <p:cNvSpPr>
            <a:spLocks noGrp="1"/>
          </p:cNvSpPr>
          <p:nvPr>
            <p:ph type="dt"/>
          </p:nvPr>
        </p:nvSpPr>
        <p:spPr>
          <a:xfrm>
            <a:off x="504000" y="5165280"/>
            <a:ext cx="2348280" cy="39060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r>
              <a:rPr lang="en-US" sz="1400" b="0" strike="noStrike" spc="-1">
                <a:latin typeface="바탕"/>
              </a:rPr>
              <a:t>&lt;date/time&gt;</a:t>
            </a:r>
          </a:p>
        </p:txBody>
      </p:sp>
      <p:sp>
        <p:nvSpPr>
          <p:cNvPr id="3" name="PlaceHolder 4"/>
          <p:cNvSpPr>
            <a:spLocks noGrp="1"/>
          </p:cNvSpPr>
          <p:nvPr>
            <p:ph type="ftr"/>
          </p:nvPr>
        </p:nvSpPr>
        <p:spPr>
          <a:xfrm>
            <a:off x="3447360" y="5165280"/>
            <a:ext cx="3195000" cy="39060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ctr"/>
            <a:r>
              <a:rPr lang="en-US" sz="1400" b="0" strike="noStrike" spc="-1">
                <a:latin typeface="바탕"/>
              </a:rPr>
              <a:t>&lt;footer&gt;</a:t>
            </a:r>
          </a:p>
        </p:txBody>
      </p:sp>
      <p:sp>
        <p:nvSpPr>
          <p:cNvPr id="4" name="PlaceHolder 5"/>
          <p:cNvSpPr>
            <a:spLocks noGrp="1"/>
          </p:cNvSpPr>
          <p:nvPr>
            <p:ph type="sldNum"/>
          </p:nvPr>
        </p:nvSpPr>
        <p:spPr>
          <a:xfrm>
            <a:off x="7227360" y="5165280"/>
            <a:ext cx="2348280" cy="390600"/>
          </a:xfrm>
          <a:prstGeom prst="rect">
            <a:avLst/>
          </a:prstGeom>
        </p:spPr>
        <p:txBody>
          <a:bodyPr lIns="0" tIns="0" rIns="0" bIns="0">
            <a:noAutofit/>
          </a:bodyPr>
          <a:lstStyle/>
          <a:p>
            <a:pPr algn="r"/>
            <a:fld id="{60FAA104-59A2-4FED-9DF3-854F2DC45C52}" type="slidenum">
              <a:rPr lang="en-US" sz="1400" b="0" strike="noStrike" spc="-1">
                <a:latin typeface="바탕"/>
              </a:rPr>
              <a:t>‹#›</a:t>
            </a:fld>
            <a:endParaRPr lang="en-US" sz="1400" b="0" strike="noStrike" spc="-1">
              <a:latin typeface="바탕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slideshare.net/slideshow/mmorpg-106391346/106391346" TargetMode="Externa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jp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3.xml"/><Relationship Id="rId5" Type="http://schemas.openxmlformats.org/officeDocument/2006/relationships/hyperlink" Target="https://www.slideshare.net/slideshow/mmorpg-106391346/106391346" TargetMode="External"/><Relationship Id="rId4" Type="http://schemas.openxmlformats.org/officeDocument/2006/relationships/image" Target="../media/image6.jp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hyperlink" Target="https://www.slideshare.net/slideshow/mmorpg-106391346/106391346" TargetMode="Externa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9.jpg"/><Relationship Id="rId4" Type="http://schemas.openxmlformats.org/officeDocument/2006/relationships/image" Target="../media/image8.jp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3.xml"/><Relationship Id="rId5" Type="http://schemas.openxmlformats.org/officeDocument/2006/relationships/hyperlink" Target="https://www.slideshare.net/slideshow/mmorpg-106391346/106391346" TargetMode="External"/><Relationship Id="rId4" Type="http://schemas.openxmlformats.org/officeDocument/2006/relationships/image" Target="../media/image12.jp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hyperlink" Target="https://www.slideshare.net/slideshow/mmorpg-106391346/106391346#36" TargetMode="Externa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9.jpg"/><Relationship Id="rId5" Type="http://schemas.openxmlformats.org/officeDocument/2006/relationships/image" Target="../media/image18.jpg"/><Relationship Id="rId4" Type="http://schemas.openxmlformats.org/officeDocument/2006/relationships/image" Target="../media/image17.jp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g"/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www.slideshare.net/slideshow/mmorpg-106391346/106391346" TargetMode="Externa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g"/><Relationship Id="rId2" Type="http://schemas.openxmlformats.org/officeDocument/2006/relationships/image" Target="../media/image22.jp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5.jpg"/><Relationship Id="rId5" Type="http://schemas.openxmlformats.org/officeDocument/2006/relationships/hyperlink" Target="https://www.slideshare.net/slideshow/mmorpg-106391346/106391346" TargetMode="External"/><Relationship Id="rId4" Type="http://schemas.openxmlformats.org/officeDocument/2006/relationships/image" Target="../media/image24.jp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lideshare.net/slideshow/mmorpg-106391346/106391346" TargetMode="External"/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9.jpg"/><Relationship Id="rId5" Type="http://schemas.openxmlformats.org/officeDocument/2006/relationships/image" Target="../media/image28.jpg"/><Relationship Id="rId4" Type="http://schemas.openxmlformats.org/officeDocument/2006/relationships/image" Target="../media/image27.jp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jpg"/><Relationship Id="rId2" Type="http://schemas.openxmlformats.org/officeDocument/2006/relationships/image" Target="../media/image30.jpg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jpg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jpg"/><Relationship Id="rId2" Type="http://schemas.openxmlformats.org/officeDocument/2006/relationships/image" Target="../media/image33.jpg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jpg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jpg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jpg"/><Relationship Id="rId2" Type="http://schemas.openxmlformats.org/officeDocument/2006/relationships/image" Target="../media/image37.jpg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jpg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jpg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jpg"/><Relationship Id="rId2" Type="http://schemas.openxmlformats.org/officeDocument/2006/relationships/image" Target="../media/image41.jp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3.jpg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jpg"/><Relationship Id="rId2" Type="http://schemas.openxmlformats.org/officeDocument/2006/relationships/image" Target="../media/image48.jp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51.jpg"/><Relationship Id="rId4" Type="http://schemas.openxmlformats.org/officeDocument/2006/relationships/image" Target="../media/image50.jp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jpg"/><Relationship Id="rId2" Type="http://schemas.openxmlformats.org/officeDocument/2006/relationships/image" Target="../media/image52.jp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55.jpg"/><Relationship Id="rId4" Type="http://schemas.openxmlformats.org/officeDocument/2006/relationships/image" Target="../media/image54.jpg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jpg"/><Relationship Id="rId2" Type="http://schemas.openxmlformats.org/officeDocument/2006/relationships/image" Target="../media/image56.jp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59.jpg"/><Relationship Id="rId4" Type="http://schemas.openxmlformats.org/officeDocument/2006/relationships/image" Target="../media/image58.jp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jpg"/><Relationship Id="rId2" Type="http://schemas.openxmlformats.org/officeDocument/2006/relationships/image" Target="../media/image60.jp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62.jp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jpg"/><Relationship Id="rId2" Type="http://schemas.openxmlformats.org/officeDocument/2006/relationships/image" Target="../media/image63.jp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7.jpg"/><Relationship Id="rId5" Type="http://schemas.openxmlformats.org/officeDocument/2006/relationships/image" Target="../media/image66.jpg"/><Relationship Id="rId4" Type="http://schemas.openxmlformats.org/officeDocument/2006/relationships/image" Target="../media/image65.jpg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TextShape 1"/>
          <p:cNvSpPr txBox="1"/>
          <p:nvPr/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>
            <a:spAutoFit/>
          </a:bodyPr>
          <a:lstStyle/>
          <a:p>
            <a:pPr algn="ctr"/>
            <a:r>
              <a:rPr lang="en-US" sz="4400" b="0" strike="noStrike" spc="-1" dirty="0">
                <a:latin typeface="굴림"/>
              </a:rPr>
              <a:t>1. </a:t>
            </a:r>
            <a:r>
              <a:rPr lang="en-US" sz="4400" b="0" strike="noStrike" spc="-1" dirty="0" err="1">
                <a:latin typeface="굴림"/>
              </a:rPr>
              <a:t>자기소개</a:t>
            </a:r>
            <a:r>
              <a:rPr lang="en-US" sz="4400" b="0" strike="noStrike" spc="-1" dirty="0">
                <a:latin typeface="굴림"/>
              </a:rPr>
              <a:t> </a:t>
            </a:r>
            <a:r>
              <a:rPr lang="en-US" sz="4400" b="0" strike="noStrike" spc="-1" dirty="0" err="1">
                <a:latin typeface="굴림"/>
              </a:rPr>
              <a:t>들어갈</a:t>
            </a:r>
            <a:r>
              <a:rPr lang="en-US" sz="4400" b="0" strike="noStrike" spc="-1" dirty="0">
                <a:latin typeface="굴림"/>
              </a:rPr>
              <a:t> </a:t>
            </a:r>
            <a:r>
              <a:rPr lang="en-US" sz="4400" b="0" strike="noStrike" spc="-1" dirty="0" err="1">
                <a:latin typeface="굴림"/>
              </a:rPr>
              <a:t>자리</a:t>
            </a:r>
            <a:endParaRPr lang="en-US" sz="4400" b="0" strike="noStrike" spc="-1" dirty="0">
              <a:latin typeface="굴림"/>
            </a:endParaRPr>
          </a:p>
        </p:txBody>
      </p:sp>
      <p:sp>
        <p:nvSpPr>
          <p:cNvPr id="42" name="TextShape 2"/>
          <p:cNvSpPr txBox="1"/>
          <p:nvPr/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>
            <a:spAutoFit/>
          </a:bodyPr>
          <a:lstStyle/>
          <a:p>
            <a:pPr algn="ctr"/>
            <a:r>
              <a:rPr lang="en-US" sz="3200" b="0" strike="noStrike" spc="-1" dirty="0">
                <a:latin typeface="굴림"/>
              </a:rPr>
              <a:t>1. </a:t>
            </a:r>
            <a:r>
              <a:rPr lang="en-US" sz="3200" b="0" strike="noStrike" spc="-1" dirty="0" err="1">
                <a:latin typeface="굴림"/>
              </a:rPr>
              <a:t>신상정보</a:t>
            </a:r>
            <a:endParaRPr lang="en-US" sz="3200" b="0" strike="noStrike" spc="-1" dirty="0">
              <a:latin typeface="굴림"/>
            </a:endParaRPr>
          </a:p>
          <a:p>
            <a:pPr algn="ctr"/>
            <a:r>
              <a:rPr lang="en-US" sz="3200" b="0" strike="noStrike" spc="-1" dirty="0">
                <a:latin typeface="굴림"/>
              </a:rPr>
              <a:t>2.학력</a:t>
            </a:r>
          </a:p>
          <a:p>
            <a:pPr algn="ctr"/>
            <a:r>
              <a:rPr lang="en-US" sz="3200" b="0" strike="noStrike" spc="-1" dirty="0">
                <a:latin typeface="굴림"/>
              </a:rPr>
              <a:t>3.기술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TextShape 1"/>
          <p:cNvSpPr txBox="1"/>
          <p:nvPr/>
        </p:nvSpPr>
        <p:spPr>
          <a:xfrm>
            <a:off x="-2182050" y="380160"/>
            <a:ext cx="9071640" cy="94644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>
            <a:spAutoFit/>
          </a:bodyPr>
          <a:lstStyle/>
          <a:p>
            <a:pPr algn="ctr"/>
            <a:r>
              <a:rPr lang="en-US" sz="4400" b="0" strike="noStrike" spc="-1" dirty="0">
                <a:latin typeface="굴림"/>
              </a:rPr>
              <a:t>2. </a:t>
            </a:r>
            <a:r>
              <a:rPr lang="en-US" sz="4400" b="0" strike="noStrike" spc="-1" dirty="0" err="1">
                <a:latin typeface="굴림"/>
              </a:rPr>
              <a:t>간단한</a:t>
            </a:r>
            <a:r>
              <a:rPr lang="en-US" sz="4400" b="0" strike="noStrike" spc="-1" dirty="0">
                <a:latin typeface="굴림"/>
              </a:rPr>
              <a:t> </a:t>
            </a:r>
            <a:r>
              <a:rPr lang="en-US" sz="4400" b="0" strike="noStrike" spc="-1" dirty="0" err="1">
                <a:latin typeface="굴림"/>
              </a:rPr>
              <a:t>이력</a:t>
            </a:r>
            <a:endParaRPr lang="en-US" sz="4400" b="0" strike="noStrike" spc="-1" dirty="0">
              <a:latin typeface="굴림"/>
            </a:endParaRPr>
          </a:p>
        </p:txBody>
      </p:sp>
      <p:sp>
        <p:nvSpPr>
          <p:cNvPr id="44" name="TextShape 2"/>
          <p:cNvSpPr txBox="1"/>
          <p:nvPr/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 dirty="0">
                <a:latin typeface="굴림"/>
              </a:rPr>
              <a:t>1. </a:t>
            </a:r>
            <a:r>
              <a:rPr lang="en-US" sz="3200" b="0" strike="noStrike" spc="-1" dirty="0" err="1">
                <a:latin typeface="굴림"/>
              </a:rPr>
              <a:t>조교활동</a:t>
            </a:r>
            <a:endParaRPr lang="en-US" sz="3200" b="0" strike="noStrike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 dirty="0">
                <a:latin typeface="굴림"/>
              </a:rPr>
              <a:t>2. </a:t>
            </a:r>
            <a:r>
              <a:rPr lang="en-US" sz="3200" b="0" strike="noStrike" spc="-1" dirty="0" err="1">
                <a:latin typeface="굴림"/>
              </a:rPr>
              <a:t>과제전</a:t>
            </a:r>
            <a:r>
              <a:rPr lang="en-US" sz="3200" b="0" strike="noStrike" spc="-1" dirty="0">
                <a:latin typeface="굴림"/>
              </a:rPr>
              <a:t> </a:t>
            </a:r>
            <a:r>
              <a:rPr lang="en-US" sz="3200" b="0" strike="noStrike" spc="-1" dirty="0" err="1">
                <a:latin typeface="굴림"/>
              </a:rPr>
              <a:t>준우승</a:t>
            </a:r>
            <a:endParaRPr lang="en-US" sz="3200" b="0" strike="noStrike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 dirty="0">
                <a:latin typeface="굴림"/>
              </a:rPr>
              <a:t>3. </a:t>
            </a:r>
            <a:r>
              <a:rPr lang="en-US" sz="3200" b="0" strike="noStrike" spc="-1" dirty="0" err="1">
                <a:latin typeface="굴림"/>
              </a:rPr>
              <a:t>과제전</a:t>
            </a:r>
            <a:r>
              <a:rPr lang="en-US" sz="3200" b="0" strike="noStrike" spc="-1" dirty="0">
                <a:latin typeface="굴림"/>
              </a:rPr>
              <a:t> </a:t>
            </a:r>
            <a:r>
              <a:rPr lang="en-US" sz="3200" b="0" strike="noStrike" spc="-1" dirty="0" err="1">
                <a:latin typeface="굴림"/>
              </a:rPr>
              <a:t>우승</a:t>
            </a:r>
            <a:endParaRPr lang="en-US" sz="3200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 dirty="0">
                <a:latin typeface="굴림"/>
              </a:rPr>
              <a:t>4. </a:t>
            </a:r>
            <a:r>
              <a:rPr lang="ko-KR" altLang="en-US" sz="3200" b="0" strike="noStrike" spc="-1" dirty="0">
                <a:latin typeface="굴림"/>
              </a:rPr>
              <a:t>체육관 관련</a:t>
            </a:r>
            <a:r>
              <a:rPr lang="en-US" altLang="ko-KR" sz="3200" b="0" strike="noStrike" spc="-1" dirty="0">
                <a:latin typeface="굴림"/>
              </a:rPr>
              <a:t>..</a:t>
            </a:r>
            <a:endParaRPr lang="en-US" sz="3200" b="0" strike="noStrike" spc="-1" dirty="0">
              <a:latin typeface="굴림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TextShape 1"/>
          <p:cNvSpPr txBox="1"/>
          <p:nvPr/>
        </p:nvSpPr>
        <p:spPr>
          <a:xfrm>
            <a:off x="-2323338" y="207546"/>
            <a:ext cx="7363650" cy="6771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4400" b="0" strike="noStrike" spc="-1" dirty="0">
                <a:latin typeface="굴림"/>
              </a:rPr>
              <a:t>3. </a:t>
            </a:r>
            <a:r>
              <a:rPr lang="en-US" sz="4400" b="0" strike="noStrike" spc="-1" dirty="0" err="1">
                <a:latin typeface="굴림"/>
              </a:rPr>
              <a:t>목차</a:t>
            </a:r>
            <a:endParaRPr lang="en-US" sz="4400" b="0" strike="noStrike" spc="-1" dirty="0">
              <a:latin typeface="굴림"/>
            </a:endParaRPr>
          </a:p>
        </p:txBody>
      </p:sp>
      <p:sp>
        <p:nvSpPr>
          <p:cNvPr id="46" name="TextShape 2"/>
          <p:cNvSpPr txBox="1"/>
          <p:nvPr/>
        </p:nvSpPr>
        <p:spPr>
          <a:xfrm>
            <a:off x="2857501" y="886658"/>
            <a:ext cx="2656299" cy="258879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strike="noStrike" spc="-1" dirty="0">
                <a:latin typeface="굴림"/>
              </a:rPr>
              <a:t>2. </a:t>
            </a:r>
            <a:r>
              <a:rPr lang="en-US" sz="1400" b="0" strike="noStrike" spc="-1" dirty="0" err="1">
                <a:latin typeface="굴림"/>
              </a:rPr>
              <a:t>넷겜플</a:t>
            </a:r>
            <a:endParaRPr lang="en-US" sz="1400" b="0" strike="noStrike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strike="noStrike" spc="-1" dirty="0">
                <a:latin typeface="굴림"/>
              </a:rPr>
              <a:t>- </a:t>
            </a:r>
            <a:r>
              <a:rPr lang="en-US" sz="1400" b="0" strike="noStrike" spc="-1" dirty="0" err="1">
                <a:latin typeface="굴림"/>
              </a:rPr>
              <a:t>소개</a:t>
            </a:r>
            <a:endParaRPr lang="en-US" sz="1400" b="0" strike="noStrike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strike="noStrike" spc="-1" dirty="0">
                <a:latin typeface="굴림"/>
              </a:rPr>
              <a:t>- </a:t>
            </a:r>
            <a:r>
              <a:rPr lang="en-US" sz="1400" b="0" strike="noStrike" spc="-1" dirty="0" err="1">
                <a:latin typeface="굴림"/>
              </a:rPr>
              <a:t>플로우</a:t>
            </a:r>
            <a:r>
              <a:rPr lang="en-US" sz="1400" b="0" strike="noStrike" spc="-1" dirty="0">
                <a:latin typeface="굴림"/>
              </a:rPr>
              <a:t> </a:t>
            </a:r>
            <a:r>
              <a:rPr lang="en-US" sz="1400" b="0" strike="noStrike" spc="-1" dirty="0" err="1">
                <a:latin typeface="굴림"/>
              </a:rPr>
              <a:t>차트</a:t>
            </a:r>
            <a:endParaRPr lang="en-US" sz="1400" b="0" strike="noStrike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strike="noStrike" spc="-1" dirty="0">
                <a:latin typeface="굴림"/>
              </a:rPr>
              <a:t>- </a:t>
            </a:r>
            <a:r>
              <a:rPr lang="en-US" sz="1400" b="0" strike="noStrike" spc="-1" dirty="0" err="1">
                <a:latin typeface="굴림"/>
              </a:rPr>
              <a:t>프로토콜</a:t>
            </a:r>
            <a:r>
              <a:rPr lang="en-US" sz="1400" b="0" strike="noStrike" spc="-1" dirty="0">
                <a:latin typeface="굴림"/>
              </a:rPr>
              <a:t> </a:t>
            </a:r>
            <a:r>
              <a:rPr lang="en-US" sz="1400" b="0" strike="noStrike" spc="-1" dirty="0" err="1">
                <a:latin typeface="굴림"/>
              </a:rPr>
              <a:t>설계</a:t>
            </a:r>
            <a:endParaRPr lang="en-US" sz="1400" b="0" strike="noStrike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strike="noStrike" spc="-1" dirty="0">
                <a:latin typeface="굴림"/>
                <a:ea typeface="굴림"/>
              </a:rPr>
              <a:t>- </a:t>
            </a:r>
            <a:r>
              <a:rPr lang="en-US" sz="1400" b="0" strike="noStrike" spc="-1" dirty="0" err="1">
                <a:latin typeface="굴림"/>
              </a:rPr>
              <a:t>서버</a:t>
            </a:r>
            <a:r>
              <a:rPr lang="en-US" sz="1400" b="0" strike="noStrike" spc="-1" dirty="0">
                <a:latin typeface="굴림"/>
              </a:rPr>
              <a:t> </a:t>
            </a:r>
            <a:r>
              <a:rPr lang="en-US" sz="1400" b="0" strike="noStrike" spc="-1" dirty="0" err="1">
                <a:latin typeface="굴림"/>
              </a:rPr>
              <a:t>구조</a:t>
            </a:r>
            <a:r>
              <a:rPr lang="en-US" sz="1400" b="0" strike="noStrike" spc="-1" dirty="0">
                <a:latin typeface="굴림"/>
              </a:rPr>
              <a:t> </a:t>
            </a: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strike="noStrike" spc="-1" dirty="0">
                <a:latin typeface="굴림"/>
              </a:rPr>
              <a:t>- </a:t>
            </a:r>
            <a:r>
              <a:rPr lang="en-US" sz="1400" b="0" strike="noStrike" spc="-1" dirty="0" err="1">
                <a:latin typeface="굴림"/>
              </a:rPr>
              <a:t>구현내용</a:t>
            </a:r>
            <a:endParaRPr lang="en-US" sz="1400" b="0" strike="noStrike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endParaRPr lang="en-US" sz="3200" b="0" strike="noStrike" spc="-1" dirty="0">
              <a:latin typeface="굴림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3CAC550-42AE-7842-DEA4-B886B4A6AD14}"/>
              </a:ext>
            </a:extLst>
          </p:cNvPr>
          <p:cNvSpPr txBox="1"/>
          <p:nvPr/>
        </p:nvSpPr>
        <p:spPr>
          <a:xfrm>
            <a:off x="4963699" y="471427"/>
            <a:ext cx="2609850" cy="22518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endParaRPr lang="en-US" altLang="ko-KR" sz="1200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altLang="ko-KR" sz="1400" spc="-1" dirty="0">
                <a:latin typeface="굴림"/>
              </a:rPr>
              <a:t>3. </a:t>
            </a:r>
            <a:r>
              <a:rPr lang="en-US" altLang="ko-KR" sz="1400" spc="-1" dirty="0" err="1">
                <a:latin typeface="굴림"/>
              </a:rPr>
              <a:t>게임서버</a:t>
            </a:r>
            <a:r>
              <a:rPr lang="en-US" altLang="ko-KR" sz="1400" spc="-1" dirty="0">
                <a:latin typeface="굴림"/>
              </a:rPr>
              <a:t> </a:t>
            </a:r>
            <a:r>
              <a:rPr lang="en-US" altLang="ko-KR" sz="1400" spc="-1" dirty="0" err="1">
                <a:latin typeface="굴림"/>
              </a:rPr>
              <a:t>텀프</a:t>
            </a:r>
            <a:endParaRPr lang="en-US" altLang="ko-KR" sz="1400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altLang="ko-KR" sz="1400" spc="-1" dirty="0">
                <a:latin typeface="굴림"/>
              </a:rPr>
              <a:t>- </a:t>
            </a:r>
            <a:r>
              <a:rPr lang="en-US" altLang="ko-KR" sz="1400" spc="-1" dirty="0" err="1">
                <a:latin typeface="굴림"/>
              </a:rPr>
              <a:t>소개</a:t>
            </a:r>
            <a:endParaRPr lang="en-US" altLang="ko-KR" sz="1400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altLang="ko-KR" sz="1400" spc="-1" dirty="0">
                <a:latin typeface="굴림"/>
              </a:rPr>
              <a:t>- </a:t>
            </a:r>
            <a:r>
              <a:rPr lang="en-US" altLang="ko-KR" sz="1400" spc="-1" dirty="0" err="1">
                <a:latin typeface="굴림"/>
              </a:rPr>
              <a:t>프로토콜</a:t>
            </a:r>
            <a:r>
              <a:rPr lang="en-US" altLang="ko-KR" sz="1400" spc="-1" dirty="0">
                <a:latin typeface="굴림"/>
              </a:rPr>
              <a:t> </a:t>
            </a:r>
            <a:r>
              <a:rPr lang="en-US" altLang="ko-KR" sz="1400" spc="-1" dirty="0" err="1">
                <a:latin typeface="굴림"/>
              </a:rPr>
              <a:t>설계</a:t>
            </a:r>
            <a:endParaRPr lang="en-US" altLang="ko-KR" sz="1400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altLang="ko-KR" sz="1400" spc="-1" dirty="0">
                <a:latin typeface="굴림"/>
              </a:rPr>
              <a:t>- </a:t>
            </a:r>
            <a:r>
              <a:rPr lang="en-US" altLang="ko-KR" sz="1400" spc="-1" dirty="0" err="1">
                <a:latin typeface="굴림"/>
              </a:rPr>
              <a:t>서버구조</a:t>
            </a:r>
            <a:endParaRPr lang="en-US" altLang="ko-KR" sz="1400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altLang="ko-KR" sz="1400" spc="-1" dirty="0">
                <a:latin typeface="굴림"/>
              </a:rPr>
              <a:t>- </a:t>
            </a:r>
            <a:r>
              <a:rPr lang="en-US" altLang="ko-KR" sz="1400" spc="-1" dirty="0" err="1">
                <a:latin typeface="굴림"/>
              </a:rPr>
              <a:t>구현내용</a:t>
            </a:r>
            <a:endParaRPr lang="en-US" altLang="ko-KR" sz="1400" spc="-1" dirty="0">
              <a:latin typeface="굴림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512FAD4-3170-3F7B-9DAE-6CB64179FBDD}"/>
              </a:ext>
            </a:extLst>
          </p:cNvPr>
          <p:cNvSpPr txBox="1"/>
          <p:nvPr/>
        </p:nvSpPr>
        <p:spPr>
          <a:xfrm>
            <a:off x="181801" y="971565"/>
            <a:ext cx="2675700" cy="35035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altLang="ko-KR" sz="1400" spc="-1" dirty="0">
                <a:latin typeface="굴림"/>
              </a:rPr>
              <a:t>1. </a:t>
            </a:r>
            <a:r>
              <a:rPr lang="en-US" altLang="ko-KR" sz="1400" spc="-1" dirty="0" err="1">
                <a:latin typeface="굴림"/>
              </a:rPr>
              <a:t>졸작</a:t>
            </a:r>
            <a:endParaRPr lang="en-US" altLang="ko-KR" sz="1400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altLang="ko-KR" sz="1400" spc="-1" dirty="0">
                <a:latin typeface="굴림"/>
              </a:rPr>
              <a:t>- </a:t>
            </a:r>
            <a:r>
              <a:rPr lang="en-US" altLang="ko-KR" sz="1400" spc="-1" dirty="0" err="1">
                <a:latin typeface="굴림"/>
              </a:rPr>
              <a:t>소개</a:t>
            </a:r>
            <a:endParaRPr lang="en-US" altLang="ko-KR" sz="1400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altLang="ko-KR" sz="1400" spc="-1" dirty="0">
                <a:latin typeface="굴림"/>
              </a:rPr>
              <a:t>- </a:t>
            </a:r>
            <a:r>
              <a:rPr lang="en-US" altLang="ko-KR" sz="1400" spc="-1" dirty="0" err="1">
                <a:latin typeface="굴림"/>
              </a:rPr>
              <a:t>서버</a:t>
            </a:r>
            <a:r>
              <a:rPr lang="en-US" altLang="ko-KR" sz="1400" spc="-1" dirty="0">
                <a:latin typeface="굴림"/>
              </a:rPr>
              <a:t> </a:t>
            </a:r>
            <a:r>
              <a:rPr lang="en-US" altLang="ko-KR" sz="1400" spc="-1" dirty="0" err="1">
                <a:latin typeface="굴림"/>
              </a:rPr>
              <a:t>구조</a:t>
            </a:r>
            <a:r>
              <a:rPr lang="en-US" altLang="ko-KR" sz="1400" spc="-1" dirty="0">
                <a:latin typeface="굴림"/>
              </a:rPr>
              <a:t> </a:t>
            </a:r>
            <a:r>
              <a:rPr lang="ko-KR" altLang="en-US" sz="1400" spc="-1" dirty="0">
                <a:latin typeface="굴림"/>
              </a:rPr>
              <a:t>및 특징</a:t>
            </a:r>
            <a:endParaRPr lang="en-US" altLang="ko-KR" sz="1400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altLang="ko-KR" sz="1400" spc="-1" dirty="0">
                <a:latin typeface="굴림"/>
                <a:ea typeface="굴림"/>
              </a:rPr>
              <a:t>- </a:t>
            </a:r>
            <a:r>
              <a:rPr lang="en-US" altLang="ko-KR" sz="1400" spc="-1" dirty="0" err="1">
                <a:latin typeface="굴림"/>
              </a:rPr>
              <a:t>프로토콜</a:t>
            </a:r>
            <a:r>
              <a:rPr lang="en-US" altLang="ko-KR" sz="1400" spc="-1" dirty="0">
                <a:latin typeface="굴림"/>
              </a:rPr>
              <a:t> </a:t>
            </a:r>
            <a:r>
              <a:rPr lang="en-US" altLang="ko-KR" sz="1400" spc="-1" dirty="0" err="1">
                <a:latin typeface="굴림"/>
              </a:rPr>
              <a:t>설계</a:t>
            </a:r>
            <a:endParaRPr lang="en-US" altLang="ko-KR" sz="1400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altLang="ko-KR" sz="1400" spc="-1" dirty="0">
                <a:latin typeface="굴림"/>
              </a:rPr>
              <a:t>- </a:t>
            </a:r>
            <a:r>
              <a:rPr lang="en-US" altLang="ko-KR" sz="1400" spc="-1" dirty="0" err="1">
                <a:latin typeface="굴림"/>
              </a:rPr>
              <a:t>구현내용</a:t>
            </a:r>
            <a:endParaRPr lang="en-US" altLang="ko-KR" sz="1400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altLang="ko-KR" sz="1400" spc="-1" dirty="0">
                <a:latin typeface="굴림"/>
              </a:rPr>
              <a:t>- </a:t>
            </a:r>
            <a:r>
              <a:rPr lang="en-US" altLang="ko-KR" sz="1400" spc="-1" dirty="0" err="1">
                <a:latin typeface="굴림"/>
              </a:rPr>
              <a:t>성능</a:t>
            </a:r>
            <a:r>
              <a:rPr lang="en-US" altLang="ko-KR" sz="1400" spc="-1" dirty="0">
                <a:latin typeface="굴림"/>
              </a:rPr>
              <a:t> </a:t>
            </a:r>
            <a:r>
              <a:rPr lang="en-US" altLang="ko-KR" sz="1400" spc="-1" dirty="0" err="1">
                <a:latin typeface="굴림"/>
              </a:rPr>
              <a:t>개선을</a:t>
            </a:r>
            <a:r>
              <a:rPr lang="en-US" altLang="ko-KR" sz="1400" spc="-1" dirty="0">
                <a:latin typeface="굴림"/>
              </a:rPr>
              <a:t> </a:t>
            </a:r>
            <a:r>
              <a:rPr lang="en-US" altLang="ko-KR" sz="1400" spc="-1" dirty="0" err="1">
                <a:latin typeface="굴림"/>
              </a:rPr>
              <a:t>위한</a:t>
            </a:r>
            <a:r>
              <a:rPr lang="en-US" altLang="ko-KR" sz="1400" spc="-1" dirty="0">
                <a:latin typeface="굴림"/>
              </a:rPr>
              <a:t> </a:t>
            </a:r>
            <a:r>
              <a:rPr lang="en-US" altLang="ko-KR" sz="1400" spc="-1" dirty="0" err="1">
                <a:latin typeface="굴림"/>
              </a:rPr>
              <a:t>노력</a:t>
            </a:r>
            <a:r>
              <a:rPr lang="en-US" altLang="ko-KR" sz="1400" spc="-1" dirty="0">
                <a:latin typeface="굴림"/>
              </a:rPr>
              <a:t> 및 </a:t>
            </a:r>
            <a:r>
              <a:rPr lang="en-US" altLang="ko-KR" sz="1400" spc="-1" dirty="0" err="1">
                <a:latin typeface="굴림"/>
              </a:rPr>
              <a:t>중점연구과제</a:t>
            </a:r>
            <a:endParaRPr lang="en-US" altLang="ko-KR" sz="1400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altLang="ko-KR" sz="1400" spc="-1" dirty="0">
                <a:latin typeface="굴림"/>
              </a:rPr>
              <a:t>- </a:t>
            </a:r>
            <a:r>
              <a:rPr lang="en-US" altLang="ko-KR" sz="1400" spc="-1" dirty="0" err="1">
                <a:latin typeface="굴림"/>
              </a:rPr>
              <a:t>클라이언트</a:t>
            </a:r>
            <a:r>
              <a:rPr lang="en-US" altLang="ko-KR" sz="1400" spc="-1" dirty="0">
                <a:latin typeface="굴림"/>
              </a:rPr>
              <a:t> </a:t>
            </a:r>
            <a:r>
              <a:rPr lang="en-US" altLang="ko-KR" sz="1400" spc="-1" dirty="0" err="1">
                <a:latin typeface="굴림"/>
              </a:rPr>
              <a:t>사이드에서</a:t>
            </a:r>
            <a:r>
              <a:rPr lang="en-US" altLang="ko-KR" sz="1400" spc="-1" dirty="0">
                <a:latin typeface="굴림"/>
              </a:rPr>
              <a:t> </a:t>
            </a:r>
            <a:r>
              <a:rPr lang="en-US" altLang="ko-KR" sz="1400" spc="-1" dirty="0" err="1">
                <a:latin typeface="굴림"/>
              </a:rPr>
              <a:t>서버로서의</a:t>
            </a:r>
            <a:r>
              <a:rPr lang="en-US" altLang="ko-KR" sz="1400" spc="-1" dirty="0">
                <a:latin typeface="굴림"/>
              </a:rPr>
              <a:t> </a:t>
            </a:r>
            <a:r>
              <a:rPr lang="en-US" altLang="ko-KR" sz="1400" spc="-1" dirty="0" err="1">
                <a:latin typeface="굴림"/>
              </a:rPr>
              <a:t>역할</a:t>
            </a:r>
            <a:endParaRPr lang="en-US" altLang="ko-KR" sz="1400" spc="-1" dirty="0">
              <a:latin typeface="굴림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altLang="ko-KR" sz="1400" spc="-1" dirty="0">
                <a:latin typeface="굴림"/>
              </a:rPr>
              <a:t>- </a:t>
            </a:r>
            <a:r>
              <a:rPr lang="en-US" altLang="ko-KR" sz="1400" spc="-1" dirty="0" err="1">
                <a:latin typeface="굴림"/>
              </a:rPr>
              <a:t>기타</a:t>
            </a:r>
            <a:r>
              <a:rPr lang="en-US" altLang="ko-KR" sz="1400" spc="-1" dirty="0">
                <a:latin typeface="굴림"/>
              </a:rPr>
              <a:t> </a:t>
            </a:r>
            <a:r>
              <a:rPr lang="en-US" altLang="ko-KR" sz="1400" spc="-1" dirty="0" err="1">
                <a:latin typeface="굴림"/>
              </a:rPr>
              <a:t>구현내용</a:t>
            </a:r>
            <a:endParaRPr lang="en-US" altLang="ko-KR" sz="1400" spc="-1" dirty="0">
              <a:latin typeface="굴림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F560336-524D-60B3-55DF-DD60BB20A8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300" y="552"/>
            <a:ext cx="9071640" cy="609398"/>
          </a:xfrm>
        </p:spPr>
        <p:txBody>
          <a:bodyPr/>
          <a:lstStyle/>
          <a:p>
            <a:r>
              <a:rPr lang="en-US" altLang="ko-KR" dirty="0"/>
              <a:t>4.1 </a:t>
            </a:r>
            <a:r>
              <a:rPr lang="ko-KR" altLang="en-US" dirty="0"/>
              <a:t>졸작 </a:t>
            </a:r>
            <a:r>
              <a:rPr lang="en-US" altLang="ko-KR" dirty="0"/>
              <a:t>- </a:t>
            </a:r>
            <a:r>
              <a:rPr lang="ko-KR" altLang="en-US" dirty="0"/>
              <a:t>소개</a:t>
            </a: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CF203F5C-3EB9-7E59-3838-77049591C54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93127292"/>
              </p:ext>
            </p:extLst>
          </p:nvPr>
        </p:nvGraphicFramePr>
        <p:xfrm>
          <a:off x="4117242" y="138023"/>
          <a:ext cx="5803900" cy="5562144"/>
        </p:xfrm>
        <a:graphic>
          <a:graphicData uri="http://schemas.openxmlformats.org/drawingml/2006/table">
            <a:tbl>
              <a:tblPr firstCol="1" bandRow="1">
                <a:tableStyleId>{5C22544A-7EE6-4342-B048-85BDC9FD1C3A}</a:tableStyleId>
              </a:tblPr>
              <a:tblGrid>
                <a:gridCol w="1487401">
                  <a:extLst>
                    <a:ext uri="{9D8B030D-6E8A-4147-A177-3AD203B41FA5}">
                      <a16:colId xmlns:a16="http://schemas.microsoft.com/office/drawing/2014/main" val="3382018566"/>
                    </a:ext>
                  </a:extLst>
                </a:gridCol>
                <a:gridCol w="4316499">
                  <a:extLst>
                    <a:ext uri="{9D8B030D-6E8A-4147-A177-3AD203B41FA5}">
                      <a16:colId xmlns:a16="http://schemas.microsoft.com/office/drawing/2014/main" val="1255970054"/>
                    </a:ext>
                  </a:extLst>
                </a:gridCol>
              </a:tblGrid>
              <a:tr h="297839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 err="1"/>
                        <a:t>게임명</a:t>
                      </a:r>
                      <a:endParaRPr lang="ko-KR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 err="1"/>
                        <a:t>에버그린</a:t>
                      </a:r>
                      <a:endParaRPr lang="ko-KR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492995010"/>
                  </a:ext>
                </a:extLst>
              </a:tr>
              <a:tr h="297839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게임 장르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dirty="0"/>
                        <a:t>MMORPG</a:t>
                      </a:r>
                      <a:endParaRPr lang="ko-KR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506374363"/>
                  </a:ext>
                </a:extLst>
              </a:tr>
              <a:tr h="297839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개발기간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dirty="0"/>
                        <a:t>2024.02 ~ 2025.07</a:t>
                      </a:r>
                      <a:endParaRPr lang="ko-KR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46246357"/>
                  </a:ext>
                </a:extLst>
              </a:tr>
              <a:tr h="297839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개발 인원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dirty="0"/>
                        <a:t>3</a:t>
                      </a:r>
                      <a:r>
                        <a:rPr lang="ko-KR" altLang="en-US" sz="1600" dirty="0"/>
                        <a:t>명 </a:t>
                      </a:r>
                      <a:r>
                        <a:rPr lang="en-US" altLang="ko-KR" sz="1600" dirty="0"/>
                        <a:t>(</a:t>
                      </a:r>
                      <a:r>
                        <a:rPr lang="ko-KR" altLang="en-US" sz="1600" dirty="0"/>
                        <a:t>서버</a:t>
                      </a:r>
                      <a:r>
                        <a:rPr lang="en-US" altLang="ko-KR" sz="1600" dirty="0"/>
                        <a:t>, </a:t>
                      </a:r>
                      <a:r>
                        <a:rPr lang="ko-KR" altLang="en-US" sz="1600" dirty="0" err="1"/>
                        <a:t>모델러</a:t>
                      </a:r>
                      <a:r>
                        <a:rPr lang="en-US" altLang="ko-KR" sz="1600" dirty="0"/>
                        <a:t>, </a:t>
                      </a:r>
                      <a:r>
                        <a:rPr lang="ko-KR" altLang="en-US" sz="1600" dirty="0"/>
                        <a:t>클라이언트</a:t>
                      </a:r>
                      <a:r>
                        <a:rPr lang="en-US" altLang="ko-KR" sz="1600" dirty="0"/>
                        <a:t>)</a:t>
                      </a:r>
                      <a:endParaRPr lang="ko-KR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102287121"/>
                  </a:ext>
                </a:extLst>
              </a:tr>
              <a:tr h="514448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사용 기술 </a:t>
                      </a:r>
                      <a:r>
                        <a:rPr lang="en-US" altLang="ko-KR" sz="1600" dirty="0"/>
                        <a:t>(</a:t>
                      </a:r>
                      <a:r>
                        <a:rPr lang="ko-KR" altLang="en-US" sz="1600" dirty="0"/>
                        <a:t>서버기준</a:t>
                      </a:r>
                      <a:r>
                        <a:rPr lang="en-US" altLang="ko-KR" sz="1600" dirty="0"/>
                        <a:t>)</a:t>
                      </a:r>
                      <a:endParaRPr lang="ko-KR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dirty="0"/>
                        <a:t>C++20, IOCP, MSSQL, </a:t>
                      </a:r>
                      <a:r>
                        <a:rPr lang="en-US" altLang="ko-KR" sz="1600" dirty="0" err="1"/>
                        <a:t>FlatBuffers</a:t>
                      </a:r>
                      <a:r>
                        <a:rPr lang="en-US" altLang="ko-KR" sz="1600" dirty="0"/>
                        <a:t>, Python, DB Query Server , AWS</a:t>
                      </a:r>
                      <a:endParaRPr lang="ko-KR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205884818"/>
                  </a:ext>
                </a:extLst>
              </a:tr>
              <a:tr h="1638112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역할 및 구현내용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서버 프로그래머</a:t>
                      </a:r>
                      <a:endParaRPr lang="en-US" altLang="ko-KR" sz="1600" dirty="0"/>
                    </a:p>
                    <a:p>
                      <a:pPr latinLnBrk="1"/>
                      <a:r>
                        <a:rPr lang="en-US" altLang="ko-KR" sz="1100" dirty="0"/>
                        <a:t>-      ECS</a:t>
                      </a:r>
                      <a:r>
                        <a:rPr lang="ko-KR" altLang="en-US" sz="1100" dirty="0"/>
                        <a:t>기반의 </a:t>
                      </a:r>
                      <a:r>
                        <a:rPr lang="ko-KR" altLang="en-US" sz="1100" dirty="0" err="1"/>
                        <a:t>서버프레임워크</a:t>
                      </a:r>
                      <a:endParaRPr lang="en-US" altLang="ko-KR" sz="1100" dirty="0"/>
                    </a:p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ko-KR" altLang="en-US" sz="1100" dirty="0"/>
                        <a:t>플레이어 이동</a:t>
                      </a:r>
                      <a:r>
                        <a:rPr lang="en-US" altLang="ko-KR" sz="1100" dirty="0"/>
                        <a:t>, </a:t>
                      </a:r>
                      <a:r>
                        <a:rPr lang="ko-KR" altLang="en-US" sz="1100" dirty="0"/>
                        <a:t>회전</a:t>
                      </a:r>
                      <a:r>
                        <a:rPr lang="en-US" altLang="ko-KR" sz="1100" dirty="0"/>
                        <a:t>, </a:t>
                      </a:r>
                      <a:r>
                        <a:rPr lang="ko-KR" altLang="en-US" sz="1100" dirty="0"/>
                        <a:t>공격</a:t>
                      </a:r>
                      <a:r>
                        <a:rPr lang="en-US" altLang="ko-KR" sz="1100" dirty="0"/>
                        <a:t>, </a:t>
                      </a:r>
                      <a:r>
                        <a:rPr lang="ko-KR" altLang="en-US" sz="1100" dirty="0"/>
                        <a:t>피격 등 각종 동기화 작업</a:t>
                      </a:r>
                      <a:endParaRPr lang="en-US" altLang="ko-KR" sz="1100" dirty="0"/>
                    </a:p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ko-KR" altLang="en-US" sz="1100" dirty="0" err="1"/>
                        <a:t>행동트리</a:t>
                      </a:r>
                      <a:r>
                        <a:rPr lang="ko-KR" altLang="en-US" sz="1100" dirty="0"/>
                        <a:t> 기반의 몬스터 </a:t>
                      </a:r>
                      <a:r>
                        <a:rPr lang="en-US" altLang="ko-KR" sz="1100" dirty="0"/>
                        <a:t>AI (</a:t>
                      </a:r>
                      <a:r>
                        <a:rPr lang="ko-KR" altLang="en-US" sz="1100" dirty="0" err="1"/>
                        <a:t>행동트리를</a:t>
                      </a:r>
                      <a:r>
                        <a:rPr lang="ko-KR" altLang="en-US" sz="1100" dirty="0"/>
                        <a:t> 위한 별도 프레임워크 제작</a:t>
                      </a:r>
                      <a:r>
                        <a:rPr lang="en-US" altLang="ko-KR" sz="1100" dirty="0"/>
                        <a:t>) </a:t>
                      </a:r>
                      <a:r>
                        <a:rPr lang="ko-KR" altLang="en-US" sz="1100" dirty="0"/>
                        <a:t>및 </a:t>
                      </a:r>
                      <a:r>
                        <a:rPr lang="en-US" altLang="ko-KR" sz="1100" dirty="0"/>
                        <a:t>FSM </a:t>
                      </a:r>
                      <a:r>
                        <a:rPr lang="ko-KR" altLang="en-US" sz="1100" dirty="0"/>
                        <a:t>기반의 몬스터 </a:t>
                      </a:r>
                      <a:r>
                        <a:rPr lang="en-US" altLang="ko-KR" sz="1100" dirty="0"/>
                        <a:t>AI</a:t>
                      </a:r>
                    </a:p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ko-KR" altLang="en-US" sz="1100" dirty="0"/>
                        <a:t>유저 간 파티 시스템 </a:t>
                      </a:r>
                      <a:endParaRPr lang="en-US" altLang="ko-KR" sz="1100" dirty="0"/>
                    </a:p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ko-KR" altLang="en-US" sz="1100" dirty="0"/>
                        <a:t>진행 도중 누군가 접속종료 또는 파티탈퇴를 하더라도 문제없이 진행되는 인스턴스 던전 시스템 </a:t>
                      </a:r>
                      <a:endParaRPr lang="en-US" altLang="ko-KR" sz="1100" dirty="0"/>
                    </a:p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ko-KR" altLang="en-US" sz="1100" dirty="0"/>
                        <a:t>다른 상용 게임과 유사한 채널 시스템</a:t>
                      </a:r>
                      <a:endParaRPr lang="en-US" altLang="ko-KR" sz="1100" dirty="0"/>
                    </a:p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ko-KR" altLang="en-US" sz="1100" dirty="0"/>
                        <a:t>네비게이션 </a:t>
                      </a:r>
                      <a:r>
                        <a:rPr lang="ko-KR" altLang="en-US" sz="1100" dirty="0" err="1"/>
                        <a:t>메쉬를</a:t>
                      </a:r>
                      <a:r>
                        <a:rPr lang="ko-KR" altLang="en-US" sz="1100" dirty="0"/>
                        <a:t> 이용한 지형보정 및 길 찾기</a:t>
                      </a:r>
                      <a:endParaRPr lang="en-US" altLang="ko-KR" sz="1100" dirty="0"/>
                    </a:p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ko-KR" altLang="en-US" sz="1100" dirty="0"/>
                        <a:t>전투</a:t>
                      </a:r>
                      <a:r>
                        <a:rPr lang="en-US" altLang="ko-KR" sz="1100" dirty="0"/>
                        <a:t>, </a:t>
                      </a:r>
                      <a:r>
                        <a:rPr lang="ko-KR" altLang="en-US" sz="1100" dirty="0" err="1"/>
                        <a:t>채작</a:t>
                      </a:r>
                      <a:r>
                        <a:rPr lang="en-US" altLang="ko-KR" sz="1100" dirty="0"/>
                        <a:t>, </a:t>
                      </a:r>
                      <a:r>
                        <a:rPr lang="ko-KR" altLang="en-US" sz="1100" dirty="0"/>
                        <a:t>채집</a:t>
                      </a:r>
                      <a:r>
                        <a:rPr lang="en-US" altLang="ko-KR" sz="1100" dirty="0"/>
                        <a:t>, </a:t>
                      </a:r>
                      <a:r>
                        <a:rPr lang="ko-KR" altLang="en-US" sz="1100" dirty="0" err="1"/>
                        <a:t>리스폰</a:t>
                      </a:r>
                      <a:r>
                        <a:rPr lang="en-US" altLang="ko-KR" sz="1100" dirty="0"/>
                        <a:t> </a:t>
                      </a:r>
                      <a:r>
                        <a:rPr lang="ko-KR" altLang="en-US" sz="1100" dirty="0"/>
                        <a:t>등을 포함한 모든 컨텐츠</a:t>
                      </a:r>
                      <a:endParaRPr lang="en-US" altLang="ko-KR" sz="1100" dirty="0"/>
                    </a:p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en-US" altLang="ko-KR" sz="1100" dirty="0">
                          <a:highlight>
                            <a:srgbClr val="FFFF00"/>
                          </a:highlight>
                        </a:rPr>
                        <a:t>DB</a:t>
                      </a:r>
                      <a:r>
                        <a:rPr lang="ko-KR" altLang="en-US" sz="1100" dirty="0">
                          <a:highlight>
                            <a:srgbClr val="FFFF00"/>
                          </a:highlight>
                        </a:rPr>
                        <a:t>를 사용한 사용자 정보 관리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115462876"/>
                  </a:ext>
                </a:extLst>
              </a:tr>
              <a:tr h="297839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dirty="0"/>
                        <a:t>Git</a:t>
                      </a:r>
                      <a:endParaRPr lang="ko-KR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추후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30599605"/>
                  </a:ext>
                </a:extLst>
              </a:tr>
              <a:tr h="297839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시연 영상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추후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438947"/>
                  </a:ext>
                </a:extLst>
              </a:tr>
              <a:tr h="792024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특징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체육관 </a:t>
                      </a:r>
                      <a:r>
                        <a:rPr lang="en-US" altLang="ko-KR" sz="1600" dirty="0"/>
                        <a:t>..</a:t>
                      </a:r>
                      <a:endParaRPr lang="ko-KR" alt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6765118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144063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902CC9-B906-88E1-11D2-B1FE1BCDA3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279952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서버구조 개요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ADA1CE0-EBCD-06A5-0556-54914B0D0179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504000" y="774700"/>
            <a:ext cx="9071640" cy="4629150"/>
          </a:xfrm>
        </p:spPr>
        <p:txBody>
          <a:bodyPr>
            <a:normAutofit/>
          </a:bodyPr>
          <a:lstStyle/>
          <a:p>
            <a:r>
              <a:rPr lang="en-US" altLang="ko-KR" sz="4000" dirty="0"/>
              <a:t> </a:t>
            </a:r>
            <a:r>
              <a:rPr lang="en-US" altLang="ko-KR" sz="1600" dirty="0"/>
              <a:t>-</a:t>
            </a:r>
            <a:r>
              <a:rPr lang="en-US" altLang="ko-KR" sz="4000" dirty="0"/>
              <a:t> </a:t>
            </a:r>
            <a:r>
              <a:rPr lang="ko-KR" altLang="en-US" sz="1600" dirty="0"/>
              <a:t>발표자료 </a:t>
            </a:r>
            <a:r>
              <a:rPr lang="en-US" altLang="ko-KR" sz="1600" dirty="0"/>
              <a:t>“</a:t>
            </a:r>
            <a:r>
              <a:rPr lang="ko-KR" altLang="en-US" sz="1600" dirty="0"/>
              <a:t>테라로 살펴본 </a:t>
            </a:r>
            <a:r>
              <a:rPr lang="en-US" altLang="ko-KR" sz="1600" dirty="0"/>
              <a:t>MMORPG”(</a:t>
            </a:r>
            <a:r>
              <a:rPr lang="ko-KR" altLang="en-US" sz="1600" dirty="0"/>
              <a:t>출처</a:t>
            </a:r>
            <a:r>
              <a:rPr lang="en-US" altLang="ko-KR" sz="1600" dirty="0"/>
              <a:t>:</a:t>
            </a:r>
            <a:r>
              <a:rPr lang="en-US" altLang="ko-KR" sz="1600" dirty="0">
                <a:hlinkClick r:id="rId2"/>
              </a:rPr>
              <a:t>https://www.slideshare.net/slideshow/mmorpg-106391346/106391346</a:t>
            </a:r>
            <a:r>
              <a:rPr lang="en-US" altLang="ko-KR" sz="1600" dirty="0"/>
              <a:t>)</a:t>
            </a:r>
            <a:r>
              <a:rPr lang="ko-KR" altLang="en-US" sz="1600" dirty="0"/>
              <a:t>를 참고</a:t>
            </a:r>
            <a:r>
              <a:rPr lang="en-US" altLang="ko-KR" sz="1600" dirty="0"/>
              <a:t>,</a:t>
            </a:r>
          </a:p>
          <a:p>
            <a:r>
              <a:rPr lang="ko-KR" altLang="en-US" sz="1600" dirty="0"/>
              <a:t> </a:t>
            </a:r>
            <a:r>
              <a:rPr lang="en-US" altLang="ko-KR" sz="1600" dirty="0"/>
              <a:t>- </a:t>
            </a:r>
            <a:r>
              <a:rPr lang="ko-KR" altLang="en-US" sz="1600" dirty="0"/>
              <a:t>해당 자료처럼 스레드가 각자 자료구조 관리 및 공간에 대한 변경내용은 중앙 원형 </a:t>
            </a:r>
            <a:r>
              <a:rPr lang="ko-KR" altLang="en-US" sz="1600" dirty="0" err="1"/>
              <a:t>락프리큐를</a:t>
            </a:r>
            <a:r>
              <a:rPr lang="ko-KR" altLang="en-US" sz="1600" dirty="0"/>
              <a:t> 이용하여 공유 </a:t>
            </a:r>
            <a:r>
              <a:rPr lang="en-US" altLang="ko-KR" sz="1600" dirty="0"/>
              <a:t>/ </a:t>
            </a:r>
            <a:r>
              <a:rPr lang="ko-KR" altLang="en-US" sz="1600" dirty="0"/>
              <a:t>모든 객체가 이벤트 큐를 가지고 있게 하여 객체에게 발생한 이벤트 </a:t>
            </a:r>
            <a:r>
              <a:rPr lang="en-US" altLang="ko-KR" sz="1600" dirty="0"/>
              <a:t>(HP</a:t>
            </a:r>
            <a:r>
              <a:rPr lang="ko-KR" altLang="en-US" sz="1600" dirty="0"/>
              <a:t>감소</a:t>
            </a:r>
            <a:r>
              <a:rPr lang="en-US" altLang="ko-KR" sz="1600" dirty="0"/>
              <a:t>, </a:t>
            </a:r>
            <a:r>
              <a:rPr lang="ko-KR" altLang="en-US" sz="1600" dirty="0"/>
              <a:t>사망</a:t>
            </a:r>
            <a:r>
              <a:rPr lang="en-US" altLang="ko-KR" sz="1600" dirty="0"/>
              <a:t>, </a:t>
            </a:r>
            <a:r>
              <a:rPr lang="ko-KR" altLang="en-US" sz="1600" dirty="0"/>
              <a:t>업데이트 등 </a:t>
            </a:r>
            <a:r>
              <a:rPr lang="en-US" altLang="ko-KR" sz="1600" dirty="0"/>
              <a:t>..)</a:t>
            </a:r>
            <a:r>
              <a:rPr lang="ko-KR" altLang="en-US" sz="1600" dirty="0"/>
              <a:t> 는 큐에 전달만 하고 이벤트 처리는 각자 하도록 함으로써 </a:t>
            </a:r>
            <a:r>
              <a:rPr lang="en-US" altLang="ko-KR" sz="1600" dirty="0"/>
              <a:t>Lock</a:t>
            </a:r>
            <a:r>
              <a:rPr lang="ko-KR" altLang="en-US" sz="1600" dirty="0"/>
              <a:t>을 제거</a:t>
            </a:r>
            <a:endParaRPr lang="en-US" altLang="ko-KR" sz="1600" dirty="0"/>
          </a:p>
          <a:p>
            <a:r>
              <a:rPr lang="ko-KR" altLang="en-US" sz="1600" dirty="0"/>
              <a:t>해당 이벤트 객체로서 이용하였던 </a:t>
            </a:r>
            <a:r>
              <a:rPr lang="en-US" altLang="ko-KR" sz="1600" dirty="0"/>
              <a:t>std::function</a:t>
            </a:r>
            <a:r>
              <a:rPr lang="ko-KR" altLang="en-US" sz="1600" dirty="0"/>
              <a:t>의 동적할당</a:t>
            </a:r>
            <a:r>
              <a:rPr lang="en-US" altLang="ko-KR" sz="1600" dirty="0"/>
              <a:t>/</a:t>
            </a:r>
            <a:r>
              <a:rPr lang="ko-KR" altLang="en-US" sz="1600" dirty="0"/>
              <a:t>해제 오버헤드 감소를 위해 직접 대응하는 클래스 제작</a:t>
            </a:r>
            <a:endParaRPr lang="en-US" altLang="ko-KR" sz="1600" dirty="0"/>
          </a:p>
          <a:p>
            <a:r>
              <a:rPr lang="ko-KR" altLang="en-US" sz="1600" dirty="0"/>
              <a:t> </a:t>
            </a:r>
            <a:r>
              <a:rPr lang="en-US" altLang="ko-KR" sz="1600" dirty="0"/>
              <a:t>-</a:t>
            </a:r>
            <a:r>
              <a:rPr lang="ko-KR" altLang="en-US" sz="1600" dirty="0"/>
              <a:t> 다중 생산자</a:t>
            </a:r>
            <a:r>
              <a:rPr lang="en-US" altLang="ko-KR" sz="1600" dirty="0"/>
              <a:t>, </a:t>
            </a:r>
            <a:r>
              <a:rPr lang="ko-KR" altLang="en-US" sz="1600" dirty="0"/>
              <a:t>단일 소비자 형태에서 효율적으로 작동할 수 있는 </a:t>
            </a:r>
            <a:r>
              <a:rPr lang="ko-KR" altLang="en-US" sz="1600" dirty="0" err="1"/>
              <a:t>락</a:t>
            </a:r>
            <a:r>
              <a:rPr lang="ko-KR" altLang="en-US" sz="1600" dirty="0"/>
              <a:t> </a:t>
            </a:r>
            <a:r>
              <a:rPr lang="ko-KR" altLang="en-US" sz="1600" dirty="0" err="1"/>
              <a:t>프리큐</a:t>
            </a:r>
            <a:r>
              <a:rPr lang="ko-KR" altLang="en-US" sz="1600" dirty="0"/>
              <a:t> 직접 제작</a:t>
            </a:r>
            <a:endParaRPr lang="en-US" altLang="ko-KR" sz="1600" dirty="0"/>
          </a:p>
          <a:p>
            <a:r>
              <a:rPr lang="ko-KR" altLang="en-US" sz="1600" dirty="0"/>
              <a:t> </a:t>
            </a:r>
            <a:r>
              <a:rPr lang="en-US" altLang="ko-KR" sz="1600" dirty="0"/>
              <a:t>- </a:t>
            </a:r>
            <a:r>
              <a:rPr lang="ko-KR" altLang="en-US" sz="1600" dirty="0"/>
              <a:t>공간분할을 이용하여 탐색 대상을 줄임으로써 </a:t>
            </a:r>
            <a:r>
              <a:rPr lang="en-US" altLang="ko-KR" sz="1600" dirty="0"/>
              <a:t>Send </a:t>
            </a:r>
            <a:r>
              <a:rPr lang="ko-KR" altLang="en-US" sz="1600" dirty="0"/>
              <a:t>횟수 및 충돌검사 횟수 등 오브젝트 탐색</a:t>
            </a:r>
            <a:r>
              <a:rPr lang="en-US" altLang="ko-KR" sz="1600" dirty="0"/>
              <a:t>/</a:t>
            </a:r>
            <a:r>
              <a:rPr lang="ko-KR" altLang="en-US" sz="1600" dirty="0"/>
              <a:t>순회 횟수를 감소시킴</a:t>
            </a:r>
            <a:endParaRPr lang="en-US" altLang="ko-KR" sz="1600" dirty="0"/>
          </a:p>
          <a:p>
            <a:r>
              <a:rPr lang="ko-KR" altLang="en-US" sz="1600" dirty="0"/>
              <a:t> </a:t>
            </a:r>
            <a:r>
              <a:rPr lang="en-US" altLang="ko-KR" sz="1600" dirty="0"/>
              <a:t>- </a:t>
            </a:r>
            <a:r>
              <a:rPr lang="ko-KR" altLang="en-US" sz="1600" dirty="0" err="1"/>
              <a:t>행동트리를</a:t>
            </a:r>
            <a:r>
              <a:rPr lang="ko-KR" altLang="en-US" sz="1600" dirty="0"/>
              <a:t> 이용한 몬스터</a:t>
            </a:r>
            <a:r>
              <a:rPr lang="en-US" altLang="ko-KR" sz="1600" dirty="0"/>
              <a:t>AI </a:t>
            </a:r>
            <a:r>
              <a:rPr lang="ko-KR" altLang="en-US" sz="1600" dirty="0"/>
              <a:t>및 이를 효율적으로 사용하기 위한 </a:t>
            </a:r>
            <a:r>
              <a:rPr lang="ko-KR" altLang="en-US" sz="1600" dirty="0" err="1"/>
              <a:t>행동트리</a:t>
            </a:r>
            <a:r>
              <a:rPr lang="ko-KR" altLang="en-US" sz="1600" dirty="0"/>
              <a:t> 프레임워크</a:t>
            </a:r>
            <a:endParaRPr lang="en-US" altLang="ko-KR" sz="1600" dirty="0"/>
          </a:p>
          <a:p>
            <a:r>
              <a:rPr lang="ko-KR" altLang="en-US" sz="1600" dirty="0"/>
              <a:t> </a:t>
            </a:r>
            <a:r>
              <a:rPr lang="en-US" altLang="ko-KR" sz="1600" dirty="0"/>
              <a:t>- </a:t>
            </a:r>
            <a:r>
              <a:rPr lang="ko-KR" altLang="en-US" sz="1600" dirty="0" err="1"/>
              <a:t>플랫버퍼를</a:t>
            </a:r>
            <a:r>
              <a:rPr lang="ko-KR" altLang="en-US" sz="1600" dirty="0"/>
              <a:t> 편하게 이용하기 위해 패킷 및 </a:t>
            </a:r>
            <a:r>
              <a:rPr lang="ko-KR" altLang="en-US" sz="1600" dirty="0" err="1"/>
              <a:t>패킷핸들러를</a:t>
            </a:r>
            <a:r>
              <a:rPr lang="ko-KR" altLang="en-US" sz="1600" dirty="0"/>
              <a:t> 자동으로 생성하는 자동화 툴 및 비슷한 아이디어를 이용한 </a:t>
            </a:r>
            <a:r>
              <a:rPr lang="en-US" altLang="ko-KR" sz="1600" dirty="0"/>
              <a:t>DB </a:t>
            </a:r>
            <a:r>
              <a:rPr lang="ko-KR" altLang="en-US" sz="1600" dirty="0"/>
              <a:t>스키마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일반퀘스트</a:t>
            </a:r>
            <a:r>
              <a:rPr lang="ko-KR" altLang="en-US" sz="1600" dirty="0"/>
              <a:t> 자동화 툴 제작 </a:t>
            </a:r>
            <a:endParaRPr lang="en-US" altLang="ko-KR" sz="1600" dirty="0"/>
          </a:p>
          <a:p>
            <a:r>
              <a:rPr lang="en-US" altLang="ko-KR" sz="1600" dirty="0"/>
              <a:t> - ECS </a:t>
            </a:r>
            <a:r>
              <a:rPr lang="ko-KR" altLang="en-US" sz="1600" dirty="0"/>
              <a:t>기반 구조를 편하게 이용하기 위한 컴파일타임 매크로 및 해시함수</a:t>
            </a:r>
            <a:endParaRPr lang="en-US" altLang="ko-KR" sz="1600" dirty="0"/>
          </a:p>
          <a:p>
            <a:endParaRPr lang="ko-KR" altLang="en-US" sz="1800" dirty="0"/>
          </a:p>
        </p:txBody>
      </p:sp>
    </p:spTree>
    <p:extLst>
      <p:ext uri="{BB962C8B-B14F-4D97-AF65-F5344CB8AC3E}">
        <p14:creationId xmlns:p14="http://schemas.microsoft.com/office/powerpoint/2010/main" val="384867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C330B2-870F-276B-C6F4-38CB66BD88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- </a:t>
            </a:r>
            <a:r>
              <a:rPr lang="ko-KR" altLang="en-US" dirty="0"/>
              <a:t>서버구조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10EE5B7-903E-FADC-1E38-CBC4070C9214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118237" y="1093325"/>
            <a:ext cx="9071640" cy="221599"/>
          </a:xfrm>
        </p:spPr>
        <p:txBody>
          <a:bodyPr/>
          <a:lstStyle/>
          <a:p>
            <a:pPr marL="0" indent="0">
              <a:buNone/>
            </a:pPr>
            <a:r>
              <a:rPr lang="en-US" altLang="ko-KR" sz="1600" dirty="0"/>
              <a:t>1. TLS + Cluster Update Queue</a:t>
            </a:r>
            <a:endParaRPr lang="ko-KR" altLang="en-US" sz="16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AB67FB5-3008-937A-EF4E-79379405FA75}"/>
              </a:ext>
            </a:extLst>
          </p:cNvPr>
          <p:cNvSpPr txBox="1"/>
          <p:nvPr/>
        </p:nvSpPr>
        <p:spPr>
          <a:xfrm>
            <a:off x="118237" y="1528972"/>
            <a:ext cx="964882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-  </a:t>
            </a:r>
            <a:r>
              <a:rPr lang="ko-KR" altLang="en-US" dirty="0"/>
              <a:t>개요</a:t>
            </a:r>
            <a:r>
              <a:rPr lang="en-US" altLang="ko-KR" dirty="0"/>
              <a:t>:</a:t>
            </a:r>
          </a:p>
          <a:p>
            <a:r>
              <a:rPr lang="ko-KR" altLang="en-US" dirty="0"/>
              <a:t>모든 스레드가 전체 공간에 대한 자료구조를 복사해 가지고 있게 하고</a:t>
            </a:r>
            <a:r>
              <a:rPr lang="en-US" altLang="ko-KR" dirty="0"/>
              <a:t>,</a:t>
            </a:r>
            <a:r>
              <a:rPr lang="ko-KR" altLang="en-US" dirty="0"/>
              <a:t> 특정 공간에 이벤트 발생 시  큐를 이용하여 해당 사실을 모든 스레드에게 알리고 각자 자신의 복사된 자료구조에 해당 사실을 업데이트 하게 한다</a:t>
            </a:r>
            <a:r>
              <a:rPr lang="en-US" altLang="ko-KR" dirty="0"/>
              <a:t>. (</a:t>
            </a:r>
            <a:r>
              <a:rPr lang="ko-KR" altLang="en-US" dirty="0"/>
              <a:t>모든 복사된 자료구조는 같은 값을 유지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43F75DB-C5ED-EDED-1088-FC885D8F08F6}"/>
              </a:ext>
            </a:extLst>
          </p:cNvPr>
          <p:cNvSpPr txBox="1"/>
          <p:nvPr/>
        </p:nvSpPr>
        <p:spPr>
          <a:xfrm>
            <a:off x="60165" y="3006300"/>
            <a:ext cx="9515475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ko-KR" altLang="en-US" dirty="0"/>
              <a:t>나는 왜 이렇게 하였는가</a:t>
            </a:r>
            <a:r>
              <a:rPr lang="en-US" altLang="ko-KR" dirty="0"/>
              <a:t>?: </a:t>
            </a:r>
          </a:p>
          <a:p>
            <a:r>
              <a:rPr lang="ko-KR" altLang="en-US" dirty="0"/>
              <a:t>이렇게 함으로써 특정 공간에 대한 검색 및 순회 시 해당 스레드 소유의 자료구조만을 접근하면 되기 때문에 </a:t>
            </a:r>
            <a:r>
              <a:rPr lang="en-US" altLang="ko-KR" dirty="0"/>
              <a:t>Lock</a:t>
            </a:r>
            <a:r>
              <a:rPr lang="ko-KR" altLang="en-US" dirty="0"/>
              <a:t>을 완전히 제거해버릴 수 있다</a:t>
            </a:r>
            <a:r>
              <a:rPr lang="en-US" altLang="ko-KR" dirty="0"/>
              <a:t>. </a:t>
            </a:r>
            <a:r>
              <a:rPr lang="ko-KR" altLang="en-US" dirty="0"/>
              <a:t>따라서</a:t>
            </a:r>
            <a:r>
              <a:rPr lang="en-US" altLang="ko-KR" dirty="0"/>
              <a:t>,</a:t>
            </a:r>
            <a:r>
              <a:rPr lang="ko-KR" altLang="en-US" dirty="0"/>
              <a:t> </a:t>
            </a:r>
            <a:r>
              <a:rPr lang="en-US" altLang="ko-KR" dirty="0"/>
              <a:t>Move,</a:t>
            </a:r>
            <a:r>
              <a:rPr lang="ko-KR" altLang="en-US" dirty="0"/>
              <a:t> </a:t>
            </a:r>
            <a:r>
              <a:rPr lang="en-US" altLang="ko-KR" dirty="0"/>
              <a:t>Attack</a:t>
            </a:r>
            <a:r>
              <a:rPr lang="ko-KR" altLang="en-US" dirty="0"/>
              <a:t> 패킷 등을 포함한 다양한 패킷을 주변 플레이어에게 </a:t>
            </a:r>
            <a:r>
              <a:rPr lang="en-US" altLang="ko-KR" dirty="0"/>
              <a:t>Send</a:t>
            </a:r>
            <a:r>
              <a:rPr lang="ko-KR" altLang="en-US" dirty="0"/>
              <a:t>할 때의 순회 오버헤드가 크게 감소하며</a:t>
            </a:r>
            <a:r>
              <a:rPr lang="en-US" altLang="ko-KR" dirty="0"/>
              <a:t>,</a:t>
            </a:r>
            <a:r>
              <a:rPr lang="ko-KR" altLang="en-US" dirty="0"/>
              <a:t> </a:t>
            </a:r>
            <a:r>
              <a:rPr lang="ko-KR" altLang="en-US" dirty="0" err="1"/>
              <a:t>논타겟</a:t>
            </a:r>
            <a:r>
              <a:rPr lang="ko-KR" altLang="en-US" dirty="0"/>
              <a:t> 투사체 등의 충돌검사를 위한 순회를 할 때에도 </a:t>
            </a:r>
            <a:r>
              <a:rPr lang="en-US" altLang="ko-KR" dirty="0"/>
              <a:t>Lock</a:t>
            </a:r>
            <a:r>
              <a:rPr lang="ko-KR" altLang="en-US" dirty="0"/>
              <a:t>없이 </a:t>
            </a:r>
            <a:r>
              <a:rPr lang="ko-KR" altLang="en-US" dirty="0" err="1"/>
              <a:t>싱글스레드</a:t>
            </a:r>
            <a:r>
              <a:rPr lang="ko-KR" altLang="en-US" dirty="0"/>
              <a:t> 로직처럼 작성이 가능하다</a:t>
            </a:r>
            <a:r>
              <a:rPr lang="en-US" altLang="ko-KR" dirty="0"/>
              <a:t>. </a:t>
            </a:r>
            <a:r>
              <a:rPr lang="ko-KR" altLang="en-US" dirty="0"/>
              <a:t>그리고</a:t>
            </a:r>
            <a:r>
              <a:rPr lang="en-US" altLang="ko-KR" dirty="0"/>
              <a:t>,</a:t>
            </a:r>
            <a:r>
              <a:rPr lang="ko-KR" altLang="en-US" dirty="0"/>
              <a:t> 파티신청 </a:t>
            </a:r>
            <a:r>
              <a:rPr lang="en-US" altLang="ko-KR" dirty="0"/>
              <a:t>/ </a:t>
            </a:r>
            <a:r>
              <a:rPr lang="ko-KR" altLang="en-US" dirty="0"/>
              <a:t>귓속말 </a:t>
            </a:r>
            <a:r>
              <a:rPr lang="en-US" altLang="ko-KR" dirty="0"/>
              <a:t>/ </a:t>
            </a:r>
            <a:r>
              <a:rPr lang="ko-KR" altLang="en-US" dirty="0"/>
              <a:t>공격 등 </a:t>
            </a:r>
            <a:r>
              <a:rPr lang="en-US" altLang="ko-KR" dirty="0"/>
              <a:t>Object ID</a:t>
            </a:r>
            <a:r>
              <a:rPr lang="ko-KR" altLang="en-US" dirty="0"/>
              <a:t>를 통한 검색이 필요할 때에도 당연히 </a:t>
            </a:r>
            <a:r>
              <a:rPr lang="en-US" altLang="ko-KR" dirty="0"/>
              <a:t>Lock</a:t>
            </a:r>
            <a:r>
              <a:rPr lang="ko-KR" altLang="en-US" dirty="0"/>
              <a:t>이 필요 없어진다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438933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E1D4C4D-E0E0-10AC-8205-8571118972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937" y="85038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서버구조</a:t>
            </a:r>
            <a:r>
              <a:rPr lang="en-US" altLang="ko-KR" sz="2000" dirty="0"/>
              <a:t>(TLS + Cluster Update Queue)</a:t>
            </a:r>
            <a:endParaRPr lang="ko-KR" altLang="en-US" sz="2000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C99ECC6-AC1A-EA41-725A-130EE4879C70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327786" y="678455"/>
            <a:ext cx="9806813" cy="332063"/>
          </a:xfrm>
        </p:spPr>
        <p:txBody>
          <a:bodyPr>
            <a:normAutofit fontScale="92500"/>
          </a:bodyPr>
          <a:lstStyle/>
          <a:p>
            <a:pPr>
              <a:buFontTx/>
              <a:buChar char="-"/>
            </a:pPr>
            <a:r>
              <a:rPr lang="ko-KR" altLang="en-US" sz="1400" b="1" dirty="0"/>
              <a:t> 적용 전 </a:t>
            </a:r>
            <a:r>
              <a:rPr lang="en-US" altLang="ko-KR" sz="1400" dirty="0"/>
              <a:t>: </a:t>
            </a:r>
            <a:r>
              <a:rPr lang="ko-KR" altLang="en-US" sz="1400" dirty="0"/>
              <a:t>가장 많이 하는 작업 인데도 불구하고 매우 비효율적으로 했어야 한다</a:t>
            </a:r>
            <a:r>
              <a:rPr lang="en-US" altLang="ko-KR" sz="1400" dirty="0"/>
              <a:t>.</a:t>
            </a:r>
            <a:r>
              <a:rPr lang="ko-KR" altLang="en-US" sz="1400" dirty="0"/>
              <a:t> </a:t>
            </a:r>
            <a:r>
              <a:rPr lang="en-US" altLang="ko-KR" sz="1400" dirty="0"/>
              <a:t>(</a:t>
            </a:r>
            <a:r>
              <a:rPr lang="ko-KR" altLang="en-US" sz="1400" dirty="0"/>
              <a:t>대부분 </a:t>
            </a:r>
            <a:r>
              <a:rPr lang="en-US" altLang="ko-KR" sz="1400" dirty="0"/>
              <a:t>Lock</a:t>
            </a:r>
            <a:r>
              <a:rPr lang="ko-KR" altLang="en-US" sz="1400" dirty="0"/>
              <a:t>을 걸고 복사하고 다시 순회하기 </a:t>
            </a:r>
            <a:r>
              <a:rPr lang="en-US" altLang="ko-KR" sz="1400" dirty="0"/>
              <a:t>..)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5F4A8C78-E850-B89B-24C0-900420740B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14876" y="1010518"/>
            <a:ext cx="4953000" cy="2037482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71A8DC7-9E1E-8F68-44EF-C31F006A5E7C}"/>
              </a:ext>
            </a:extLst>
          </p:cNvPr>
          <p:cNvSpPr txBox="1"/>
          <p:nvPr/>
        </p:nvSpPr>
        <p:spPr>
          <a:xfrm>
            <a:off x="4805363" y="3048000"/>
            <a:ext cx="49530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해당 </a:t>
            </a:r>
            <a:r>
              <a:rPr lang="ko-KR" altLang="en-US" dirty="0" err="1"/>
              <a:t>수도코드들에서</a:t>
            </a:r>
            <a:r>
              <a:rPr lang="ko-KR" altLang="en-US" dirty="0"/>
              <a:t> </a:t>
            </a:r>
            <a:r>
              <a:rPr lang="en-US" altLang="ko-KR" dirty="0"/>
              <a:t>Lock</a:t>
            </a:r>
            <a:r>
              <a:rPr lang="ko-KR" altLang="en-US" dirty="0"/>
              <a:t>를 전부 제거할 수 있을 뿐만 아니라</a:t>
            </a:r>
            <a:r>
              <a:rPr lang="en-US" altLang="ko-KR" dirty="0"/>
              <a:t>, </a:t>
            </a:r>
            <a:r>
              <a:rPr lang="en-US" altLang="ko-KR" dirty="0" err="1"/>
              <a:t>shared_ptr</a:t>
            </a:r>
            <a:r>
              <a:rPr lang="ko-KR" altLang="en-US" dirty="0"/>
              <a:t>의 복사에 대한 오버헤드 및 불필요한 순회까지 없어진다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만약 검색해야 할 컨테이너가 선형탐색이 필요한 경우라면 더 큰 개선을 기대할 수 있다</a:t>
            </a:r>
            <a:r>
              <a:rPr lang="en-US" altLang="ko-KR" dirty="0"/>
              <a:t>.</a:t>
            </a:r>
            <a:r>
              <a:rPr lang="ko-KR" altLang="en-US" dirty="0"/>
              <a:t> 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AC0B77C3-1353-83EA-8A37-38EB022DFEB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712" y="1010518"/>
            <a:ext cx="4410075" cy="2037482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C8134B83-E5C3-316C-1E5C-F99CA970A4D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1456" y="3082925"/>
            <a:ext cx="4428331" cy="25025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71594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67C5ACF-AF6A-8DA6-E83F-C11CCD752D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269952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-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(TLS + Cluster Update Queue)</a:t>
            </a:r>
            <a:endParaRPr lang="ko-KR" altLang="en-US" sz="2000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5C30FE0-8D6A-7FA5-5C74-7AD0F5666A7F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384937" y="837800"/>
            <a:ext cx="9071640" cy="1329595"/>
          </a:xfrm>
        </p:spPr>
        <p:txBody>
          <a:bodyPr/>
          <a:lstStyle/>
          <a:p>
            <a:pPr marL="285750" indent="-285750">
              <a:buFontTx/>
              <a:buChar char="-"/>
            </a:pPr>
            <a:r>
              <a:rPr lang="ko-KR" altLang="en-US" sz="1800" dirty="0"/>
              <a:t>이걸 어떻게 구현했는가</a:t>
            </a:r>
            <a:r>
              <a:rPr lang="en-US" altLang="ko-KR" sz="1800" dirty="0"/>
              <a:t>?: </a:t>
            </a:r>
          </a:p>
          <a:p>
            <a:r>
              <a:rPr lang="ko-KR" altLang="en-US" sz="1200" dirty="0"/>
              <a:t>앞서 언급한 </a:t>
            </a:r>
            <a:r>
              <a:rPr lang="en-US" altLang="ko-KR" sz="1200" dirty="0"/>
              <a:t>ppt</a:t>
            </a:r>
            <a:r>
              <a:rPr lang="ko-KR" altLang="en-US" sz="1200" dirty="0"/>
              <a:t>를 참고하여</a:t>
            </a:r>
            <a:r>
              <a:rPr lang="en-US" altLang="ko-KR" sz="1200" dirty="0"/>
              <a:t>,</a:t>
            </a:r>
          </a:p>
          <a:p>
            <a:pPr marL="342900" indent="-342900">
              <a:buAutoNum type="arabicPeriod"/>
            </a:pPr>
            <a:r>
              <a:rPr lang="ko-KR" altLang="en-US" sz="1200" dirty="0"/>
              <a:t>먼저 모든 스레드가 클러스터의 업데이트 내역 공유를 위한 중앙 큐를 제작하였다</a:t>
            </a:r>
            <a:r>
              <a:rPr lang="en-US" altLang="ko-KR" sz="1200" dirty="0"/>
              <a:t>.</a:t>
            </a:r>
          </a:p>
          <a:p>
            <a:r>
              <a:rPr lang="ko-KR" altLang="en-US" sz="1200" dirty="0"/>
              <a:t>이때 성능을 위해 고정배열 기반 원형 </a:t>
            </a:r>
            <a:r>
              <a:rPr lang="en-US" altLang="ko-KR" sz="1200" dirty="0"/>
              <a:t>Lock Free </a:t>
            </a:r>
            <a:r>
              <a:rPr lang="ko-KR" altLang="en-US" sz="1200" dirty="0"/>
              <a:t>큐로 제작하였다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en-US" altLang="ko-KR" sz="1200" dirty="0"/>
              <a:t>2. </a:t>
            </a:r>
            <a:r>
              <a:rPr lang="ko-KR" altLang="en-US" sz="1200" dirty="0"/>
              <a:t>각 스레드마다 현재까지 자신이 큐의 어디부분까지 업데이트 했는지 기억하는 인덱스를 </a:t>
            </a:r>
            <a:r>
              <a:rPr lang="en-US" altLang="ko-KR" sz="1200" dirty="0"/>
              <a:t>TLS</a:t>
            </a:r>
            <a:r>
              <a:rPr lang="ko-KR" altLang="en-US" sz="1200" dirty="0"/>
              <a:t>로 관리하게 하였다</a:t>
            </a:r>
            <a:r>
              <a:rPr lang="en-US" altLang="ko-KR" sz="1200" dirty="0"/>
              <a:t>.</a:t>
            </a:r>
          </a:p>
          <a:p>
            <a:endParaRPr lang="en-US" altLang="ko-KR" sz="1800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C832F77-3B0F-6E7B-AA65-AF58E87551B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275" y="1933576"/>
            <a:ext cx="2672587" cy="3262312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C0787DB3-AD95-6EE4-20AB-A25A98487B0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09862" y="1933575"/>
            <a:ext cx="2947987" cy="3262311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CF031814-A269-5ED3-5382-5DC055D2781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53138" y="1933575"/>
            <a:ext cx="3894962" cy="326231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566C08A-9356-B157-3F5B-8E007426EF2C}"/>
              </a:ext>
            </a:extLst>
          </p:cNvPr>
          <p:cNvSpPr txBox="1"/>
          <p:nvPr/>
        </p:nvSpPr>
        <p:spPr>
          <a:xfrm>
            <a:off x="5550695" y="3260755"/>
            <a:ext cx="66198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 err="1"/>
              <a:t>ㅡ</a:t>
            </a:r>
            <a:r>
              <a:rPr lang="en-US" altLang="ko-KR" sz="2000" dirty="0"/>
              <a:t>&gt;</a:t>
            </a:r>
            <a:endParaRPr lang="ko-KR" altLang="en-US" sz="20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FE97868-8CA9-C5C0-C33E-665B74249E91}"/>
              </a:ext>
            </a:extLst>
          </p:cNvPr>
          <p:cNvSpPr txBox="1"/>
          <p:nvPr/>
        </p:nvSpPr>
        <p:spPr>
          <a:xfrm>
            <a:off x="1" y="5195886"/>
            <a:ext cx="539115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참고한 </a:t>
            </a:r>
            <a:r>
              <a:rPr lang="en-US" altLang="ko-KR" sz="1000" dirty="0"/>
              <a:t>ppt </a:t>
            </a:r>
            <a:r>
              <a:rPr lang="ko-KR" altLang="en-US" sz="1000" dirty="0"/>
              <a:t>자료</a:t>
            </a:r>
            <a:endParaRPr lang="en-US" altLang="ko-KR" sz="1000" dirty="0"/>
          </a:p>
          <a:p>
            <a:r>
              <a:rPr lang="en-US" altLang="ko-KR" sz="1000" dirty="0"/>
              <a:t>(</a:t>
            </a:r>
            <a:r>
              <a:rPr lang="ko-KR" altLang="en-US" sz="1000" dirty="0"/>
              <a:t>출처</a:t>
            </a:r>
            <a:r>
              <a:rPr lang="en-US" altLang="ko-KR" sz="1000" dirty="0"/>
              <a:t>: </a:t>
            </a:r>
            <a:r>
              <a:rPr lang="en-US" altLang="ko-KR" sz="1000" dirty="0">
                <a:hlinkClick r:id="rId5"/>
              </a:rPr>
              <a:t>https://www.slideshare.net/slideshow/mmorpg-106391346/106391346</a:t>
            </a:r>
            <a:r>
              <a:rPr lang="en-US" altLang="ko-KR" sz="1000" dirty="0"/>
              <a:t>) </a:t>
            </a:r>
            <a:r>
              <a:rPr lang="ko-KR" altLang="en-US" sz="1000" dirty="0"/>
              <a:t>페이지 </a:t>
            </a:r>
            <a:r>
              <a:rPr lang="en-US" altLang="ko-KR" sz="1000" dirty="0"/>
              <a:t>40, 45</a:t>
            </a:r>
            <a:endParaRPr lang="ko-KR" altLang="en-US" sz="10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D53FD92-314A-4D72-0BF9-9142F9D54E6A}"/>
              </a:ext>
            </a:extLst>
          </p:cNvPr>
          <p:cNvSpPr txBox="1"/>
          <p:nvPr/>
        </p:nvSpPr>
        <p:spPr>
          <a:xfrm>
            <a:off x="5798343" y="5195886"/>
            <a:ext cx="4404551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실제로 구현한 내용의 일부 </a:t>
            </a:r>
            <a:endParaRPr lang="en-US" altLang="ko-KR" sz="1000" dirty="0"/>
          </a:p>
          <a:p>
            <a:r>
              <a:rPr lang="en-US" altLang="ko-KR" sz="1000" dirty="0"/>
              <a:t>(</a:t>
            </a:r>
            <a:r>
              <a:rPr lang="ko-KR" altLang="en-US" sz="1000" dirty="0"/>
              <a:t>전체 코드는 </a:t>
            </a:r>
            <a:r>
              <a:rPr lang="en-US" altLang="ko-KR" sz="1000" dirty="0" err="1"/>
              <a:t>ClusterUpdateQueue.h</a:t>
            </a:r>
            <a:r>
              <a:rPr lang="en-US" altLang="ko-KR" sz="1000" dirty="0"/>
              <a:t> , ClusterUpdateQueue.cpp </a:t>
            </a:r>
            <a:r>
              <a:rPr lang="ko-KR" altLang="en-US" sz="1000" dirty="0"/>
              <a:t>에 작성 되어있다</a:t>
            </a:r>
            <a:r>
              <a:rPr lang="en-US" altLang="ko-KR" sz="1000" dirty="0"/>
              <a:t>.) 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15709156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2B6B8F4-7F1C-26DC-4F39-20DD46CD8D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2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-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(TLS + Cluster Update Queue)</a:t>
            </a:r>
            <a:endParaRPr lang="ko-KR" altLang="en-US" sz="2000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F48E9A0-514C-B852-4838-72097FE127C3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361125" y="1088475"/>
            <a:ext cx="9071640" cy="9975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z="1200" dirty="0"/>
              <a:t>3. </a:t>
            </a:r>
            <a:r>
              <a:rPr lang="ko-KR" altLang="en-US" sz="1200" dirty="0"/>
              <a:t>발생한 이벤트로 인해 실제로 클러스터에 적용되어야 할 작업</a:t>
            </a:r>
            <a:r>
              <a:rPr lang="en-US" altLang="ko-KR" sz="1200" dirty="0"/>
              <a:t>(</a:t>
            </a:r>
            <a:r>
              <a:rPr lang="ko-KR" altLang="en-US" sz="1200" dirty="0" err="1"/>
              <a:t>함수포인터</a:t>
            </a:r>
            <a:r>
              <a:rPr lang="en-US" altLang="ko-KR" sz="1200" dirty="0"/>
              <a:t>)</a:t>
            </a:r>
            <a:r>
              <a:rPr lang="ko-KR" altLang="en-US" sz="1200" dirty="0"/>
              <a:t>과 필요한 매개변수를 가지고 있는 클래스를 직접 제작하였다</a:t>
            </a:r>
            <a:r>
              <a:rPr lang="en-US" altLang="ko-KR" sz="1200" dirty="0"/>
              <a:t>. </a:t>
            </a:r>
          </a:p>
          <a:p>
            <a:pPr marL="0" indent="0">
              <a:buNone/>
            </a:pPr>
            <a:r>
              <a:rPr lang="en-US" altLang="ko-KR" sz="1200" dirty="0"/>
              <a:t>4.</a:t>
            </a:r>
            <a:r>
              <a:rPr lang="ko-KR" altLang="en-US" sz="1200" dirty="0"/>
              <a:t> 이때 모든 스레드가 해당 작업을 완료할 때 까지 이 클래스의 인스턴스는 유효해야 하므로 스레드가 이 일을 완료할 때 마다 </a:t>
            </a:r>
            <a:r>
              <a:rPr lang="en-US" altLang="ko-KR" sz="1200" dirty="0"/>
              <a:t>1</a:t>
            </a:r>
            <a:r>
              <a:rPr lang="ko-KR" altLang="en-US" sz="1200" dirty="0"/>
              <a:t>씩 감소시키는 레퍼런스 카운터를 멤버변수로서 두었다</a:t>
            </a:r>
            <a:r>
              <a:rPr lang="en-US" altLang="ko-KR" sz="1200" dirty="0"/>
              <a:t>.</a:t>
            </a:r>
            <a:r>
              <a:rPr lang="ko-KR" altLang="en-US" sz="1200" dirty="0"/>
              <a:t> </a:t>
            </a:r>
            <a:endParaRPr lang="en-US" altLang="ko-KR" sz="1200" dirty="0"/>
          </a:p>
          <a:p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FCAF761-8A13-965F-79C7-405C5B68B7A2}"/>
              </a:ext>
            </a:extLst>
          </p:cNvPr>
          <p:cNvSpPr txBox="1"/>
          <p:nvPr/>
        </p:nvSpPr>
        <p:spPr>
          <a:xfrm>
            <a:off x="1" y="5195886"/>
            <a:ext cx="518636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참고한 </a:t>
            </a:r>
            <a:r>
              <a:rPr lang="en-US" altLang="ko-KR" sz="1000" dirty="0"/>
              <a:t>ppt </a:t>
            </a:r>
            <a:r>
              <a:rPr lang="ko-KR" altLang="en-US" sz="1000" dirty="0"/>
              <a:t>자료</a:t>
            </a:r>
            <a:endParaRPr lang="en-US" altLang="ko-KR" sz="1000" dirty="0"/>
          </a:p>
          <a:p>
            <a:r>
              <a:rPr lang="en-US" altLang="ko-KR" sz="1000" dirty="0"/>
              <a:t>(</a:t>
            </a:r>
            <a:r>
              <a:rPr lang="ko-KR" altLang="en-US" sz="1000" dirty="0"/>
              <a:t>출처</a:t>
            </a:r>
            <a:r>
              <a:rPr lang="en-US" altLang="ko-KR" sz="1000" dirty="0"/>
              <a:t>: </a:t>
            </a:r>
            <a:r>
              <a:rPr lang="en-US" altLang="ko-KR" sz="1000" dirty="0">
                <a:hlinkClick r:id="rId2"/>
              </a:rPr>
              <a:t>https://www.slideshare.net/slideshow/mmorpg-106391346/106391346</a:t>
            </a:r>
            <a:r>
              <a:rPr lang="en-US" altLang="ko-KR" sz="1000" dirty="0"/>
              <a:t>) </a:t>
            </a:r>
            <a:r>
              <a:rPr lang="ko-KR" altLang="en-US" sz="1000" dirty="0"/>
              <a:t>페이지 </a:t>
            </a:r>
            <a:r>
              <a:rPr lang="en-US" altLang="ko-KR" sz="1000" dirty="0"/>
              <a:t>46</a:t>
            </a:r>
            <a:endParaRPr lang="ko-KR" altLang="en-US" sz="1000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BE61A55D-2107-A064-3441-0C1B1893C65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7338" y="1958975"/>
            <a:ext cx="3932237" cy="318135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FA26041-0C4D-6A8E-B9F7-BE0DD8E3A2C3}"/>
              </a:ext>
            </a:extLst>
          </p:cNvPr>
          <p:cNvSpPr txBox="1"/>
          <p:nvPr/>
        </p:nvSpPr>
        <p:spPr>
          <a:xfrm>
            <a:off x="4377832" y="3294093"/>
            <a:ext cx="66198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 err="1"/>
              <a:t>ㅡ</a:t>
            </a:r>
            <a:r>
              <a:rPr lang="en-US" altLang="ko-KR" sz="2000" dirty="0"/>
              <a:t>&gt;</a:t>
            </a:r>
            <a:endParaRPr lang="ko-KR" altLang="en-US" sz="2000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D750DC3C-7030-D1BD-3264-0650B816636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64304" y="1835195"/>
            <a:ext cx="4450445" cy="2384380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1454650E-DA79-0D54-3CBA-FFAFEB58C64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64304" y="4219575"/>
            <a:ext cx="4450445" cy="976311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5399AFEB-4071-CA92-66CD-0FC1D622F0CF}"/>
              </a:ext>
            </a:extLst>
          </p:cNvPr>
          <p:cNvSpPr txBox="1"/>
          <p:nvPr/>
        </p:nvSpPr>
        <p:spPr>
          <a:xfrm>
            <a:off x="5276849" y="5195886"/>
            <a:ext cx="480377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실제로 구현한 내용의 일부 </a:t>
            </a:r>
            <a:endParaRPr lang="en-US" altLang="ko-KR" sz="1000" dirty="0"/>
          </a:p>
          <a:p>
            <a:r>
              <a:rPr lang="en-US" altLang="ko-KR" sz="1000" dirty="0"/>
              <a:t>(</a:t>
            </a:r>
            <a:r>
              <a:rPr lang="ko-KR" altLang="en-US" sz="1000" dirty="0"/>
              <a:t>전체 코드는 </a:t>
            </a:r>
            <a:r>
              <a:rPr lang="en-US" altLang="ko-KR" sz="1000" dirty="0" err="1"/>
              <a:t>ClusterUpdateQueue.h</a:t>
            </a:r>
            <a:r>
              <a:rPr lang="en-US" altLang="ko-KR" sz="1000" dirty="0"/>
              <a:t> , ClusterUpdateQueue.cpp </a:t>
            </a:r>
            <a:r>
              <a:rPr lang="ko-KR" altLang="en-US" sz="1000" dirty="0"/>
              <a:t>에 작성 되어있다</a:t>
            </a:r>
            <a:r>
              <a:rPr lang="en-US" altLang="ko-KR" sz="1000" dirty="0"/>
              <a:t>.) 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32981140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190C984-02C9-588F-FFBE-8A10C3EF67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-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(TLS + Cluster Update Queue)</a:t>
            </a:r>
            <a:endParaRPr lang="ko-KR" altLang="en-US" sz="2000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9FE4133-4433-D7A7-2B51-D47EEAFF6557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421180" y="678342"/>
            <a:ext cx="9071640" cy="11898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z="1200" dirty="0"/>
              <a:t>5. </a:t>
            </a:r>
            <a:r>
              <a:rPr lang="ko-KR" altLang="en-US" sz="1200" dirty="0"/>
              <a:t>처음에는 참고한 </a:t>
            </a:r>
            <a:r>
              <a:rPr lang="en-US" altLang="ko-KR" sz="1200" dirty="0"/>
              <a:t>ppt</a:t>
            </a:r>
            <a:r>
              <a:rPr lang="ko-KR" altLang="en-US" sz="1200" dirty="0"/>
              <a:t>에서 언급된 것 처럼 </a:t>
            </a:r>
            <a:r>
              <a:rPr lang="en-US" altLang="ko-KR" sz="1200" dirty="0"/>
              <a:t>TLS</a:t>
            </a:r>
            <a:r>
              <a:rPr lang="ko-KR" altLang="en-US" sz="1200" dirty="0"/>
              <a:t>를 사용하여 클러스터에 접근하였으나</a:t>
            </a:r>
            <a:r>
              <a:rPr lang="en-US" altLang="ko-KR" sz="1200" dirty="0"/>
              <a:t> </a:t>
            </a:r>
            <a:r>
              <a:rPr lang="ko-KR" altLang="en-US" sz="1200" dirty="0"/>
              <a:t>지역</a:t>
            </a:r>
            <a:r>
              <a:rPr lang="en-US" altLang="ko-KR" sz="1200" dirty="0"/>
              <a:t>(</a:t>
            </a:r>
            <a:r>
              <a:rPr lang="ko-KR" altLang="en-US" sz="1200" dirty="0"/>
              <a:t>인스턴스 던전 등</a:t>
            </a:r>
            <a:r>
              <a:rPr lang="en-US" altLang="ko-KR" sz="1200" dirty="0"/>
              <a:t>)</a:t>
            </a:r>
            <a:r>
              <a:rPr lang="ko-KR" altLang="en-US" sz="1200" dirty="0"/>
              <a:t>마다 클러스터 클래스의 인스턴스</a:t>
            </a:r>
            <a:r>
              <a:rPr lang="en-US" altLang="ko-KR" sz="1200" dirty="0"/>
              <a:t> </a:t>
            </a:r>
            <a:r>
              <a:rPr lang="ko-KR" altLang="en-US" sz="1200" dirty="0"/>
              <a:t>개수가 달라지고 지역 생성시 소속된 클러스터의 초기화 작업에 불편함을 느껴 스레드 마다 번호를 부여하고 그 번호를 인덱스 삼아 </a:t>
            </a:r>
            <a:r>
              <a:rPr lang="en-US" altLang="ko-KR" sz="1200" dirty="0"/>
              <a:t>TLS </a:t>
            </a:r>
            <a:r>
              <a:rPr lang="ko-KR" altLang="en-US" sz="1200" dirty="0"/>
              <a:t>처럼 접근하도록 설계하였다</a:t>
            </a:r>
            <a:r>
              <a:rPr lang="en-US" altLang="ko-KR" sz="1200" dirty="0"/>
              <a:t>. ( Cluster [</a:t>
            </a:r>
            <a:r>
              <a:rPr lang="ko-KR" altLang="en-US" sz="1200" dirty="0"/>
              <a:t>스레드 번호</a:t>
            </a:r>
            <a:r>
              <a:rPr lang="en-US" altLang="ko-KR" sz="1200" dirty="0"/>
              <a:t>][</a:t>
            </a:r>
            <a:r>
              <a:rPr lang="en-US" altLang="ko-KR" sz="1200" dirty="0" err="1"/>
              <a:t>i</a:t>
            </a:r>
            <a:r>
              <a:rPr lang="en-US" altLang="ko-KR" sz="1200" dirty="0"/>
              <a:t>][j] …)</a:t>
            </a:r>
          </a:p>
          <a:p>
            <a:pPr marL="0" indent="0">
              <a:buNone/>
            </a:pPr>
            <a:endParaRPr lang="ko-KR" altLang="en-US" sz="1200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7D8EFCD-E95B-D0E1-190F-793E79BC560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9280" y="1474916"/>
            <a:ext cx="4581525" cy="112236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E5F64F5-8E9F-5EAD-BF84-9E84D9B204D7}"/>
              </a:ext>
            </a:extLst>
          </p:cNvPr>
          <p:cNvSpPr txBox="1"/>
          <p:nvPr/>
        </p:nvSpPr>
        <p:spPr>
          <a:xfrm>
            <a:off x="351600" y="2732440"/>
            <a:ext cx="672941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6. </a:t>
            </a:r>
            <a:r>
              <a:rPr lang="ko-KR" altLang="en-US" sz="1200" dirty="0"/>
              <a:t>상기한 내용을 기반으로 각 워커 스레드의 메인 루프를 발표자료를 참고하여 작성하였다</a:t>
            </a:r>
            <a:r>
              <a:rPr lang="en-US" altLang="ko-KR" sz="1200" dirty="0"/>
              <a:t>. </a:t>
            </a:r>
            <a:endParaRPr lang="ko-KR" altLang="en-US" sz="1200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9D286359-4DB8-3049-96CF-6F9778124A6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6463" y="3009439"/>
            <a:ext cx="4320413" cy="1832481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6534E45B-4CAA-E8E7-8663-42E91BE233B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39820" y="3009438"/>
            <a:ext cx="4752975" cy="183248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FE8C617-8070-67DE-AEBF-0036717E67A2}"/>
              </a:ext>
            </a:extLst>
          </p:cNvPr>
          <p:cNvSpPr txBox="1"/>
          <p:nvPr/>
        </p:nvSpPr>
        <p:spPr>
          <a:xfrm>
            <a:off x="4476876" y="3584606"/>
            <a:ext cx="66198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 err="1"/>
              <a:t>ㅡ</a:t>
            </a:r>
            <a:r>
              <a:rPr lang="en-US" altLang="ko-KR" sz="2000" dirty="0"/>
              <a:t>&gt;</a:t>
            </a:r>
            <a:endParaRPr lang="ko-KR" altLang="en-US" sz="20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0B51608-D78E-C1E4-C787-E151BAEE4A82}"/>
              </a:ext>
            </a:extLst>
          </p:cNvPr>
          <p:cNvSpPr txBox="1"/>
          <p:nvPr/>
        </p:nvSpPr>
        <p:spPr>
          <a:xfrm>
            <a:off x="57151" y="4998950"/>
            <a:ext cx="4562475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참고한 </a:t>
            </a:r>
            <a:r>
              <a:rPr lang="en-US" altLang="ko-KR" sz="1000" dirty="0"/>
              <a:t>ppt </a:t>
            </a:r>
            <a:r>
              <a:rPr lang="ko-KR" altLang="en-US" sz="1000" dirty="0"/>
              <a:t>자료</a:t>
            </a:r>
            <a:endParaRPr lang="en-US" altLang="ko-KR" sz="1000" dirty="0"/>
          </a:p>
          <a:p>
            <a:r>
              <a:rPr lang="en-US" altLang="ko-KR" sz="1000" dirty="0"/>
              <a:t>(</a:t>
            </a:r>
            <a:r>
              <a:rPr lang="ko-KR" altLang="en-US" sz="1000" dirty="0"/>
              <a:t>출처</a:t>
            </a:r>
            <a:r>
              <a:rPr lang="en-US" altLang="ko-KR" sz="1000" dirty="0"/>
              <a:t>: </a:t>
            </a:r>
            <a:r>
              <a:rPr lang="en-US" altLang="ko-KR" sz="1000" dirty="0">
                <a:hlinkClick r:id="rId5"/>
              </a:rPr>
              <a:t>https://www.slideshare.net/slideshow/mmorpg-106391346/106391346</a:t>
            </a:r>
            <a:r>
              <a:rPr lang="en-US" altLang="ko-KR" sz="1000" dirty="0"/>
              <a:t>) </a:t>
            </a:r>
            <a:r>
              <a:rPr lang="ko-KR" altLang="en-US" sz="1000" dirty="0"/>
              <a:t>페이지 </a:t>
            </a:r>
            <a:r>
              <a:rPr lang="en-US" altLang="ko-KR" sz="1000" dirty="0"/>
              <a:t>36</a:t>
            </a:r>
            <a:endParaRPr lang="ko-KR" altLang="en-US" sz="10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605CA4D-F13C-DDE6-1316-0AE1ABF860A2}"/>
              </a:ext>
            </a:extLst>
          </p:cNvPr>
          <p:cNvSpPr txBox="1"/>
          <p:nvPr/>
        </p:nvSpPr>
        <p:spPr>
          <a:xfrm>
            <a:off x="5014419" y="4948236"/>
            <a:ext cx="480377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실제로 구현한 내용의 일부 </a:t>
            </a:r>
            <a:endParaRPr lang="en-US" altLang="ko-KR" sz="1000" dirty="0"/>
          </a:p>
          <a:p>
            <a:r>
              <a:rPr lang="en-US" altLang="ko-KR" sz="1000" dirty="0"/>
              <a:t>(</a:t>
            </a:r>
            <a:r>
              <a:rPr lang="ko-KR" altLang="en-US" sz="1000" dirty="0"/>
              <a:t>전체 코드는 </a:t>
            </a:r>
            <a:r>
              <a:rPr lang="en-US" altLang="ko-KR" sz="1000" dirty="0"/>
              <a:t>ThreadMgr.cpp</a:t>
            </a:r>
            <a:r>
              <a:rPr lang="ko-KR" altLang="en-US" sz="1000" dirty="0"/>
              <a:t>에 작성 되어있다</a:t>
            </a:r>
            <a:r>
              <a:rPr lang="en-US" altLang="ko-KR" sz="1000" dirty="0"/>
              <a:t>.) 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241698628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80CDC19-F835-9367-63A7-97F44C6680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194576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-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(TLS + Cluster Update Queue)</a:t>
            </a:r>
            <a:endParaRPr lang="ko-KR" altLang="en-US" sz="2000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985F3E3-4AF4-EDB0-B5E9-EDA0DDFEBD8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8926" y="1193245"/>
            <a:ext cx="9256714" cy="435030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E8B320E-FAC2-1D77-6755-6B2777D7CD79}"/>
              </a:ext>
            </a:extLst>
          </p:cNvPr>
          <p:cNvSpPr txBox="1"/>
          <p:nvPr/>
        </p:nvSpPr>
        <p:spPr>
          <a:xfrm>
            <a:off x="438150" y="803974"/>
            <a:ext cx="41481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- </a:t>
            </a:r>
            <a:r>
              <a:rPr lang="ko-KR" altLang="en-US" dirty="0"/>
              <a:t>그림 요약</a:t>
            </a:r>
          </a:p>
        </p:txBody>
      </p:sp>
    </p:spTree>
    <p:extLst>
      <p:ext uri="{BB962C8B-B14F-4D97-AF65-F5344CB8AC3E}">
        <p14:creationId xmlns:p14="http://schemas.microsoft.com/office/powerpoint/2010/main" val="5387583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82C837-64CD-FF31-3241-59D06D0776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-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(TLS + Cluster Update Queue)</a:t>
            </a:r>
            <a:endParaRPr lang="ko-KR" altLang="en-US" sz="2000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5857B83-3027-280B-8A0C-FF3F957B656F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504000" y="1965325"/>
            <a:ext cx="9071640" cy="2726288"/>
          </a:xfrm>
        </p:spPr>
        <p:txBody>
          <a:bodyPr>
            <a:normAutofit/>
          </a:bodyPr>
          <a:lstStyle/>
          <a:p>
            <a:pPr>
              <a:buFontTx/>
              <a:buChar char="-"/>
            </a:pPr>
            <a:r>
              <a:rPr lang="ko-KR" altLang="en-US" sz="1800" dirty="0"/>
              <a:t>나는 무엇을 고민했나</a:t>
            </a:r>
            <a:r>
              <a:rPr lang="en-US" altLang="ko-KR" sz="1800" dirty="0"/>
              <a:t>?: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sz="1200" dirty="0"/>
              <a:t>1. </a:t>
            </a:r>
            <a:r>
              <a:rPr lang="ko-KR" altLang="en-US" sz="1200" dirty="0"/>
              <a:t>스레드</a:t>
            </a:r>
            <a:r>
              <a:rPr lang="en-US" altLang="ko-KR" sz="1200" dirty="0"/>
              <a:t>0</a:t>
            </a:r>
            <a:r>
              <a:rPr lang="ko-KR" altLang="en-US" sz="1200" dirty="0"/>
              <a:t>번의 </a:t>
            </a:r>
            <a:r>
              <a:rPr lang="en-US" altLang="ko-KR" sz="1200" dirty="0"/>
              <a:t>Cluster</a:t>
            </a:r>
            <a:r>
              <a:rPr lang="ko-KR" altLang="en-US" sz="1200" dirty="0"/>
              <a:t>에는 존재하지만 스레드</a:t>
            </a:r>
            <a:r>
              <a:rPr lang="en-US" altLang="ko-KR" sz="1200" dirty="0"/>
              <a:t>1</a:t>
            </a:r>
            <a:r>
              <a:rPr lang="ko-KR" altLang="en-US" sz="1200" dirty="0"/>
              <a:t>번의 </a:t>
            </a:r>
            <a:r>
              <a:rPr lang="en-US" altLang="ko-KR" sz="1200" dirty="0"/>
              <a:t>Cluster</a:t>
            </a:r>
            <a:r>
              <a:rPr lang="ko-KR" altLang="en-US" sz="1200" dirty="0"/>
              <a:t>에는 아직 해당 사실이 반영 안된 상태라면</a:t>
            </a:r>
            <a:r>
              <a:rPr lang="en-US" altLang="ko-KR" sz="1200" dirty="0"/>
              <a:t>?</a:t>
            </a:r>
          </a:p>
          <a:p>
            <a:pPr marL="0" indent="0">
              <a:buNone/>
            </a:pPr>
            <a:r>
              <a:rPr lang="en-US" altLang="ko-KR" sz="1200" dirty="0"/>
              <a:t> 1 – 1. </a:t>
            </a:r>
            <a:r>
              <a:rPr lang="ko-KR" altLang="en-US" sz="1200" dirty="0"/>
              <a:t>스레드</a:t>
            </a:r>
            <a:r>
              <a:rPr lang="en-US" altLang="ko-KR" sz="1200" dirty="0"/>
              <a:t>0 </a:t>
            </a:r>
            <a:r>
              <a:rPr lang="ko-KR" altLang="en-US" sz="1200" dirty="0"/>
              <a:t>이 </a:t>
            </a:r>
            <a:r>
              <a:rPr lang="en-US" altLang="ko-KR" sz="1200" dirty="0"/>
              <a:t>Object0</a:t>
            </a:r>
            <a:r>
              <a:rPr lang="ko-KR" altLang="en-US" sz="1200" dirty="0"/>
              <a:t>을 클러스터에 입장시켰고 </a:t>
            </a:r>
            <a:r>
              <a:rPr lang="en-US" altLang="ko-KR" sz="1200" dirty="0"/>
              <a:t>player1</a:t>
            </a:r>
            <a:r>
              <a:rPr lang="ko-KR" altLang="en-US" sz="1200" dirty="0"/>
              <a:t>에게 이 사실을 알린 상태</a:t>
            </a:r>
            <a:endParaRPr lang="en-US" altLang="ko-KR" sz="1200" dirty="0"/>
          </a:p>
          <a:p>
            <a:pPr marL="0" indent="0">
              <a:buNone/>
            </a:pPr>
            <a:r>
              <a:rPr lang="en-US" altLang="ko-KR" sz="1200" dirty="0"/>
              <a:t> 1 – 2. player1</a:t>
            </a:r>
            <a:r>
              <a:rPr lang="ko-KR" altLang="en-US" sz="1200" dirty="0"/>
              <a:t>의 화면에서는 </a:t>
            </a:r>
            <a:r>
              <a:rPr lang="en-US" altLang="ko-KR" sz="1200" dirty="0"/>
              <a:t>Object0</a:t>
            </a:r>
            <a:r>
              <a:rPr lang="ko-KR" altLang="en-US" sz="1200" dirty="0"/>
              <a:t>이 보이고</a:t>
            </a:r>
            <a:r>
              <a:rPr lang="en-US" altLang="ko-KR" sz="1200" dirty="0"/>
              <a:t>, </a:t>
            </a:r>
            <a:r>
              <a:rPr lang="ko-KR" altLang="en-US" sz="1200" dirty="0"/>
              <a:t>이 오브젝트에게 상호작용 </a:t>
            </a:r>
            <a:r>
              <a:rPr lang="en-US" altLang="ko-KR" sz="1200" dirty="0"/>
              <a:t>(</a:t>
            </a:r>
            <a:r>
              <a:rPr lang="ko-KR" altLang="en-US" sz="1200" dirty="0"/>
              <a:t>귓속말</a:t>
            </a:r>
            <a:r>
              <a:rPr lang="en-US" altLang="ko-KR" sz="1200" dirty="0"/>
              <a:t>, </a:t>
            </a:r>
            <a:r>
              <a:rPr lang="ko-KR" altLang="en-US" sz="1200" dirty="0"/>
              <a:t>공격</a:t>
            </a:r>
            <a:r>
              <a:rPr lang="en-US" altLang="ko-KR" sz="1200" dirty="0"/>
              <a:t>, </a:t>
            </a:r>
            <a:r>
              <a:rPr lang="ko-KR" altLang="en-US" sz="1200" dirty="0"/>
              <a:t>파티신청 등</a:t>
            </a:r>
            <a:r>
              <a:rPr lang="en-US" altLang="ko-KR" sz="1200" dirty="0"/>
              <a:t>)</a:t>
            </a:r>
            <a:r>
              <a:rPr lang="ko-KR" altLang="en-US" sz="1200" dirty="0"/>
              <a:t>을 서버로 요청</a:t>
            </a:r>
            <a:endParaRPr lang="en-US" altLang="ko-KR" sz="1200" dirty="0"/>
          </a:p>
          <a:p>
            <a:pPr marL="0" indent="0">
              <a:buNone/>
            </a:pPr>
            <a:r>
              <a:rPr lang="en-US" altLang="ko-KR" sz="1200" dirty="0"/>
              <a:t> 1 – 3. </a:t>
            </a:r>
            <a:r>
              <a:rPr lang="ko-KR" altLang="en-US" sz="1200" dirty="0"/>
              <a:t>이 </a:t>
            </a:r>
            <a:r>
              <a:rPr lang="en-US" altLang="ko-KR" sz="1200" dirty="0"/>
              <a:t>IO </a:t>
            </a:r>
            <a:r>
              <a:rPr lang="ko-KR" altLang="en-US" sz="1200" dirty="0"/>
              <a:t>작업을 스레드</a:t>
            </a:r>
            <a:r>
              <a:rPr lang="en-US" altLang="ko-KR" sz="1200" dirty="0"/>
              <a:t>1</a:t>
            </a:r>
            <a:r>
              <a:rPr lang="ko-KR" altLang="en-US" sz="1200" dirty="0"/>
              <a:t>이 받아서 처리하려 함</a:t>
            </a:r>
            <a:r>
              <a:rPr lang="en-US" altLang="ko-KR" sz="1200" dirty="0"/>
              <a:t>, </a:t>
            </a:r>
            <a:r>
              <a:rPr lang="ko-KR" altLang="en-US" sz="1200" dirty="0"/>
              <a:t>근데 스레드 </a:t>
            </a:r>
            <a:r>
              <a:rPr lang="en-US" altLang="ko-KR" sz="1200" dirty="0"/>
              <a:t>1</a:t>
            </a:r>
            <a:r>
              <a:rPr lang="ko-KR" altLang="en-US" sz="1200" dirty="0"/>
              <a:t>의 </a:t>
            </a:r>
            <a:r>
              <a:rPr lang="en-US" altLang="ko-KR" sz="1200" dirty="0"/>
              <a:t>TLS</a:t>
            </a:r>
            <a:r>
              <a:rPr lang="ko-KR" altLang="en-US" sz="1200" dirty="0"/>
              <a:t> 클러스터에는 </a:t>
            </a:r>
            <a:r>
              <a:rPr lang="en-US" altLang="ko-KR" sz="1200" dirty="0"/>
              <a:t>Object0</a:t>
            </a:r>
            <a:r>
              <a:rPr lang="ko-KR" altLang="en-US" sz="1200" dirty="0"/>
              <a:t>이 입장했다는 사실이 아직 </a:t>
            </a:r>
            <a:r>
              <a:rPr lang="ko-KR" altLang="en-US" sz="1200" dirty="0" err="1"/>
              <a:t>반영되어있지않음</a:t>
            </a:r>
            <a:r>
              <a:rPr lang="ko-KR" altLang="en-US" sz="1200" dirty="0"/>
              <a:t> </a:t>
            </a:r>
            <a:endParaRPr lang="en-US" altLang="ko-KR" sz="1200" dirty="0"/>
          </a:p>
          <a:p>
            <a:pPr marL="0" indent="0">
              <a:buNone/>
            </a:pPr>
            <a:r>
              <a:rPr lang="en-US" altLang="ko-KR" sz="1200" dirty="0"/>
              <a:t> 1 – 4. </a:t>
            </a:r>
            <a:r>
              <a:rPr lang="ko-KR" altLang="en-US" sz="1200" dirty="0"/>
              <a:t>스레드</a:t>
            </a:r>
            <a:r>
              <a:rPr lang="en-US" altLang="ko-KR" sz="1200" dirty="0"/>
              <a:t>1</a:t>
            </a:r>
            <a:r>
              <a:rPr lang="ko-KR" altLang="en-US" sz="1200" dirty="0"/>
              <a:t>의 컨테이너에 </a:t>
            </a:r>
            <a:r>
              <a:rPr lang="en-US" altLang="ko-KR" sz="1200" dirty="0"/>
              <a:t>Object0</a:t>
            </a:r>
            <a:r>
              <a:rPr lang="ko-KR" altLang="en-US" sz="1200" dirty="0"/>
              <a:t>이 아직 없으므로 </a:t>
            </a:r>
            <a:r>
              <a:rPr lang="en-US" altLang="ko-KR" sz="1200" dirty="0"/>
              <a:t>player1</a:t>
            </a:r>
            <a:r>
              <a:rPr lang="ko-KR" altLang="en-US" sz="1200" dirty="0"/>
              <a:t>의 </a:t>
            </a:r>
            <a:r>
              <a:rPr lang="en-US" altLang="ko-KR" sz="1200" dirty="0"/>
              <a:t>Object0</a:t>
            </a:r>
            <a:r>
              <a:rPr lang="ko-KR" altLang="en-US" sz="1200" dirty="0"/>
              <a:t>으로 의 상호작용요청을 처리할 수 없음</a:t>
            </a:r>
            <a:r>
              <a:rPr lang="en-US" altLang="ko-KR" sz="1200" dirty="0"/>
              <a:t> </a:t>
            </a:r>
          </a:p>
          <a:p>
            <a:pPr>
              <a:buFont typeface="Wingdings" panose="05000000000000000000" pitchFamily="2" charset="2"/>
              <a:buChar char="è"/>
            </a:pPr>
            <a:r>
              <a:rPr lang="en-US" altLang="ko-KR" sz="1200" dirty="0"/>
              <a:t>player1</a:t>
            </a:r>
            <a:r>
              <a:rPr lang="ko-KR" altLang="en-US" sz="1200" dirty="0"/>
              <a:t>의 입장에서 </a:t>
            </a:r>
            <a:r>
              <a:rPr lang="en-US" altLang="ko-KR" sz="1200" dirty="0"/>
              <a:t>UX</a:t>
            </a:r>
            <a:r>
              <a:rPr lang="ko-KR" altLang="en-US" sz="1200" dirty="0"/>
              <a:t>적으로 에러임</a:t>
            </a:r>
            <a:r>
              <a:rPr lang="en-US" altLang="ko-KR" sz="1200" dirty="0"/>
              <a:t>, </a:t>
            </a:r>
            <a:r>
              <a:rPr lang="ko-KR" altLang="en-US" sz="1200" dirty="0"/>
              <a:t>이외에도 스레드</a:t>
            </a:r>
            <a:r>
              <a:rPr lang="en-US" altLang="ko-KR" sz="1200" dirty="0"/>
              <a:t>0</a:t>
            </a:r>
            <a:r>
              <a:rPr lang="ko-KR" altLang="en-US" sz="1200" dirty="0"/>
              <a:t>에 의해 </a:t>
            </a:r>
            <a:r>
              <a:rPr lang="en-US" altLang="ko-KR" sz="1200" dirty="0"/>
              <a:t>player1</a:t>
            </a:r>
            <a:r>
              <a:rPr lang="ko-KR" altLang="en-US" sz="1200" dirty="0"/>
              <a:t>의 시야리스트에 </a:t>
            </a:r>
            <a:r>
              <a:rPr lang="en-US" altLang="ko-KR" sz="1200" dirty="0"/>
              <a:t>Object0</a:t>
            </a:r>
            <a:r>
              <a:rPr lang="ko-KR" altLang="en-US" sz="1200" dirty="0"/>
              <a:t>이 있었는데 스레드</a:t>
            </a:r>
            <a:r>
              <a:rPr lang="en-US" altLang="ko-KR" sz="1200" dirty="0"/>
              <a:t>1</a:t>
            </a:r>
            <a:r>
              <a:rPr lang="ko-KR" altLang="en-US" sz="1200" dirty="0"/>
              <a:t>이 </a:t>
            </a:r>
            <a:r>
              <a:rPr lang="ko-KR" altLang="en-US" sz="1200" dirty="0" err="1"/>
              <a:t>관련로직</a:t>
            </a:r>
            <a:r>
              <a:rPr lang="ko-KR" altLang="en-US" sz="1200" dirty="0"/>
              <a:t> 처리 시 컨테이너에 </a:t>
            </a:r>
            <a:r>
              <a:rPr lang="en-US" altLang="ko-KR" sz="1200" dirty="0"/>
              <a:t>Object0</a:t>
            </a:r>
            <a:r>
              <a:rPr lang="ko-KR" altLang="en-US" sz="1200" dirty="0"/>
              <a:t>가 존재하지 않으므로 에러 발생 가능 </a:t>
            </a:r>
            <a:r>
              <a:rPr lang="en-US" altLang="ko-KR" sz="1200" dirty="0"/>
              <a:t>(</a:t>
            </a:r>
            <a:r>
              <a:rPr lang="ko-KR" altLang="en-US" sz="1200" dirty="0"/>
              <a:t>현재 </a:t>
            </a:r>
            <a:r>
              <a:rPr lang="en-US" altLang="ko-KR" sz="1200" dirty="0"/>
              <a:t>player</a:t>
            </a:r>
            <a:r>
              <a:rPr lang="ko-KR" altLang="en-US" sz="1200" dirty="0"/>
              <a:t>의 시야리스트에는 있는데 클러스터 컨테이너에 없을 경우 해당 오브젝트가 사라졌다는 패킷을 보내고 있어서 </a:t>
            </a:r>
            <a:r>
              <a:rPr lang="en-US" altLang="ko-KR" sz="1200" dirty="0"/>
              <a:t>Object0</a:t>
            </a:r>
            <a:r>
              <a:rPr lang="ko-KR" altLang="en-US" sz="1200" dirty="0"/>
              <a:t>가 </a:t>
            </a:r>
            <a:r>
              <a:rPr lang="en-US" altLang="ko-KR" sz="1200" dirty="0"/>
              <a:t>player1</a:t>
            </a:r>
            <a:r>
              <a:rPr lang="ko-KR" altLang="en-US" sz="1200" dirty="0"/>
              <a:t>의 화면에서 사라지게 된다</a:t>
            </a:r>
            <a:r>
              <a:rPr lang="en-US" altLang="ko-KR" sz="1200" dirty="0"/>
              <a:t>.)</a:t>
            </a:r>
          </a:p>
          <a:p>
            <a:pPr>
              <a:buFont typeface="Wingdings" panose="05000000000000000000" pitchFamily="2" charset="2"/>
              <a:buChar char="è"/>
            </a:pPr>
            <a:r>
              <a:rPr lang="ko-KR" altLang="en-US" sz="1200" dirty="0"/>
              <a:t>해결방안</a:t>
            </a:r>
            <a:r>
              <a:rPr lang="en-US" altLang="ko-KR" sz="1200" dirty="0"/>
              <a:t>: </a:t>
            </a:r>
            <a:r>
              <a:rPr lang="ko-KR" altLang="en-US" sz="1200" dirty="0"/>
              <a:t>플레이어를 포함한 모든 오브젝트에</a:t>
            </a:r>
            <a:r>
              <a:rPr lang="en-US" altLang="ko-KR" sz="1200" dirty="0"/>
              <a:t> </a:t>
            </a:r>
            <a:r>
              <a:rPr lang="ko-KR" altLang="en-US" sz="1200" dirty="0"/>
              <a:t>스레드의 개수로 초기화 된 정수 카운터를 놓고 각 스레드의 </a:t>
            </a:r>
            <a:r>
              <a:rPr lang="en-US" altLang="ko-KR" sz="1200" dirty="0"/>
              <a:t>TLS </a:t>
            </a:r>
            <a:r>
              <a:rPr lang="ko-KR" altLang="en-US" sz="1200" dirty="0"/>
              <a:t>클러스터에 입장할 때마다 이 카운터를 </a:t>
            </a:r>
            <a:r>
              <a:rPr lang="en-US" altLang="ko-KR" sz="1200" dirty="0"/>
              <a:t>1</a:t>
            </a:r>
            <a:r>
              <a:rPr lang="ko-KR" altLang="en-US" sz="1200" dirty="0"/>
              <a:t>씩 </a:t>
            </a:r>
            <a:r>
              <a:rPr lang="en-US" altLang="ko-KR" sz="1200" dirty="0"/>
              <a:t>atomic</a:t>
            </a:r>
            <a:r>
              <a:rPr lang="ko-KR" altLang="en-US" sz="1200" dirty="0"/>
              <a:t>하게 감소시킨다</a:t>
            </a:r>
            <a:r>
              <a:rPr lang="en-US" altLang="ko-KR" sz="1200" dirty="0"/>
              <a:t>. </a:t>
            </a:r>
            <a:r>
              <a:rPr lang="ko-KR" altLang="en-US" sz="1200" dirty="0"/>
              <a:t>이 카운터가 </a:t>
            </a:r>
            <a:r>
              <a:rPr lang="en-US" altLang="ko-KR" sz="1200" dirty="0"/>
              <a:t>0</a:t>
            </a:r>
            <a:r>
              <a:rPr lang="ko-KR" altLang="en-US" sz="1200" dirty="0"/>
              <a:t>인 오브젝트만 </a:t>
            </a:r>
            <a:r>
              <a:rPr lang="en-US" altLang="ko-KR" sz="1200" dirty="0" err="1"/>
              <a:t>vaild</a:t>
            </a:r>
            <a:r>
              <a:rPr lang="ko-KR" altLang="en-US" sz="1200" dirty="0"/>
              <a:t>한 오브젝트로서 취급한다</a:t>
            </a:r>
            <a:r>
              <a:rPr lang="en-US" altLang="ko-KR" sz="1200" dirty="0"/>
              <a:t>.(</a:t>
            </a:r>
            <a:r>
              <a:rPr lang="ko-KR" altLang="en-US" sz="1200" dirty="0"/>
              <a:t>모든 스레드의 클러스터에 반영된 상태</a:t>
            </a:r>
            <a:r>
              <a:rPr lang="en-US" altLang="ko-KR" sz="1200" dirty="0"/>
              <a:t>)</a:t>
            </a:r>
          </a:p>
          <a:p>
            <a:pPr marL="0" indent="0">
              <a:buNone/>
            </a:pPr>
            <a:endParaRPr lang="en-US" altLang="ko-KR" dirty="0"/>
          </a:p>
          <a:p>
            <a:pPr>
              <a:buFontTx/>
              <a:buChar char="-"/>
            </a:pPr>
            <a:endParaRPr lang="en-US" altLang="ko-KR" dirty="0"/>
          </a:p>
          <a:p>
            <a:pPr marL="0" indent="0">
              <a:buNone/>
            </a:pP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29CD486-A2EE-E96F-B3B4-B66F8C7B9FBA}"/>
              </a:ext>
            </a:extLst>
          </p:cNvPr>
          <p:cNvSpPr txBox="1"/>
          <p:nvPr/>
        </p:nvSpPr>
        <p:spPr>
          <a:xfrm>
            <a:off x="433387" y="3705225"/>
            <a:ext cx="8582025" cy="17235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2</a:t>
            </a:r>
            <a:r>
              <a:rPr lang="en-US" altLang="ko-KR" dirty="0"/>
              <a:t>. </a:t>
            </a:r>
            <a:r>
              <a:rPr lang="ko-KR" altLang="en-US" sz="1100" dirty="0"/>
              <a:t>클러스터에 발생한 이벤트가 큐에 등록 되어 있는 상태에서 해당 클러스터가 해제될 경우</a:t>
            </a:r>
            <a:r>
              <a:rPr lang="en-US" altLang="ko-KR" sz="1100" dirty="0"/>
              <a:t>?</a:t>
            </a:r>
          </a:p>
          <a:p>
            <a:r>
              <a:rPr lang="en-US" altLang="ko-KR" sz="1100" dirty="0"/>
              <a:t>-&gt; </a:t>
            </a:r>
            <a:r>
              <a:rPr lang="ko-KR" altLang="en-US" sz="1100" dirty="0"/>
              <a:t>앞서 언급한 </a:t>
            </a:r>
            <a:r>
              <a:rPr lang="en-US" altLang="ko-KR" sz="1100" dirty="0" err="1"/>
              <a:t>ClusterUpdateTask</a:t>
            </a:r>
            <a:r>
              <a:rPr lang="en-US" altLang="ko-KR" sz="1100" dirty="0"/>
              <a:t> </a:t>
            </a:r>
            <a:r>
              <a:rPr lang="ko-KR" altLang="en-US" sz="1100" dirty="0"/>
              <a:t>클래스에 해당 클러스터의 </a:t>
            </a:r>
            <a:r>
              <a:rPr lang="en-US" altLang="ko-KR" sz="1100" dirty="0" err="1"/>
              <a:t>shared_ptr</a:t>
            </a:r>
            <a:r>
              <a:rPr lang="ko-KR" altLang="en-US" sz="1100" dirty="0"/>
              <a:t>을 복사하여 </a:t>
            </a:r>
            <a:r>
              <a:rPr lang="en-US" altLang="ko-KR" sz="1100" dirty="0" err="1"/>
              <a:t>ClusterUpdateTask</a:t>
            </a:r>
            <a:r>
              <a:rPr lang="ko-KR" altLang="en-US" sz="1100" dirty="0"/>
              <a:t>의 소멸자가 호출되기 전 까진</a:t>
            </a:r>
            <a:r>
              <a:rPr lang="en-US" altLang="ko-KR" sz="1100" dirty="0"/>
              <a:t>Cluster</a:t>
            </a:r>
            <a:r>
              <a:rPr lang="ko-KR" altLang="en-US" sz="1100" dirty="0"/>
              <a:t>의 수명을 반드시 보장하도록 함</a:t>
            </a:r>
            <a:endParaRPr lang="en-US" altLang="ko-KR" sz="1100" dirty="0"/>
          </a:p>
          <a:p>
            <a:pPr marL="171450" indent="-171450">
              <a:buFontTx/>
              <a:buChar char="-"/>
            </a:pPr>
            <a:r>
              <a:rPr lang="en-US" altLang="ko-KR" sz="1100" dirty="0"/>
              <a:t>(</a:t>
            </a:r>
            <a:r>
              <a:rPr lang="ko-KR" altLang="en-US" sz="1100" dirty="0"/>
              <a:t>정확히는 </a:t>
            </a:r>
            <a:r>
              <a:rPr lang="en-US" altLang="ko-KR" sz="1100" dirty="0"/>
              <a:t>Cluster</a:t>
            </a:r>
            <a:r>
              <a:rPr lang="ko-KR" altLang="en-US" sz="1100" dirty="0"/>
              <a:t>는 </a:t>
            </a:r>
            <a:r>
              <a:rPr lang="en-US" altLang="ko-KR" sz="1100" dirty="0"/>
              <a:t>Field</a:t>
            </a:r>
            <a:r>
              <a:rPr lang="ko-KR" altLang="en-US" sz="1100" dirty="0"/>
              <a:t>라는 공간에 소속 되어있고 </a:t>
            </a:r>
            <a:r>
              <a:rPr lang="en-US" altLang="ko-KR" sz="1100" dirty="0"/>
              <a:t>Field</a:t>
            </a:r>
            <a:r>
              <a:rPr lang="ko-KR" altLang="en-US" sz="1100" dirty="0"/>
              <a:t>의 인스턴스가 소멸할 경우 </a:t>
            </a:r>
            <a:r>
              <a:rPr lang="en-US" altLang="ko-KR" sz="1100" dirty="0"/>
              <a:t>Cluster</a:t>
            </a:r>
            <a:r>
              <a:rPr lang="ko-KR" altLang="en-US" sz="1100" dirty="0"/>
              <a:t>가 해제되는 </a:t>
            </a:r>
            <a:r>
              <a:rPr lang="ko-KR" altLang="en-US" sz="1100" dirty="0" err="1"/>
              <a:t>방식이여서</a:t>
            </a:r>
            <a:r>
              <a:rPr lang="ko-KR" altLang="en-US" sz="1100" dirty="0"/>
              <a:t> </a:t>
            </a:r>
            <a:r>
              <a:rPr lang="en-US" altLang="ko-KR" sz="1100" dirty="0"/>
              <a:t>Field </a:t>
            </a:r>
            <a:r>
              <a:rPr lang="ko-KR" altLang="en-US" sz="1100" dirty="0"/>
              <a:t>인스턴스의 레퍼런스 카운터를 증가시켜 수명을 보장하고 있으나 이해의 편의성을 위해 다르게 설명하였다</a:t>
            </a:r>
            <a:r>
              <a:rPr lang="en-US" altLang="ko-KR" sz="1100" dirty="0"/>
              <a:t>. </a:t>
            </a:r>
            <a:r>
              <a:rPr lang="ko-KR" altLang="en-US" sz="1100" dirty="0"/>
              <a:t>정확한 코드는 </a:t>
            </a:r>
            <a:r>
              <a:rPr lang="en-US" altLang="ko-KR" sz="1100" dirty="0" err="1"/>
              <a:t>ClusterUpdateQueue.h</a:t>
            </a:r>
            <a:r>
              <a:rPr lang="en-US" altLang="ko-KR" sz="1100" dirty="0"/>
              <a:t> </a:t>
            </a:r>
            <a:r>
              <a:rPr lang="ko-KR" altLang="en-US" sz="1100" dirty="0"/>
              <a:t>및 </a:t>
            </a:r>
            <a:r>
              <a:rPr lang="en-US" altLang="ko-KR" sz="1100" dirty="0" err="1"/>
              <a:t>cpp</a:t>
            </a:r>
            <a:r>
              <a:rPr lang="en-US" altLang="ko-KR" sz="1100" dirty="0"/>
              <a:t> </a:t>
            </a:r>
            <a:r>
              <a:rPr lang="ko-KR" altLang="en-US" sz="1100" dirty="0"/>
              <a:t>참조</a:t>
            </a:r>
            <a:r>
              <a:rPr lang="en-US" altLang="ko-KR" sz="1100" dirty="0"/>
              <a:t>)</a:t>
            </a:r>
          </a:p>
          <a:p>
            <a:pPr marL="171450" indent="-171450">
              <a:buFontTx/>
              <a:buChar char="-"/>
            </a:pPr>
            <a:r>
              <a:rPr lang="ko-KR" altLang="en-US" sz="1100" dirty="0"/>
              <a:t>비슷한 사례로 특정 오브젝트에 대한 이벤트를 비동기 처리 시 수명 보장을 위해 해당 오브젝트의 </a:t>
            </a:r>
            <a:r>
              <a:rPr lang="en-US" altLang="ko-KR" sz="1100" dirty="0" err="1"/>
              <a:t>shared_ptr</a:t>
            </a:r>
            <a:r>
              <a:rPr lang="ko-KR" altLang="en-US" sz="1100" dirty="0"/>
              <a:t>을 복사하여</a:t>
            </a:r>
            <a:r>
              <a:rPr lang="en-US" altLang="ko-KR" sz="1100" dirty="0"/>
              <a:t>(</a:t>
            </a:r>
            <a:r>
              <a:rPr lang="ko-KR" altLang="en-US" sz="1100" dirty="0"/>
              <a:t>레퍼런스 카운터를 올려서</a:t>
            </a:r>
            <a:r>
              <a:rPr lang="en-US" altLang="ko-KR" sz="1100" dirty="0"/>
              <a:t>) </a:t>
            </a:r>
            <a:r>
              <a:rPr lang="ko-KR" altLang="en-US" sz="1100" dirty="0"/>
              <a:t>전달</a:t>
            </a:r>
            <a:r>
              <a:rPr lang="en-US" altLang="ko-KR" sz="1100" dirty="0"/>
              <a:t>. (</a:t>
            </a:r>
            <a:r>
              <a:rPr lang="en-US" altLang="ko-KR" sz="1100" dirty="0" err="1"/>
              <a:t>Task.h</a:t>
            </a:r>
            <a:r>
              <a:rPr lang="en-US" altLang="ko-KR" sz="1100" dirty="0"/>
              <a:t> </a:t>
            </a:r>
            <a:r>
              <a:rPr lang="ko-KR" altLang="en-US" sz="1100" dirty="0"/>
              <a:t>참조</a:t>
            </a:r>
            <a:r>
              <a:rPr lang="en-US" altLang="ko-KR" sz="1100" dirty="0"/>
              <a:t>)</a:t>
            </a:r>
          </a:p>
          <a:p>
            <a:pPr marL="171450" indent="-171450">
              <a:buFontTx/>
              <a:buChar char="-"/>
            </a:pP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33349806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42E414D-6D74-A752-196F-1778438104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144071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-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(TLS + Cluster Update Queue)</a:t>
            </a:r>
            <a:endParaRPr lang="ko-KR" altLang="en-US" sz="2000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FD330E3-AE97-B111-C35B-281B2BDF8BBA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504000" y="769344"/>
            <a:ext cx="9071640" cy="106967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z="1100" dirty="0"/>
              <a:t>3. </a:t>
            </a:r>
            <a:r>
              <a:rPr lang="en-US" altLang="ko-KR" sz="1100" dirty="0" err="1"/>
              <a:t>ClusterUpdateTask</a:t>
            </a:r>
            <a:r>
              <a:rPr lang="en-US" altLang="ko-KR" sz="1100" dirty="0"/>
              <a:t> </a:t>
            </a:r>
            <a:r>
              <a:rPr lang="ko-KR" altLang="en-US" sz="1100" dirty="0"/>
              <a:t>실행 시 레퍼런스 카운터 감소를 먼저하고 실행할 경우</a:t>
            </a:r>
            <a:r>
              <a:rPr lang="en-US" altLang="ko-KR" sz="1100" dirty="0"/>
              <a:t>?</a:t>
            </a:r>
          </a:p>
          <a:p>
            <a:pPr marL="0" indent="0">
              <a:buNone/>
            </a:pPr>
            <a:r>
              <a:rPr lang="en-US" altLang="ko-KR" sz="1000" dirty="0"/>
              <a:t> 3 – 1. </a:t>
            </a:r>
            <a:r>
              <a:rPr lang="ko-KR" altLang="en-US" sz="1000" dirty="0"/>
              <a:t>스레드</a:t>
            </a:r>
            <a:r>
              <a:rPr lang="en-US" altLang="ko-KR" sz="1000" dirty="0"/>
              <a:t>0</a:t>
            </a:r>
            <a:r>
              <a:rPr lang="ko-KR" altLang="en-US" sz="1000" dirty="0"/>
              <a:t>이 레퍼런스 카운터를 감소시켜 </a:t>
            </a:r>
            <a:r>
              <a:rPr lang="en-US" altLang="ko-KR" sz="1000" dirty="0"/>
              <a:t>1</a:t>
            </a:r>
            <a:r>
              <a:rPr lang="ko-KR" altLang="en-US" sz="1000" dirty="0" err="1"/>
              <a:t>이된</a:t>
            </a:r>
            <a:r>
              <a:rPr lang="ko-KR" altLang="en-US" sz="1000" dirty="0"/>
              <a:t> 상태에서 컨텍스트 </a:t>
            </a:r>
            <a:r>
              <a:rPr lang="ko-KR" altLang="en-US" sz="1000" dirty="0" err="1"/>
              <a:t>스위칭</a:t>
            </a:r>
            <a:r>
              <a:rPr lang="ko-KR" altLang="en-US" sz="1000" dirty="0"/>
              <a:t> 발생</a:t>
            </a:r>
            <a:r>
              <a:rPr lang="en-US" altLang="ko-KR" sz="1000" dirty="0"/>
              <a:t>  </a:t>
            </a:r>
          </a:p>
          <a:p>
            <a:pPr marL="0" indent="0">
              <a:buNone/>
            </a:pPr>
            <a:r>
              <a:rPr lang="en-US" altLang="ko-KR" sz="1000" dirty="0"/>
              <a:t> 3 -  2. </a:t>
            </a:r>
            <a:r>
              <a:rPr lang="ko-KR" altLang="en-US" sz="1000" dirty="0"/>
              <a:t>스레드</a:t>
            </a:r>
            <a:r>
              <a:rPr lang="en-US" altLang="ko-KR" sz="1000" dirty="0"/>
              <a:t>1</a:t>
            </a:r>
            <a:r>
              <a:rPr lang="ko-KR" altLang="en-US" sz="1000" dirty="0"/>
              <a:t>이 레퍼런스 카운터를 감소시켜 </a:t>
            </a:r>
            <a:r>
              <a:rPr lang="en-US" altLang="ko-KR" sz="1000" dirty="0"/>
              <a:t>0</a:t>
            </a:r>
            <a:r>
              <a:rPr lang="ko-KR" altLang="en-US" sz="1000" dirty="0" err="1"/>
              <a:t>이된</a:t>
            </a:r>
            <a:r>
              <a:rPr lang="ko-KR" altLang="en-US" sz="1000" dirty="0"/>
              <a:t> 상태에서 일을 실행 후 레퍼런스 카운터가 </a:t>
            </a:r>
            <a:r>
              <a:rPr lang="en-US" altLang="ko-KR" sz="1000" dirty="0"/>
              <a:t>0</a:t>
            </a:r>
            <a:r>
              <a:rPr lang="ko-KR" altLang="en-US" sz="1000" dirty="0"/>
              <a:t>이 되었으니 이 인스턴스를 해제</a:t>
            </a: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 3 - 3. </a:t>
            </a:r>
            <a:r>
              <a:rPr lang="ko-KR" altLang="en-US" sz="1000" dirty="0"/>
              <a:t>스레드</a:t>
            </a:r>
            <a:r>
              <a:rPr lang="en-US" altLang="ko-KR" sz="1000" dirty="0"/>
              <a:t>0</a:t>
            </a:r>
            <a:r>
              <a:rPr lang="ko-KR" altLang="en-US" sz="1000" dirty="0"/>
              <a:t>이 컨텍스트 </a:t>
            </a:r>
            <a:r>
              <a:rPr lang="ko-KR" altLang="en-US" sz="1000" dirty="0" err="1"/>
              <a:t>스위칭에서</a:t>
            </a:r>
            <a:r>
              <a:rPr lang="ko-KR" altLang="en-US" sz="1000" dirty="0"/>
              <a:t> 돌아와서 이 인스턴스의 메서드를 마저 </a:t>
            </a:r>
            <a:r>
              <a:rPr lang="ko-KR" altLang="en-US" sz="1000" dirty="0" err="1"/>
              <a:t>실행하려하나</a:t>
            </a:r>
            <a:r>
              <a:rPr lang="ko-KR" altLang="en-US" sz="1000" dirty="0"/>
              <a:t> 이 인스턴스는 이미 메모리가 해제된 상태</a:t>
            </a:r>
            <a:endParaRPr lang="en-US" altLang="ko-KR" sz="1000" dirty="0"/>
          </a:p>
          <a:p>
            <a:pPr marL="0" indent="0">
              <a:buNone/>
            </a:pPr>
            <a:r>
              <a:rPr lang="en-US" altLang="ko-KR" sz="1000" dirty="0"/>
              <a:t>-&gt; </a:t>
            </a:r>
            <a:r>
              <a:rPr lang="ko-KR" altLang="en-US" sz="1000" dirty="0"/>
              <a:t>해결방안</a:t>
            </a:r>
            <a:r>
              <a:rPr lang="en-US" altLang="ko-KR" sz="1000" dirty="0"/>
              <a:t>: </a:t>
            </a:r>
            <a:r>
              <a:rPr lang="ko-KR" altLang="en-US" sz="1000" dirty="0"/>
              <a:t>반드시 일을 먼저 수행하고 레퍼런스 카운터를 감소시킨다</a:t>
            </a:r>
            <a:r>
              <a:rPr lang="en-US" altLang="ko-KR" sz="1000" dirty="0"/>
              <a:t>.  </a:t>
            </a:r>
            <a:endParaRPr lang="ko-KR" altLang="en-US" sz="1000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A93B7AF-DCFD-CFD7-28D8-643879DAD5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000" y="1897063"/>
            <a:ext cx="7048500" cy="135096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0F6EC5C-85A8-8907-BA9E-AB43A5469DEC}"/>
              </a:ext>
            </a:extLst>
          </p:cNvPr>
          <p:cNvSpPr txBox="1"/>
          <p:nvPr/>
        </p:nvSpPr>
        <p:spPr>
          <a:xfrm>
            <a:off x="333375" y="3246337"/>
            <a:ext cx="974725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4. </a:t>
            </a:r>
            <a:r>
              <a:rPr lang="en-US" altLang="ko-KR" sz="1100" dirty="0" err="1"/>
              <a:t>ClusterUpdateTask</a:t>
            </a:r>
            <a:r>
              <a:rPr lang="ko-KR" altLang="en-US" sz="1100" dirty="0"/>
              <a:t>에 실행할 함수 포인터와 필요한 매개변수를</a:t>
            </a:r>
            <a:r>
              <a:rPr lang="en-US" altLang="ko-KR" sz="1100" dirty="0"/>
              <a:t> </a:t>
            </a:r>
            <a:r>
              <a:rPr lang="ko-KR" altLang="en-US" sz="1100" dirty="0"/>
              <a:t>람다 표현식으로 캡처하여 </a:t>
            </a:r>
            <a:r>
              <a:rPr lang="en-US" altLang="ko-KR" sz="1100" dirty="0"/>
              <a:t>std::function</a:t>
            </a:r>
            <a:r>
              <a:rPr lang="ko-KR" altLang="en-US" sz="1100" dirty="0"/>
              <a:t>으로 만들 경우 발생하는 동적할당</a:t>
            </a:r>
            <a:r>
              <a:rPr lang="en-US" altLang="ko-KR" sz="1100" dirty="0"/>
              <a:t>/</a:t>
            </a:r>
            <a:r>
              <a:rPr lang="ko-KR" altLang="en-US" sz="1100" dirty="0"/>
              <a:t>해제 오버헤드</a:t>
            </a:r>
            <a:r>
              <a:rPr lang="en-US" altLang="ko-KR" sz="1100" dirty="0"/>
              <a:t>?</a:t>
            </a:r>
          </a:p>
          <a:p>
            <a:pPr marL="171450" indent="-171450">
              <a:buFontTx/>
              <a:buChar char="-"/>
            </a:pPr>
            <a:r>
              <a:rPr lang="en-US" altLang="ko-KR" sz="1100" dirty="0"/>
              <a:t>std::function</a:t>
            </a:r>
            <a:r>
              <a:rPr lang="ko-KR" altLang="en-US" sz="1100" dirty="0"/>
              <a:t>을 람다 표현식을 캡처하여 만들 경우 동적할당 발생</a:t>
            </a:r>
            <a:r>
              <a:rPr lang="en-US" altLang="ko-KR" sz="1100" dirty="0"/>
              <a:t>(</a:t>
            </a:r>
            <a:r>
              <a:rPr lang="ko-KR" altLang="en-US" sz="1100" dirty="0" err="1"/>
              <a:t>캡처된</a:t>
            </a:r>
            <a:r>
              <a:rPr lang="ko-KR" altLang="en-US" sz="1100" dirty="0"/>
              <a:t> 변수들의 크기가 일정 바이트 수가 넘어갔을 경우</a:t>
            </a:r>
            <a:r>
              <a:rPr lang="en-US" altLang="ko-KR" sz="1100" dirty="0"/>
              <a:t>)</a:t>
            </a:r>
          </a:p>
          <a:p>
            <a:pPr marL="171450" indent="-171450">
              <a:buFontTx/>
              <a:buChar char="-"/>
            </a:pPr>
            <a:r>
              <a:rPr lang="en-US" altLang="ko-KR" sz="1000" dirty="0"/>
              <a:t>STL</a:t>
            </a:r>
            <a:r>
              <a:rPr lang="ko-KR" altLang="en-US" sz="1000" dirty="0"/>
              <a:t>컨테이너들은 커스텀 할당자를 지정하여 메모리풀을 이용해 이 오버헤드를 감소시킬 수 있지만 </a:t>
            </a:r>
            <a:r>
              <a:rPr lang="en-US" altLang="ko-KR" sz="1000" dirty="0"/>
              <a:t>std::function</a:t>
            </a:r>
            <a:r>
              <a:rPr lang="ko-KR" altLang="en-US" sz="1000" dirty="0"/>
              <a:t>은 커스텀 할당자를 </a:t>
            </a:r>
            <a:r>
              <a:rPr lang="en-US" altLang="ko-KR" sz="1000" dirty="0"/>
              <a:t>C++17 </a:t>
            </a:r>
            <a:r>
              <a:rPr lang="ko-KR" altLang="en-US" sz="1000" dirty="0"/>
              <a:t>부터 허용하지 않음</a:t>
            </a:r>
            <a:endParaRPr lang="en-US" altLang="ko-KR" sz="1000" dirty="0"/>
          </a:p>
          <a:p>
            <a:r>
              <a:rPr lang="en-US" altLang="ko-KR" sz="1000" dirty="0"/>
              <a:t>-&gt;</a:t>
            </a:r>
            <a:r>
              <a:rPr lang="ko-KR" altLang="en-US" sz="1000" dirty="0"/>
              <a:t> 해결방안</a:t>
            </a:r>
            <a:r>
              <a:rPr lang="en-US" altLang="ko-KR" sz="1000" dirty="0"/>
              <a:t>: </a:t>
            </a:r>
            <a:r>
              <a:rPr lang="ko-KR" altLang="en-US" sz="1000" dirty="0"/>
              <a:t>비슷한 역할을 하는 클래스를 만들어서 고성능 메모리 할당자를 직접 제공한다</a:t>
            </a:r>
            <a:r>
              <a:rPr lang="en-US" altLang="ko-KR" sz="1000" dirty="0"/>
              <a:t>.</a:t>
            </a:r>
          </a:p>
          <a:p>
            <a:r>
              <a:rPr lang="en-US" altLang="ko-KR" sz="1100" dirty="0"/>
              <a:t> </a:t>
            </a:r>
            <a:endParaRPr lang="ko-KR" altLang="en-US" sz="1100" dirty="0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F67B1AEF-9A14-2BC6-AB2A-E17A21CD68B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000" y="3904952"/>
            <a:ext cx="4619626" cy="1765597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33D37447-DD17-CB61-4780-C436A7EC4E44}"/>
              </a:ext>
            </a:extLst>
          </p:cNvPr>
          <p:cNvSpPr txBox="1"/>
          <p:nvPr/>
        </p:nvSpPr>
        <p:spPr>
          <a:xfrm>
            <a:off x="5162550" y="4437802"/>
            <a:ext cx="4918075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직접 제작한 </a:t>
            </a:r>
            <a:r>
              <a:rPr lang="en-US" altLang="ko-KR" sz="1600" dirty="0"/>
              <a:t>std::function</a:t>
            </a:r>
            <a:r>
              <a:rPr lang="ko-KR" altLang="en-US" sz="1600" dirty="0"/>
              <a:t>과 비슷한 동작을 하는 클래스의 일부분 전체코드는 </a:t>
            </a:r>
            <a:r>
              <a:rPr lang="en-US" altLang="ko-KR" sz="1600" dirty="0" err="1"/>
              <a:t>Task.h</a:t>
            </a:r>
            <a:r>
              <a:rPr lang="ko-KR" altLang="en-US" sz="1600" dirty="0"/>
              <a:t> 참조</a:t>
            </a:r>
            <a:endParaRPr lang="en-US" altLang="ko-KR" sz="1600" dirty="0"/>
          </a:p>
          <a:p>
            <a:r>
              <a:rPr lang="en-US" altLang="ko-KR" sz="1600" dirty="0"/>
              <a:t>(</a:t>
            </a:r>
            <a:r>
              <a:rPr lang="en-US" altLang="ko-KR" sz="1600" dirty="0" err="1"/>
              <a:t>MemoryMgr.h</a:t>
            </a:r>
            <a:r>
              <a:rPr lang="ko-KR" altLang="en-US" sz="1600" dirty="0"/>
              <a:t>에 커스텀 </a:t>
            </a:r>
            <a:r>
              <a:rPr lang="ko-KR" altLang="en-US" sz="1600" dirty="0" err="1"/>
              <a:t>할당자</a:t>
            </a:r>
            <a:r>
              <a:rPr lang="ko-KR" altLang="en-US" sz="1600" dirty="0"/>
              <a:t> 존재</a:t>
            </a:r>
            <a:r>
              <a:rPr lang="en-US" altLang="ko-KR" sz="1600" dirty="0"/>
              <a:t>, </a:t>
            </a:r>
            <a:r>
              <a:rPr lang="ko-KR" altLang="en-US" sz="1600" dirty="0"/>
              <a:t>이후 챕터에서 다시 자세히 설명</a:t>
            </a:r>
            <a:r>
              <a:rPr lang="en-US" altLang="ko-KR" sz="1600" dirty="0"/>
              <a:t>)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275537036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0E95F63-5DF8-5E33-4317-AFB17D3D83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-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(Lock Free Executor)</a:t>
            </a:r>
            <a:endParaRPr lang="ko-KR" altLang="en-US" sz="2000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BAA118D-0457-ECC9-12E6-C143E7C295BB}"/>
              </a:ext>
            </a:extLst>
          </p:cNvPr>
          <p:cNvSpPr txBox="1">
            <a:spLocks noGrp="1"/>
          </p:cNvSpPr>
          <p:nvPr>
            <p:ph type="body"/>
          </p:nvPr>
        </p:nvSpPr>
        <p:spPr>
          <a:xfrm>
            <a:off x="305723" y="1532701"/>
            <a:ext cx="9072562" cy="9971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>
              <a:buNone/>
            </a:pPr>
            <a:r>
              <a:rPr lang="en-US" altLang="ko-KR" sz="1800" dirty="0"/>
              <a:t>- </a:t>
            </a:r>
            <a:r>
              <a:rPr lang="ko-KR" altLang="en-US" sz="1800" dirty="0"/>
              <a:t>개요</a:t>
            </a:r>
            <a:r>
              <a:rPr lang="en-US" altLang="ko-KR" sz="1800" dirty="0"/>
              <a:t>:</a:t>
            </a:r>
          </a:p>
          <a:p>
            <a:pPr marL="0" indent="0">
              <a:buNone/>
            </a:pPr>
            <a:r>
              <a:rPr lang="ko-KR" altLang="en-US" sz="1800" dirty="0"/>
              <a:t>모든 객체에 이벤트 큐를 가지게 하여</a:t>
            </a:r>
            <a:r>
              <a:rPr lang="en-US" altLang="ko-KR" sz="1800" dirty="0"/>
              <a:t>, HP </a:t>
            </a:r>
            <a:r>
              <a:rPr lang="ko-KR" altLang="en-US" sz="1800" dirty="0"/>
              <a:t>증가 및 감소 같은 원래라면 </a:t>
            </a:r>
            <a:r>
              <a:rPr lang="en-US" altLang="ko-KR" sz="1800" dirty="0"/>
              <a:t>Lock</a:t>
            </a:r>
            <a:r>
              <a:rPr lang="ko-KR" altLang="en-US" sz="1800" dirty="0"/>
              <a:t>을 필요로 하는 업데이트 발생 시 해당 객체의 이벤트 큐에  그 사실만을 전달하고 그 객체가 이벤트 큐에서 이벤트를 하나씩 꺼내어 스스로 하나씩 업데이트 하게 한다</a:t>
            </a:r>
            <a:r>
              <a:rPr lang="en-US" altLang="ko-KR" sz="1800" dirty="0"/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6856BC5-6E3E-ECB6-1442-2D20422F2516}"/>
              </a:ext>
            </a:extLst>
          </p:cNvPr>
          <p:cNvSpPr txBox="1"/>
          <p:nvPr/>
        </p:nvSpPr>
        <p:spPr>
          <a:xfrm>
            <a:off x="305723" y="1051624"/>
            <a:ext cx="88733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2. Lock Free Executor 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A34AA1F-7F99-E8D0-38D0-C2190F997A89}"/>
              </a:ext>
            </a:extLst>
          </p:cNvPr>
          <p:cNvSpPr txBox="1"/>
          <p:nvPr/>
        </p:nvSpPr>
        <p:spPr>
          <a:xfrm>
            <a:off x="183990" y="2889292"/>
            <a:ext cx="9515475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ko-KR" altLang="en-US" dirty="0"/>
              <a:t>나는 왜 이렇게 하였는가</a:t>
            </a:r>
            <a:r>
              <a:rPr lang="en-US" altLang="ko-KR" dirty="0"/>
              <a:t>?: </a:t>
            </a:r>
          </a:p>
          <a:p>
            <a:r>
              <a:rPr lang="ko-KR" altLang="en-US" dirty="0"/>
              <a:t>많은 유저가 몬스터를 동시에 공격했을 때 또는 많은 몬스터가 유저를 동시에 공격했을 때 </a:t>
            </a:r>
            <a:r>
              <a:rPr lang="en-US" altLang="ko-KR" dirty="0"/>
              <a:t>mutex</a:t>
            </a:r>
            <a:r>
              <a:rPr lang="ko-KR" altLang="en-US" dirty="0"/>
              <a:t>를 사용하여 </a:t>
            </a:r>
            <a:r>
              <a:rPr lang="en-US" altLang="ko-KR" dirty="0"/>
              <a:t>HP</a:t>
            </a:r>
            <a:r>
              <a:rPr lang="ko-KR" altLang="en-US" dirty="0"/>
              <a:t>변수를 수정한다면 </a:t>
            </a:r>
            <a:r>
              <a:rPr lang="en-US" altLang="ko-KR" dirty="0"/>
              <a:t>mutex</a:t>
            </a:r>
            <a:r>
              <a:rPr lang="ko-KR" altLang="en-US" dirty="0"/>
              <a:t>를 소유한 스레드의 </a:t>
            </a:r>
            <a:r>
              <a:rPr lang="en-US" altLang="ko-KR" dirty="0"/>
              <a:t>HP </a:t>
            </a:r>
            <a:r>
              <a:rPr lang="ko-KR" altLang="en-US" dirty="0"/>
              <a:t>수정 작업이 끝날 때 까지 </a:t>
            </a:r>
            <a:r>
              <a:rPr lang="en-US" altLang="ko-KR" dirty="0"/>
              <a:t>HP </a:t>
            </a:r>
            <a:r>
              <a:rPr lang="ko-KR" altLang="en-US" dirty="0"/>
              <a:t>수정 작업을 하려는 다른 모든 스레드들은 전부 기다릴 수 밖에 없고 유저와 몬스터가 많아질 수록 해당 상황은 더 심각해 진다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이와 비슷하게 특정 객체의 공유 메모리 수정이 필요한 업데이트가 동시다발적으로 발생 시 해당 사실을 그 객체의 이벤트 큐에 전달만 하게하여 </a:t>
            </a:r>
            <a:r>
              <a:rPr lang="en-US" altLang="ko-KR" dirty="0"/>
              <a:t>Lock</a:t>
            </a:r>
            <a:r>
              <a:rPr lang="ko-KR" altLang="en-US" dirty="0"/>
              <a:t>을 사용하지 않고 업데이트를 가능하게 한다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 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94142870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4B02433-E958-5D27-B687-7060F72A22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1600" y="110247"/>
            <a:ext cx="9071640" cy="50887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-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(Lock Free Executor)</a:t>
            </a:r>
            <a:endParaRPr lang="ko-KR" altLang="en-US" sz="2000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E271B10-EDBC-1B53-5FF4-B168E22CD08F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303975" y="719645"/>
            <a:ext cx="9071640" cy="445050"/>
          </a:xfrm>
        </p:spPr>
        <p:txBody>
          <a:bodyPr>
            <a:normAutofit fontScale="92500" lnSpcReduction="20000"/>
          </a:bodyPr>
          <a:lstStyle/>
          <a:p>
            <a:pPr>
              <a:buFontTx/>
              <a:buChar char="-"/>
            </a:pPr>
            <a:r>
              <a:rPr lang="ko-KR" altLang="en-US" sz="1400" dirty="0"/>
              <a:t>이하와 비슷한 작업이 동시다발적으로 발생 시 엄청난 </a:t>
            </a:r>
            <a:r>
              <a:rPr lang="en-US" altLang="ko-KR" sz="1400" dirty="0"/>
              <a:t>Blocking</a:t>
            </a:r>
            <a:r>
              <a:rPr lang="ko-KR" altLang="en-US" sz="1400" dirty="0"/>
              <a:t>을 유발 </a:t>
            </a:r>
            <a:r>
              <a:rPr lang="en-US" altLang="ko-KR" sz="1400" dirty="0"/>
              <a:t>…</a:t>
            </a:r>
          </a:p>
          <a:p>
            <a:pPr marL="0" indent="0">
              <a:buNone/>
            </a:pPr>
            <a:r>
              <a:rPr lang="en-US" altLang="ko-KR" sz="1400" dirty="0"/>
              <a:t>(</a:t>
            </a:r>
            <a:r>
              <a:rPr lang="ko-KR" altLang="en-US" sz="1400" dirty="0"/>
              <a:t>왼쪽의 자료들은 각각 </a:t>
            </a:r>
            <a:r>
              <a:rPr lang="en-US" altLang="ko-KR" sz="1400" dirty="0">
                <a:hlinkClick r:id="rId2"/>
              </a:rPr>
              <a:t>https://www.slideshare.net/slideshow/mmorpg-106391346/106391346#36</a:t>
            </a:r>
            <a:r>
              <a:rPr lang="en-US" altLang="ko-KR" sz="1400" dirty="0"/>
              <a:t> </a:t>
            </a:r>
            <a:r>
              <a:rPr lang="ko-KR" altLang="en-US" sz="1400" dirty="0"/>
              <a:t>의 페이지 </a:t>
            </a:r>
            <a:r>
              <a:rPr lang="en-US" altLang="ko-KR" sz="1400" dirty="0"/>
              <a:t>51, 52  / </a:t>
            </a:r>
            <a:r>
              <a:rPr lang="ko-KR" altLang="en-US" sz="1400" dirty="0"/>
              <a:t>오른쪽은 직접 작성한 코드</a:t>
            </a:r>
            <a:r>
              <a:rPr lang="en-US" altLang="ko-KR" sz="1400" dirty="0"/>
              <a:t>)</a:t>
            </a:r>
            <a:endParaRPr lang="ko-KR" altLang="en-US" sz="1400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A888A8A2-3983-A723-DFF1-F303759C2B8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350" y="1165912"/>
            <a:ext cx="4296600" cy="2282978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674CD393-A1C5-007D-0179-1C6CAE215FD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52950" y="1165912"/>
            <a:ext cx="5086350" cy="228297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D3C780D-6126-6359-DE17-08D5E4A36F3A}"/>
              </a:ext>
            </a:extLst>
          </p:cNvPr>
          <p:cNvSpPr txBox="1"/>
          <p:nvPr/>
        </p:nvSpPr>
        <p:spPr>
          <a:xfrm>
            <a:off x="256350" y="3448890"/>
            <a:ext cx="86876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- Lock Free Executor</a:t>
            </a:r>
            <a:r>
              <a:rPr lang="ko-KR" altLang="en-US" sz="1400" dirty="0"/>
              <a:t>를 이용한다면 이렇게 바꿀 수 있다</a:t>
            </a:r>
            <a:r>
              <a:rPr lang="en-US" altLang="ko-KR" sz="1400" dirty="0"/>
              <a:t>. </a:t>
            </a:r>
            <a:endParaRPr lang="ko-KR" altLang="en-US" sz="1400" dirty="0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EE0EC43C-DA80-0B90-E9EC-378EFAF3CBC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50735" y="3719646"/>
            <a:ext cx="5729890" cy="1890579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20F151CD-F553-0604-58CB-3F0FA8A0BC2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732027"/>
            <a:ext cx="4350735" cy="1890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781055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EF7835E-CF47-D1BC-EC69-C4A1B855A0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-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(Lock Free Executor)</a:t>
            </a:r>
            <a:endParaRPr lang="ko-KR" altLang="en-US" sz="2000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0CAB4DF-FFD8-0F1F-487A-712EC57E217B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335393" y="1520306"/>
            <a:ext cx="9071640" cy="946440"/>
          </a:xfrm>
        </p:spPr>
        <p:txBody>
          <a:bodyPr/>
          <a:lstStyle/>
          <a:p>
            <a:pPr>
              <a:buFontTx/>
              <a:buChar char="-"/>
            </a:pPr>
            <a:r>
              <a:rPr lang="ko-KR" altLang="en-US" sz="1800" dirty="0"/>
              <a:t>이걸 어떻게 구현했는가</a:t>
            </a:r>
            <a:r>
              <a:rPr lang="en-US" altLang="ko-KR" sz="1800" dirty="0"/>
              <a:t>?: </a:t>
            </a:r>
          </a:p>
          <a:p>
            <a:pPr marL="342900" indent="-342900">
              <a:buAutoNum type="arabicPeriod"/>
            </a:pPr>
            <a:r>
              <a:rPr lang="ko-KR" altLang="en-US" sz="1800" dirty="0"/>
              <a:t>언급한 </a:t>
            </a:r>
            <a:r>
              <a:rPr lang="en-US" altLang="ko-KR" sz="1800" dirty="0"/>
              <a:t>ppt</a:t>
            </a:r>
            <a:r>
              <a:rPr lang="ko-KR" altLang="en-US" sz="1800" dirty="0"/>
              <a:t>의 자료를 참고하여 실행할 작업</a:t>
            </a:r>
            <a:r>
              <a:rPr lang="en-US" altLang="ko-KR" sz="1800" dirty="0"/>
              <a:t>(</a:t>
            </a:r>
            <a:r>
              <a:rPr lang="ko-KR" altLang="en-US" sz="1800" dirty="0" err="1"/>
              <a:t>함수포인터</a:t>
            </a:r>
            <a:r>
              <a:rPr lang="en-US" altLang="ko-KR" sz="1800" dirty="0"/>
              <a:t>)</a:t>
            </a:r>
            <a:r>
              <a:rPr lang="ko-KR" altLang="en-US" sz="1800" dirty="0"/>
              <a:t>와 매개변수들을 </a:t>
            </a:r>
            <a:r>
              <a:rPr lang="ko-KR" altLang="en-US" sz="1800" dirty="0" err="1"/>
              <a:t>랩핑할</a:t>
            </a:r>
            <a:r>
              <a:rPr lang="ko-KR" altLang="en-US" sz="1800" dirty="0"/>
              <a:t> 수 있는 이벤트 객체</a:t>
            </a:r>
            <a:r>
              <a:rPr lang="en-US" altLang="ko-KR" sz="1800" dirty="0"/>
              <a:t>(Task)</a:t>
            </a:r>
            <a:r>
              <a:rPr lang="ko-KR" altLang="en-US" sz="1800" dirty="0"/>
              <a:t>를 만든다</a:t>
            </a:r>
            <a:r>
              <a:rPr lang="en-US" altLang="ko-KR" sz="1800" dirty="0"/>
              <a:t>.</a:t>
            </a:r>
          </a:p>
          <a:p>
            <a:pPr marL="342900" indent="-342900">
              <a:buAutoNum type="arabicPeriod"/>
            </a:pPr>
            <a:endParaRPr lang="en-US" altLang="ko-KR" sz="1800" dirty="0"/>
          </a:p>
          <a:p>
            <a:pPr marL="0" indent="0">
              <a:buNone/>
            </a:pPr>
            <a:endParaRPr lang="ko-KR" alt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2053A9F7-5A7C-3C89-0E69-A9123D998CA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548" y="2216151"/>
            <a:ext cx="4067680" cy="268446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F1BAA5E-487A-A954-0C93-B817982B3264}"/>
              </a:ext>
            </a:extLst>
          </p:cNvPr>
          <p:cNvSpPr txBox="1"/>
          <p:nvPr/>
        </p:nvSpPr>
        <p:spPr>
          <a:xfrm>
            <a:off x="4209225" y="3255993"/>
            <a:ext cx="66198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 err="1"/>
              <a:t>ㅡ</a:t>
            </a:r>
            <a:r>
              <a:rPr lang="en-US" altLang="ko-KR" sz="2000" dirty="0"/>
              <a:t>&gt;</a:t>
            </a:r>
            <a:endParaRPr lang="ko-KR" altLang="en-US" sz="2000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520F4DC2-BD50-D737-8697-74D14E1682B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66000" y="2162175"/>
            <a:ext cx="4706637" cy="273843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27DCABA-4CC8-C029-38A3-54254A6F820B}"/>
              </a:ext>
            </a:extLst>
          </p:cNvPr>
          <p:cNvSpPr txBox="1"/>
          <p:nvPr/>
        </p:nvSpPr>
        <p:spPr>
          <a:xfrm>
            <a:off x="0" y="4998950"/>
            <a:ext cx="4605338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참고한 </a:t>
            </a:r>
            <a:r>
              <a:rPr lang="en-US" altLang="ko-KR" sz="1000" dirty="0"/>
              <a:t>ppt </a:t>
            </a:r>
            <a:r>
              <a:rPr lang="ko-KR" altLang="en-US" sz="1000" dirty="0"/>
              <a:t>자료</a:t>
            </a:r>
            <a:endParaRPr lang="en-US" altLang="ko-KR" sz="1000" dirty="0"/>
          </a:p>
          <a:p>
            <a:r>
              <a:rPr lang="en-US" altLang="ko-KR" sz="1000" dirty="0"/>
              <a:t>(</a:t>
            </a:r>
            <a:r>
              <a:rPr lang="ko-KR" altLang="en-US" sz="1000" dirty="0"/>
              <a:t>출처</a:t>
            </a:r>
            <a:r>
              <a:rPr lang="en-US" altLang="ko-KR" sz="1000" dirty="0"/>
              <a:t>: </a:t>
            </a:r>
            <a:r>
              <a:rPr lang="en-US" altLang="ko-KR" sz="1000" dirty="0">
                <a:hlinkClick r:id="rId4"/>
              </a:rPr>
              <a:t>https://www.slideshare.net/slideshow/mmorpg-106391346/106391346</a:t>
            </a:r>
            <a:r>
              <a:rPr lang="en-US" altLang="ko-KR" sz="1000" dirty="0"/>
              <a:t>) </a:t>
            </a:r>
            <a:r>
              <a:rPr lang="ko-KR" altLang="en-US" sz="1000" dirty="0"/>
              <a:t>페이지 </a:t>
            </a:r>
            <a:r>
              <a:rPr lang="en-US" altLang="ko-KR" sz="1000" dirty="0"/>
              <a:t>53</a:t>
            </a:r>
            <a:endParaRPr lang="ko-KR" altLang="en-US" sz="10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5C3630B-C201-B908-BCE5-79BB5E0D15AD}"/>
              </a:ext>
            </a:extLst>
          </p:cNvPr>
          <p:cNvSpPr txBox="1"/>
          <p:nvPr/>
        </p:nvSpPr>
        <p:spPr>
          <a:xfrm>
            <a:off x="4970302" y="4937441"/>
            <a:ext cx="460533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std::function</a:t>
            </a:r>
            <a:r>
              <a:rPr lang="ko-KR" altLang="en-US" sz="1000" dirty="0"/>
              <a:t>과 비슷한 동작을 하면서 커스텀 할당자를 사용하는 직접 만든 </a:t>
            </a:r>
            <a:r>
              <a:rPr lang="en-US" altLang="ko-KR" sz="1000" dirty="0"/>
              <a:t>Task</a:t>
            </a:r>
            <a:r>
              <a:rPr lang="ko-KR" altLang="en-US" sz="1000" dirty="0"/>
              <a:t>클래스 코드의 일부</a:t>
            </a:r>
            <a:r>
              <a:rPr lang="en-US" altLang="ko-KR" sz="1000" dirty="0"/>
              <a:t>(</a:t>
            </a:r>
            <a:r>
              <a:rPr lang="en-US" altLang="ko-KR" sz="1000" dirty="0" err="1"/>
              <a:t>Task.h</a:t>
            </a:r>
            <a:r>
              <a:rPr lang="en-US" altLang="ko-KR" sz="1000" dirty="0"/>
              <a:t> </a:t>
            </a:r>
            <a:r>
              <a:rPr lang="ko-KR" altLang="en-US" sz="1000" dirty="0"/>
              <a:t>참조</a:t>
            </a:r>
            <a:r>
              <a:rPr lang="en-US" altLang="ko-KR" sz="1000" dirty="0"/>
              <a:t>) 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266567446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B6FE51B-F41F-99B4-0FEB-079F51BF92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117476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-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(Lock Free Executor)</a:t>
            </a:r>
            <a:endParaRPr lang="ko-KR" altLang="en-US" sz="2000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9B5772D-DE9C-C752-A0BC-33A642A2DD0D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284925" y="419005"/>
            <a:ext cx="9071640" cy="105015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z="1400" dirty="0"/>
              <a:t>2. 1</a:t>
            </a:r>
            <a:r>
              <a:rPr lang="ko-KR" altLang="en-US" sz="1400" dirty="0"/>
              <a:t>에서 만든 </a:t>
            </a:r>
            <a:r>
              <a:rPr lang="en-US" altLang="ko-KR" sz="1400" dirty="0"/>
              <a:t>Task </a:t>
            </a:r>
            <a:r>
              <a:rPr lang="ko-KR" altLang="en-US" sz="1400" dirty="0"/>
              <a:t>클래스를 원소로 가질 </a:t>
            </a:r>
            <a:r>
              <a:rPr lang="en-US" altLang="ko-KR" sz="1400" dirty="0"/>
              <a:t>Lock Free Queue</a:t>
            </a:r>
            <a:r>
              <a:rPr lang="ko-KR" altLang="en-US" sz="1400" dirty="0"/>
              <a:t>를 준비한다</a:t>
            </a:r>
            <a:r>
              <a:rPr lang="en-US" altLang="ko-KR" sz="1400" dirty="0"/>
              <a:t>. </a:t>
            </a:r>
          </a:p>
          <a:p>
            <a:pPr marL="0" indent="0">
              <a:buNone/>
            </a:pPr>
            <a:r>
              <a:rPr lang="en-US" altLang="ko-KR" sz="1400" dirty="0"/>
              <a:t>3. </a:t>
            </a:r>
            <a:r>
              <a:rPr lang="ko-KR" altLang="en-US" sz="1400" dirty="0"/>
              <a:t>큐의 </a:t>
            </a:r>
            <a:r>
              <a:rPr lang="en-US" altLang="ko-KR" sz="1400" dirty="0"/>
              <a:t>Task</a:t>
            </a:r>
            <a:r>
              <a:rPr lang="ko-KR" altLang="en-US" sz="1400" dirty="0"/>
              <a:t>를 </a:t>
            </a:r>
            <a:r>
              <a:rPr lang="en-US" altLang="ko-KR" sz="1400" dirty="0"/>
              <a:t>pop</a:t>
            </a:r>
            <a:r>
              <a:rPr lang="ko-KR" altLang="en-US" sz="1400" dirty="0"/>
              <a:t>하며 실제로 작업을 수행할 </a:t>
            </a:r>
            <a:r>
              <a:rPr lang="en-US" altLang="ko-KR" sz="1400" dirty="0"/>
              <a:t>Lock Free Executor </a:t>
            </a:r>
            <a:r>
              <a:rPr lang="ko-KR" altLang="en-US" sz="1400" dirty="0"/>
              <a:t>클래스를 작성한다</a:t>
            </a:r>
            <a:r>
              <a:rPr lang="en-US" altLang="ko-KR" sz="1400" dirty="0"/>
              <a:t>.</a:t>
            </a:r>
            <a:endParaRPr lang="ko-KR" altLang="en-US" sz="140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3C5D5275-486E-3405-901F-C78978BE075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00" y="3289304"/>
            <a:ext cx="3773320" cy="1777995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AB2AE9E0-8FA7-9AF4-5EF8-3A38D817E12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49725" y="1164579"/>
            <a:ext cx="3003550" cy="3902720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998CCBB4-2B88-3553-81A5-1AB11FD6B31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53275" y="1164579"/>
            <a:ext cx="2921824" cy="390272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D9D14D3B-3BF6-39AA-9526-792D0F72D267}"/>
              </a:ext>
            </a:extLst>
          </p:cNvPr>
          <p:cNvSpPr txBox="1"/>
          <p:nvPr/>
        </p:nvSpPr>
        <p:spPr>
          <a:xfrm>
            <a:off x="3663815" y="2889194"/>
            <a:ext cx="62180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 err="1"/>
              <a:t>ㅡ</a:t>
            </a:r>
            <a:r>
              <a:rPr lang="en-US" altLang="ko-KR" sz="2000" dirty="0"/>
              <a:t>&gt;</a:t>
            </a:r>
            <a:endParaRPr lang="ko-KR" altLang="en-US" sz="20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7EFA00D-9103-BC57-1700-48FB336D385B}"/>
              </a:ext>
            </a:extLst>
          </p:cNvPr>
          <p:cNvSpPr txBox="1"/>
          <p:nvPr/>
        </p:nvSpPr>
        <p:spPr>
          <a:xfrm>
            <a:off x="0" y="5067299"/>
            <a:ext cx="381142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참고한 </a:t>
            </a:r>
            <a:r>
              <a:rPr lang="en-US" altLang="ko-KR" sz="1000" dirty="0"/>
              <a:t>ppt </a:t>
            </a:r>
            <a:r>
              <a:rPr lang="ko-KR" altLang="en-US" sz="1000" dirty="0"/>
              <a:t>자료</a:t>
            </a:r>
            <a:endParaRPr lang="en-US" altLang="ko-KR" sz="1000" dirty="0"/>
          </a:p>
          <a:p>
            <a:r>
              <a:rPr lang="en-US" altLang="ko-KR" sz="1000" dirty="0"/>
              <a:t>(</a:t>
            </a:r>
            <a:r>
              <a:rPr lang="ko-KR" altLang="en-US" sz="1000" dirty="0"/>
              <a:t>출처</a:t>
            </a:r>
            <a:r>
              <a:rPr lang="en-US" altLang="ko-KR" sz="1000" dirty="0"/>
              <a:t>: </a:t>
            </a:r>
            <a:r>
              <a:rPr lang="en-US" altLang="ko-KR" sz="1000" dirty="0">
                <a:hlinkClick r:id="rId5"/>
              </a:rPr>
              <a:t>https://www.slideshare.net/slideshow/mmorpg-106391346/106391346</a:t>
            </a:r>
            <a:r>
              <a:rPr lang="en-US" altLang="ko-KR" sz="1000" dirty="0"/>
              <a:t>) </a:t>
            </a:r>
            <a:r>
              <a:rPr lang="ko-KR" altLang="en-US" sz="1000" dirty="0"/>
              <a:t>페이지 </a:t>
            </a:r>
            <a:r>
              <a:rPr lang="en-US" altLang="ko-KR" sz="1000" dirty="0"/>
              <a:t>55, 56</a:t>
            </a:r>
            <a:endParaRPr lang="ko-KR" altLang="en-US" sz="1000" dirty="0"/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D52391BA-E355-C130-6365-5CF38B4534B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00" y="1164579"/>
            <a:ext cx="3773320" cy="2124724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346F59FE-2A9C-E1D2-4D1A-962111637CD0}"/>
              </a:ext>
            </a:extLst>
          </p:cNvPr>
          <p:cNvSpPr txBox="1"/>
          <p:nvPr/>
        </p:nvSpPr>
        <p:spPr>
          <a:xfrm>
            <a:off x="4149725" y="5152964"/>
            <a:ext cx="592537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직접 작성한 </a:t>
            </a:r>
            <a:r>
              <a:rPr lang="en-US" altLang="ko-KR" sz="1000" dirty="0"/>
              <a:t>Lock Free Executor </a:t>
            </a:r>
            <a:r>
              <a:rPr lang="ko-KR" altLang="en-US" sz="1000" dirty="0"/>
              <a:t>클래스 코드의 일부 </a:t>
            </a:r>
            <a:r>
              <a:rPr lang="en-US" altLang="ko-KR" sz="1000" dirty="0"/>
              <a:t>(</a:t>
            </a:r>
            <a:r>
              <a:rPr lang="en-US" altLang="ko-KR" sz="1000" dirty="0" err="1"/>
              <a:t>Queueabler</a:t>
            </a:r>
            <a:r>
              <a:rPr lang="en-US" altLang="ko-KR" sz="1000" dirty="0"/>
              <a:t> </a:t>
            </a:r>
            <a:r>
              <a:rPr lang="ko-KR" altLang="en-US" sz="1000" dirty="0"/>
              <a:t>라고 이름 붙임</a:t>
            </a:r>
            <a:r>
              <a:rPr lang="en-US" altLang="ko-KR" sz="1000" dirty="0"/>
              <a:t>) </a:t>
            </a:r>
            <a:r>
              <a:rPr lang="en-US" altLang="ko-KR" sz="1000" dirty="0" err="1"/>
              <a:t>Queueabler.h</a:t>
            </a:r>
            <a:r>
              <a:rPr lang="en-US" altLang="ko-KR" sz="1000" dirty="0"/>
              <a:t> , </a:t>
            </a:r>
            <a:r>
              <a:rPr lang="en-US" altLang="ko-KR" sz="1000" dirty="0" err="1"/>
              <a:t>cpp</a:t>
            </a:r>
            <a:r>
              <a:rPr lang="en-US" altLang="ko-KR" sz="1000" dirty="0"/>
              <a:t> </a:t>
            </a:r>
            <a:r>
              <a:rPr lang="ko-KR" altLang="en-US" sz="1000" dirty="0"/>
              <a:t>참조</a:t>
            </a:r>
          </a:p>
        </p:txBody>
      </p:sp>
    </p:spTree>
    <p:extLst>
      <p:ext uri="{BB962C8B-B14F-4D97-AF65-F5344CB8AC3E}">
        <p14:creationId xmlns:p14="http://schemas.microsoft.com/office/powerpoint/2010/main" val="300712961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EED2F97-A4B7-1ABD-C481-FD2B927405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6375" y="94563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-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(Lock Free Executor)</a:t>
            </a:r>
            <a:endParaRPr lang="ko-KR" altLang="en-US" sz="2000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55F2E7C-9C8A-5A80-C57E-A33613E4AFB8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318261" y="743813"/>
            <a:ext cx="9071640" cy="2603790"/>
          </a:xfrm>
        </p:spPr>
        <p:txBody>
          <a:bodyPr/>
          <a:lstStyle/>
          <a:p>
            <a:pPr marL="285750" indent="-285750">
              <a:buFontTx/>
              <a:buChar char="-"/>
            </a:pPr>
            <a:r>
              <a:rPr lang="ko-KR" altLang="en-US" sz="1800" dirty="0"/>
              <a:t>나는 무엇을 고민했나</a:t>
            </a:r>
            <a:r>
              <a:rPr lang="en-US" altLang="ko-KR" sz="1800" dirty="0"/>
              <a:t>?:</a:t>
            </a:r>
          </a:p>
          <a:p>
            <a:endParaRPr lang="en-US" altLang="ko-KR" sz="1800" dirty="0"/>
          </a:p>
          <a:p>
            <a:pPr marL="342900" indent="-342900">
              <a:buAutoNum type="arabicPeriod"/>
            </a:pPr>
            <a:r>
              <a:rPr lang="ko-KR" altLang="en-US" sz="1800" dirty="0"/>
              <a:t>이벤트 큐로서 사용할 </a:t>
            </a:r>
            <a:r>
              <a:rPr lang="en-US" altLang="ko-KR" sz="1800" dirty="0"/>
              <a:t>Lock-Free </a:t>
            </a:r>
            <a:r>
              <a:rPr lang="ko-KR" altLang="en-US" sz="1800" dirty="0"/>
              <a:t>큐를 어떻게 할 것인가</a:t>
            </a:r>
            <a:r>
              <a:rPr lang="en-US" altLang="ko-KR" sz="1800" dirty="0"/>
              <a:t>?:</a:t>
            </a:r>
          </a:p>
          <a:p>
            <a:pPr marL="285750" indent="-285750">
              <a:buFontTx/>
              <a:buChar char="-"/>
            </a:pPr>
            <a:r>
              <a:rPr lang="en-US" altLang="ko-KR" sz="1400" dirty="0"/>
              <a:t>Lock-Free</a:t>
            </a:r>
            <a:r>
              <a:rPr lang="ko-KR" altLang="en-US" sz="1400" dirty="0"/>
              <a:t> 큐는 여러 곳에서 제작한 자료구조가 이미 존재</a:t>
            </a:r>
            <a:endParaRPr lang="en-US" altLang="ko-KR" sz="1400" dirty="0"/>
          </a:p>
          <a:p>
            <a:pPr marL="285750" indent="-285750">
              <a:buFontTx/>
              <a:buChar char="-"/>
            </a:pPr>
            <a:r>
              <a:rPr lang="ko-KR" altLang="en-US" sz="1400" dirty="0"/>
              <a:t>근데 잘 생각해보면 </a:t>
            </a:r>
            <a:r>
              <a:rPr lang="en-US" altLang="ko-KR" sz="1400" dirty="0"/>
              <a:t>push </a:t>
            </a:r>
            <a:r>
              <a:rPr lang="ko-KR" altLang="en-US" sz="1400" dirty="0"/>
              <a:t>할 때는 여러 스레드가 동시에 하지만 지금 상황에서는 </a:t>
            </a:r>
            <a:r>
              <a:rPr lang="en-US" altLang="ko-KR" sz="1400" dirty="0"/>
              <a:t>pop</a:t>
            </a:r>
            <a:r>
              <a:rPr lang="ko-KR" altLang="en-US" sz="1400" dirty="0"/>
              <a:t>하고 일을 실행하는 건 스레드 하나로 보장된다</a:t>
            </a:r>
            <a:r>
              <a:rPr lang="en-US" altLang="ko-KR" sz="1400" dirty="0"/>
              <a:t>.</a:t>
            </a:r>
          </a:p>
          <a:p>
            <a:pPr marL="285750" indent="-285750">
              <a:buFontTx/>
              <a:buChar char="-"/>
            </a:pPr>
            <a:r>
              <a:rPr lang="en-US" altLang="ko-KR" sz="1400" dirty="0"/>
              <a:t>pop (delete)</a:t>
            </a:r>
            <a:r>
              <a:rPr lang="ko-KR" altLang="en-US" sz="1400" dirty="0"/>
              <a:t>이 반드시 스레드 하나에서만 실행된다면 </a:t>
            </a:r>
            <a:r>
              <a:rPr lang="en-US" altLang="ko-KR" sz="1400" dirty="0"/>
              <a:t>ABA</a:t>
            </a:r>
            <a:r>
              <a:rPr lang="ko-KR" altLang="en-US" sz="1400" dirty="0"/>
              <a:t>문제를 신경 쓰지 않아도 된다</a:t>
            </a:r>
            <a:r>
              <a:rPr lang="en-US" altLang="ko-KR" sz="1400" dirty="0"/>
              <a:t>.</a:t>
            </a:r>
          </a:p>
          <a:p>
            <a:pPr marL="285750" indent="-285750">
              <a:buFontTx/>
              <a:buChar char="-"/>
            </a:pPr>
            <a:r>
              <a:rPr lang="en-US" altLang="ko-KR" sz="1400" dirty="0"/>
              <a:t>ABA</a:t>
            </a:r>
            <a:r>
              <a:rPr lang="ko-KR" altLang="en-US" sz="1400" dirty="0"/>
              <a:t>문제 해결을 위한 기법</a:t>
            </a:r>
            <a:r>
              <a:rPr lang="en-US" altLang="ko-KR" sz="1400" dirty="0"/>
              <a:t>(EBR, </a:t>
            </a:r>
            <a:r>
              <a:rPr lang="ko-KR" altLang="en-US" sz="1400" dirty="0" err="1"/>
              <a:t>스탬프드</a:t>
            </a:r>
            <a:r>
              <a:rPr lang="ko-KR" altLang="en-US" sz="1400" dirty="0"/>
              <a:t> 노드</a:t>
            </a:r>
            <a:r>
              <a:rPr lang="en-US" altLang="ko-KR" sz="1400" dirty="0"/>
              <a:t>, </a:t>
            </a:r>
            <a:r>
              <a:rPr lang="ko-KR" altLang="en-US" sz="1400" dirty="0" err="1"/>
              <a:t>하자드포인터</a:t>
            </a:r>
            <a:r>
              <a:rPr lang="ko-KR" altLang="en-US" sz="1400" dirty="0"/>
              <a:t> </a:t>
            </a:r>
            <a:r>
              <a:rPr lang="en-US" altLang="ko-KR" sz="1400" dirty="0"/>
              <a:t>…)</a:t>
            </a:r>
            <a:r>
              <a:rPr lang="ko-KR" altLang="en-US" sz="1400" dirty="0"/>
              <a:t>에 발생하는 오버헤드를 없앨 수 있다</a:t>
            </a:r>
            <a:r>
              <a:rPr lang="en-US" altLang="ko-KR" sz="1400" dirty="0"/>
              <a:t>.</a:t>
            </a:r>
          </a:p>
          <a:p>
            <a:pPr marL="285750" indent="-285750">
              <a:buFontTx/>
              <a:buChar char="-"/>
            </a:pPr>
            <a:r>
              <a:rPr lang="ko-KR" altLang="en-US" sz="1400" dirty="0"/>
              <a:t>이러한 내 상황에 맞는 </a:t>
            </a:r>
            <a:r>
              <a:rPr lang="en-US" altLang="ko-KR" sz="1400" dirty="0"/>
              <a:t>Lock-Free</a:t>
            </a:r>
            <a:r>
              <a:rPr lang="ko-KR" altLang="en-US" sz="1400" dirty="0"/>
              <a:t>큐는 찾아서 나오지 않았다</a:t>
            </a:r>
            <a:r>
              <a:rPr lang="en-US" altLang="ko-KR" sz="1400" dirty="0"/>
              <a:t>.</a:t>
            </a:r>
          </a:p>
          <a:p>
            <a:r>
              <a:rPr lang="en-US" altLang="ko-KR" sz="1400" dirty="0"/>
              <a:t>-&gt; </a:t>
            </a:r>
            <a:r>
              <a:rPr lang="ko-KR" altLang="en-US" sz="1400" dirty="0"/>
              <a:t>해결방안</a:t>
            </a:r>
            <a:r>
              <a:rPr lang="en-US" altLang="ko-KR" sz="1400" dirty="0"/>
              <a:t>: </a:t>
            </a:r>
            <a:r>
              <a:rPr lang="ko-KR" altLang="en-US" sz="1400" dirty="0"/>
              <a:t>직접 만든다</a:t>
            </a:r>
            <a:r>
              <a:rPr lang="en-US" altLang="ko-KR" sz="1400" dirty="0"/>
              <a:t>. (</a:t>
            </a:r>
            <a:r>
              <a:rPr lang="ko-KR" altLang="en-US" sz="1400" dirty="0"/>
              <a:t>이 자료구조는 최적화를 위한 노력 파트에서 다시 설명</a:t>
            </a:r>
            <a:r>
              <a:rPr lang="en-US" altLang="ko-KR" sz="1400" dirty="0"/>
              <a:t>)</a:t>
            </a:r>
          </a:p>
          <a:p>
            <a:pPr marL="285750" indent="-285750">
              <a:buFontTx/>
              <a:buChar char="-"/>
            </a:pPr>
            <a:endParaRPr lang="en-US" altLang="ko-KR" sz="1800" dirty="0"/>
          </a:p>
          <a:p>
            <a:pPr marL="342900" indent="-342900">
              <a:buAutoNum type="arabicPeriod"/>
            </a:pPr>
            <a:endParaRPr lang="en-US" altLang="ko-KR" sz="1800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B38974D-8A28-94BE-D8D9-0B4280D7F27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8261" y="2835275"/>
            <a:ext cx="5400675" cy="275521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E67FE59-C091-8DDD-8F48-C769B83A6A41}"/>
              </a:ext>
            </a:extLst>
          </p:cNvPr>
          <p:cNvSpPr txBox="1"/>
          <p:nvPr/>
        </p:nvSpPr>
        <p:spPr>
          <a:xfrm>
            <a:off x="5976938" y="2971800"/>
            <a:ext cx="3495675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직접 작성한 </a:t>
            </a:r>
            <a:r>
              <a:rPr lang="en-US" altLang="ko-KR" dirty="0"/>
              <a:t>MPSC Queue</a:t>
            </a:r>
            <a:r>
              <a:rPr lang="ko-KR" altLang="en-US" dirty="0"/>
              <a:t> 코드의 일부 </a:t>
            </a:r>
            <a:r>
              <a:rPr lang="en-US" altLang="ko-KR" dirty="0"/>
              <a:t>(Multi Producer / Single Consumer</a:t>
            </a:r>
            <a:r>
              <a:rPr lang="ko-KR" altLang="en-US" dirty="0"/>
              <a:t>의 </a:t>
            </a:r>
            <a:r>
              <a:rPr lang="ko-KR" altLang="en-US" dirty="0" err="1"/>
              <a:t>앞글자를</a:t>
            </a:r>
            <a:r>
              <a:rPr lang="ko-KR" altLang="en-US" dirty="0"/>
              <a:t> 따서 </a:t>
            </a:r>
            <a:r>
              <a:rPr lang="ko-KR" altLang="en-US" dirty="0" err="1"/>
              <a:t>이름지었다</a:t>
            </a:r>
            <a:r>
              <a:rPr lang="en-US" altLang="ko-KR" dirty="0"/>
              <a:t>.)</a:t>
            </a:r>
          </a:p>
          <a:p>
            <a:r>
              <a:rPr lang="ko-KR" altLang="en-US" dirty="0"/>
              <a:t>주석은 이때 고민한 내용이며</a:t>
            </a:r>
            <a:endParaRPr lang="en-US" altLang="ko-KR" dirty="0"/>
          </a:p>
          <a:p>
            <a:r>
              <a:rPr lang="ko-KR" altLang="en-US" dirty="0"/>
              <a:t>자세한 코드는 </a:t>
            </a:r>
            <a:r>
              <a:rPr lang="en-US" altLang="ko-KR" dirty="0"/>
              <a:t>MPSCQueue.hpp </a:t>
            </a:r>
            <a:r>
              <a:rPr lang="ko-KR" altLang="en-US" dirty="0"/>
              <a:t>참조</a:t>
            </a:r>
          </a:p>
        </p:txBody>
      </p:sp>
    </p:spTree>
    <p:extLst>
      <p:ext uri="{BB962C8B-B14F-4D97-AF65-F5344CB8AC3E}">
        <p14:creationId xmlns:p14="http://schemas.microsoft.com/office/powerpoint/2010/main" val="334905058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73E0C7D-E086-6211-5472-E7E5F8491E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180288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-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(Lock Free Executor)</a:t>
            </a:r>
            <a:endParaRPr lang="ko-KR" altLang="en-US" sz="2000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A68B929-EEF0-CA81-1E09-8FBEF934BF9F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504000" y="789686"/>
            <a:ext cx="9071640" cy="2045589"/>
          </a:xfrm>
        </p:spPr>
        <p:txBody>
          <a:bodyPr>
            <a:normAutofit fontScale="92500" lnSpcReduction="10000"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altLang="ko-KR" sz="1800" dirty="0"/>
              <a:t>2. </a:t>
            </a:r>
            <a:r>
              <a:rPr lang="ko-KR" altLang="en-US" sz="1800" dirty="0"/>
              <a:t>객체의 이벤트 큐에 이벤트로서 전달할 </a:t>
            </a:r>
            <a:r>
              <a:rPr lang="en-US" altLang="ko-KR" sz="1800" dirty="0"/>
              <a:t>Task </a:t>
            </a:r>
            <a:r>
              <a:rPr lang="ko-KR" altLang="en-US" sz="1800" dirty="0"/>
              <a:t>클래스를 어떻게 만들 것 인가</a:t>
            </a:r>
            <a:r>
              <a:rPr lang="en-US" altLang="ko-KR" sz="1800" dirty="0"/>
              <a:t>?:</a:t>
            </a:r>
          </a:p>
          <a:p>
            <a:pPr>
              <a:lnSpc>
                <a:spcPct val="150000"/>
              </a:lnSpc>
              <a:buFontTx/>
              <a:buChar char="-"/>
            </a:pPr>
            <a:r>
              <a:rPr lang="ko-KR" altLang="en-US" sz="1400" dirty="0"/>
              <a:t>앞서 언급한 </a:t>
            </a:r>
            <a:r>
              <a:rPr lang="en-US" altLang="ko-KR" sz="1400" dirty="0" err="1"/>
              <a:t>ClusterUpdateTask</a:t>
            </a:r>
            <a:r>
              <a:rPr lang="ko-KR" altLang="en-US" sz="1400" dirty="0"/>
              <a:t>와 비슷하게 </a:t>
            </a:r>
            <a:r>
              <a:rPr lang="en-US" altLang="ko-KR" sz="1400" dirty="0"/>
              <a:t>std::function</a:t>
            </a:r>
            <a:r>
              <a:rPr lang="ko-KR" altLang="en-US" sz="1400" dirty="0"/>
              <a:t>을 사용한다면 동적할당</a:t>
            </a:r>
            <a:r>
              <a:rPr lang="en-US" altLang="ko-KR" sz="1400" dirty="0"/>
              <a:t>/</a:t>
            </a:r>
            <a:r>
              <a:rPr lang="ko-KR" altLang="en-US" sz="1400" dirty="0"/>
              <a:t>해제 오버헤드가 발생</a:t>
            </a:r>
            <a:r>
              <a:rPr lang="en-US" altLang="ko-KR" sz="1400" dirty="0"/>
              <a:t>(</a:t>
            </a:r>
            <a:r>
              <a:rPr lang="ko-KR" altLang="en-US" sz="1400" dirty="0" err="1"/>
              <a:t>캡처된</a:t>
            </a:r>
            <a:r>
              <a:rPr lang="ko-KR" altLang="en-US" sz="1400" dirty="0"/>
              <a:t> 변수들 크기가 </a:t>
            </a:r>
            <a:r>
              <a:rPr lang="ko-KR" altLang="en-US" sz="1400" dirty="0" err="1"/>
              <a:t>일정바이트</a:t>
            </a:r>
            <a:r>
              <a:rPr lang="ko-KR" altLang="en-US" sz="1400" dirty="0"/>
              <a:t> 수 이상 넘어가면</a:t>
            </a:r>
            <a:r>
              <a:rPr lang="en-US" altLang="ko-KR" sz="1400" dirty="0"/>
              <a:t>)</a:t>
            </a:r>
          </a:p>
          <a:p>
            <a:pPr>
              <a:lnSpc>
                <a:spcPct val="150000"/>
              </a:lnSpc>
              <a:buFontTx/>
              <a:buChar char="-"/>
            </a:pPr>
            <a:r>
              <a:rPr lang="ko-KR" altLang="en-US" sz="1400" dirty="0"/>
              <a:t>심지어 </a:t>
            </a:r>
            <a:r>
              <a:rPr lang="en-US" altLang="ko-KR" sz="1400" dirty="0"/>
              <a:t>std::function</a:t>
            </a:r>
            <a:r>
              <a:rPr lang="ko-KR" altLang="en-US" sz="1400" dirty="0"/>
              <a:t>객체 자체의 크기가 </a:t>
            </a:r>
            <a:r>
              <a:rPr lang="en-US" altLang="ko-KR" sz="1400" dirty="0"/>
              <a:t>64</a:t>
            </a:r>
            <a:r>
              <a:rPr lang="ko-KR" altLang="en-US" sz="1400" dirty="0"/>
              <a:t>바이트로 제법 크다</a:t>
            </a:r>
            <a:r>
              <a:rPr lang="en-US" altLang="ko-KR" sz="1400" dirty="0"/>
              <a:t>.(</a:t>
            </a:r>
            <a:r>
              <a:rPr lang="ko-KR" altLang="en-US" sz="1400" dirty="0"/>
              <a:t>비주얼 스튜디오 </a:t>
            </a:r>
            <a:r>
              <a:rPr lang="en-US" altLang="ko-KR" sz="1400" dirty="0"/>
              <a:t>C++</a:t>
            </a:r>
            <a:r>
              <a:rPr lang="ko-KR" altLang="en-US" sz="1400" dirty="0"/>
              <a:t>기준</a:t>
            </a:r>
            <a:r>
              <a:rPr lang="en-US" altLang="ko-KR" sz="1400" dirty="0"/>
              <a:t>)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1400" dirty="0"/>
              <a:t>-&gt; </a:t>
            </a:r>
            <a:r>
              <a:rPr lang="ko-KR" altLang="en-US" sz="1400" dirty="0"/>
              <a:t>해결방안</a:t>
            </a:r>
            <a:r>
              <a:rPr lang="en-US" altLang="ko-KR" sz="1400" dirty="0"/>
              <a:t>: </a:t>
            </a:r>
            <a:r>
              <a:rPr lang="ko-KR" altLang="en-US" sz="1400" dirty="0" err="1"/>
              <a:t>캡처된</a:t>
            </a:r>
            <a:r>
              <a:rPr lang="ko-KR" altLang="en-US" sz="1400" dirty="0"/>
              <a:t> </a:t>
            </a:r>
            <a:r>
              <a:rPr lang="ko-KR" altLang="en-US" sz="1400" dirty="0" err="1"/>
              <a:t>함수포인터와</a:t>
            </a:r>
            <a:r>
              <a:rPr lang="ko-KR" altLang="en-US" sz="1400" dirty="0"/>
              <a:t> 매개변수들을 고성능 커스텀 메모리풀</a:t>
            </a:r>
            <a:r>
              <a:rPr lang="en-US" altLang="ko-KR" sz="1400" dirty="0"/>
              <a:t>(je malloc </a:t>
            </a:r>
            <a:r>
              <a:rPr lang="ko-KR" altLang="en-US" sz="1400" dirty="0"/>
              <a:t>라이브러리 사용</a:t>
            </a:r>
            <a:r>
              <a:rPr lang="en-US" altLang="ko-KR" sz="1400" dirty="0"/>
              <a:t>)</a:t>
            </a:r>
            <a:r>
              <a:rPr lang="ko-KR" altLang="en-US" sz="1400" dirty="0"/>
              <a:t>에서 할당 받은 공간에 저장 후 해당 공간을 가리키는 </a:t>
            </a:r>
            <a:r>
              <a:rPr lang="en-US" altLang="ko-KR" sz="1400" dirty="0"/>
              <a:t>void </a:t>
            </a:r>
            <a:r>
              <a:rPr lang="ko-KR" altLang="en-US" sz="1400" dirty="0"/>
              <a:t>포인터를 멤버변수로 둔다</a:t>
            </a:r>
            <a:r>
              <a:rPr lang="en-US" altLang="ko-KR" sz="1400" dirty="0"/>
              <a:t>(8</a:t>
            </a:r>
            <a:r>
              <a:rPr lang="ko-KR" altLang="en-US" sz="1400" dirty="0"/>
              <a:t>바이트</a:t>
            </a:r>
            <a:r>
              <a:rPr lang="en-US" altLang="ko-KR" sz="1400" dirty="0"/>
              <a:t>), </a:t>
            </a:r>
            <a:r>
              <a:rPr lang="ko-KR" altLang="en-US" sz="1400" dirty="0"/>
              <a:t>그리고 해당 메모리공간을 참조하여 저장해둔 </a:t>
            </a:r>
            <a:r>
              <a:rPr lang="ko-KR" altLang="en-US" sz="1400" dirty="0" err="1"/>
              <a:t>함수포인터를</a:t>
            </a:r>
            <a:r>
              <a:rPr lang="ko-KR" altLang="en-US" sz="1400" dirty="0"/>
              <a:t> 실행시킬 </a:t>
            </a:r>
            <a:r>
              <a:rPr lang="ko-KR" altLang="en-US" sz="1400" dirty="0" err="1"/>
              <a:t>함수포인터를</a:t>
            </a:r>
            <a:r>
              <a:rPr lang="ko-KR" altLang="en-US" sz="1400" dirty="0"/>
              <a:t> 멤버변수로</a:t>
            </a:r>
            <a:r>
              <a:rPr lang="en-US" altLang="ko-KR" sz="1400" dirty="0"/>
              <a:t>(8</a:t>
            </a:r>
            <a:r>
              <a:rPr lang="ko-KR" altLang="en-US" sz="1400" dirty="0"/>
              <a:t>바이트</a:t>
            </a:r>
            <a:r>
              <a:rPr lang="en-US" altLang="ko-KR" sz="1400" dirty="0"/>
              <a:t>)</a:t>
            </a:r>
            <a:r>
              <a:rPr lang="ko-KR" altLang="en-US" sz="1400" dirty="0"/>
              <a:t> 가진 총 </a:t>
            </a:r>
            <a:r>
              <a:rPr lang="en-US" altLang="ko-KR" sz="1400" dirty="0"/>
              <a:t>16</a:t>
            </a:r>
            <a:r>
              <a:rPr lang="ko-KR" altLang="en-US" sz="1400" dirty="0"/>
              <a:t>바이트 크기의 </a:t>
            </a:r>
            <a:r>
              <a:rPr lang="en-US" altLang="ko-KR" sz="1400" dirty="0"/>
              <a:t>Task </a:t>
            </a:r>
            <a:r>
              <a:rPr lang="ko-KR" altLang="en-US" sz="1400" dirty="0"/>
              <a:t>클래스를 직접 만든다</a:t>
            </a:r>
            <a:r>
              <a:rPr lang="en-US" altLang="ko-KR" sz="1400" dirty="0"/>
              <a:t>. </a:t>
            </a:r>
          </a:p>
          <a:p>
            <a:pPr marL="0" indent="0">
              <a:buNone/>
            </a:pPr>
            <a:endParaRPr lang="ko-KR" altLang="en-US" sz="1800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D8645EC0-25F0-D3F8-AA37-47D8D63F470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8287" y="2835275"/>
            <a:ext cx="4706637" cy="273843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F0CB0D8-80F9-06A2-B10B-F64F1D2DB28A}"/>
              </a:ext>
            </a:extLst>
          </p:cNvPr>
          <p:cNvSpPr txBox="1"/>
          <p:nvPr/>
        </p:nvSpPr>
        <p:spPr>
          <a:xfrm>
            <a:off x="5267324" y="2844508"/>
            <a:ext cx="367665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해당 클래스 구현 내용의 일부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전체코드는 </a:t>
            </a:r>
            <a:r>
              <a:rPr lang="en-US" altLang="ko-KR" dirty="0" err="1"/>
              <a:t>Task.h</a:t>
            </a:r>
            <a:r>
              <a:rPr lang="en-US" altLang="ko-KR" dirty="0"/>
              <a:t> </a:t>
            </a:r>
            <a:r>
              <a:rPr lang="ko-KR" altLang="en-US" dirty="0"/>
              <a:t>참조</a:t>
            </a:r>
            <a:endParaRPr lang="en-US" altLang="ko-KR" dirty="0"/>
          </a:p>
          <a:p>
            <a:r>
              <a:rPr lang="en-US" altLang="ko-KR" dirty="0"/>
              <a:t>std::function</a:t>
            </a:r>
            <a:r>
              <a:rPr lang="ko-KR" altLang="en-US" dirty="0"/>
              <a:t>에 비해 빨라진 성능은 뒤의 챕터에서 다시 언급</a:t>
            </a:r>
          </a:p>
        </p:txBody>
      </p:sp>
    </p:spTree>
    <p:extLst>
      <p:ext uri="{BB962C8B-B14F-4D97-AF65-F5344CB8AC3E}">
        <p14:creationId xmlns:p14="http://schemas.microsoft.com/office/powerpoint/2010/main" val="369428680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2785D05-EF2B-1521-1145-3ED9EEF3EA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3988" y="88754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(Lock Free Executor)</a:t>
            </a:r>
            <a:endParaRPr lang="ko-KR" altLang="en-US" sz="2000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64CDD46-C30F-3B08-0C26-EACCC54C2C56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403988" y="655243"/>
            <a:ext cx="9071640" cy="1500215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altLang="ko-KR" sz="1800" dirty="0"/>
              <a:t>3. Lock Free Executor</a:t>
            </a:r>
            <a:r>
              <a:rPr lang="ko-KR" altLang="en-US" sz="1800" dirty="0"/>
              <a:t>의 이벤트 큐에 처리해야 할 일이 남아있는데 </a:t>
            </a:r>
            <a:r>
              <a:rPr lang="en-US" altLang="ko-KR" sz="1800" dirty="0"/>
              <a:t>LFE</a:t>
            </a:r>
            <a:r>
              <a:rPr lang="ko-KR" altLang="en-US" sz="1800" dirty="0"/>
              <a:t>를 소유한 객체</a:t>
            </a:r>
            <a:r>
              <a:rPr lang="en-US" altLang="ko-KR" sz="1800" dirty="0"/>
              <a:t>(</a:t>
            </a:r>
            <a:r>
              <a:rPr lang="ko-KR" altLang="en-US" sz="1800" dirty="0"/>
              <a:t>예</a:t>
            </a:r>
            <a:r>
              <a:rPr lang="en-US" altLang="ko-KR" sz="1800" dirty="0"/>
              <a:t>: </a:t>
            </a:r>
            <a:r>
              <a:rPr lang="ko-KR" altLang="en-US" sz="1800" dirty="0"/>
              <a:t>몬스터</a:t>
            </a:r>
            <a:r>
              <a:rPr lang="en-US" altLang="ko-KR" sz="1800" dirty="0"/>
              <a:t>, </a:t>
            </a:r>
            <a:r>
              <a:rPr lang="ko-KR" altLang="en-US" sz="1800" dirty="0"/>
              <a:t>플레이어 등</a:t>
            </a:r>
            <a:r>
              <a:rPr lang="en-US" altLang="ko-KR" sz="1800" dirty="0"/>
              <a:t>…)</a:t>
            </a:r>
            <a:r>
              <a:rPr lang="ko-KR" altLang="en-US" sz="1800" dirty="0"/>
              <a:t> 가 해제된다면</a:t>
            </a:r>
            <a:r>
              <a:rPr lang="en-US" altLang="ko-KR" sz="1800" dirty="0"/>
              <a:t>?:</a:t>
            </a:r>
          </a:p>
          <a:p>
            <a:pPr>
              <a:buFontTx/>
              <a:buChar char="-"/>
            </a:pPr>
            <a:r>
              <a:rPr lang="en-US" altLang="ko-KR" sz="1000" dirty="0"/>
              <a:t>LFE</a:t>
            </a:r>
            <a:r>
              <a:rPr lang="ko-KR" altLang="en-US" sz="1000" dirty="0"/>
              <a:t>를 컴포넌트로 두고 이 컴포넌트를 소유한 오브젝트의 </a:t>
            </a:r>
            <a:r>
              <a:rPr lang="en-US" altLang="ko-KR" sz="1000" dirty="0" err="1"/>
              <a:t>shared_ptr</a:t>
            </a:r>
            <a:r>
              <a:rPr lang="ko-KR" altLang="en-US" sz="1000" dirty="0"/>
              <a:t>을 일감</a:t>
            </a:r>
            <a:r>
              <a:rPr lang="en-US" altLang="ko-KR" sz="1000" dirty="0"/>
              <a:t>(Task </a:t>
            </a:r>
            <a:r>
              <a:rPr lang="ko-KR" altLang="en-US" sz="1000" dirty="0"/>
              <a:t>클래스</a:t>
            </a:r>
            <a:r>
              <a:rPr lang="en-US" altLang="ko-KR" sz="1000" dirty="0"/>
              <a:t>)</a:t>
            </a:r>
            <a:r>
              <a:rPr lang="ko-KR" altLang="en-US" sz="1000" dirty="0"/>
              <a:t> 자체에 복사하여 </a:t>
            </a:r>
            <a:r>
              <a:rPr lang="ko-KR" altLang="en-US" sz="1000" dirty="0" err="1"/>
              <a:t>랩핑</a:t>
            </a:r>
            <a:r>
              <a:rPr lang="ko-KR" altLang="en-US" sz="1000" dirty="0"/>
              <a:t> 한다</a:t>
            </a:r>
            <a:r>
              <a:rPr lang="en-US" altLang="ko-KR" sz="1000" dirty="0"/>
              <a:t>. </a:t>
            </a:r>
            <a:r>
              <a:rPr lang="ko-KR" altLang="en-US" sz="1000" dirty="0"/>
              <a:t>이 때 </a:t>
            </a:r>
            <a:r>
              <a:rPr lang="en-US" altLang="ko-KR" sz="1000" dirty="0"/>
              <a:t>std::move</a:t>
            </a:r>
            <a:r>
              <a:rPr lang="ko-KR" altLang="en-US" sz="1000" dirty="0"/>
              <a:t>가 사용 가능한 상황이라면 </a:t>
            </a:r>
            <a:r>
              <a:rPr lang="ko-KR" altLang="en-US" sz="1000" dirty="0" err="1"/>
              <a:t>이동대입연산자</a:t>
            </a:r>
            <a:r>
              <a:rPr lang="ko-KR" altLang="en-US" sz="1000" dirty="0"/>
              <a:t> 또는 이동생성자를 최대한 이용하여 </a:t>
            </a:r>
            <a:r>
              <a:rPr lang="en-US" altLang="ko-KR" sz="1000" dirty="0" err="1"/>
              <a:t>shared_ptr</a:t>
            </a:r>
            <a:r>
              <a:rPr lang="ko-KR" altLang="en-US" sz="1000" dirty="0"/>
              <a:t>의 복사 오버헤드를 줄인다</a:t>
            </a:r>
            <a:r>
              <a:rPr lang="en-US" altLang="ko-KR" sz="1000" dirty="0"/>
              <a:t>.</a:t>
            </a:r>
          </a:p>
          <a:p>
            <a:pPr>
              <a:buFontTx/>
              <a:buChar char="-"/>
            </a:pPr>
            <a:r>
              <a:rPr lang="ko-KR" altLang="en-US" sz="1000" dirty="0"/>
              <a:t>이 때 </a:t>
            </a:r>
            <a:r>
              <a:rPr lang="ko-KR" altLang="en-US" sz="1000" dirty="0" err="1"/>
              <a:t>순환참조</a:t>
            </a:r>
            <a:r>
              <a:rPr lang="ko-KR" altLang="en-US" sz="1000" dirty="0"/>
              <a:t> 문제가 발생할 수 있기 때문에 객체의 이벤트 큐 실행 시 반드시 </a:t>
            </a:r>
            <a:r>
              <a:rPr lang="en-US" altLang="ko-KR" sz="1000" dirty="0"/>
              <a:t>flush</a:t>
            </a:r>
            <a:r>
              <a:rPr lang="ko-KR" altLang="en-US" sz="1000" dirty="0"/>
              <a:t>하도록 한다</a:t>
            </a:r>
            <a:r>
              <a:rPr lang="en-US" altLang="ko-KR" sz="1000" dirty="0"/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68D9073C-BFBA-A68C-ABB0-A7357F29D4B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808" y="1892327"/>
            <a:ext cx="3898074" cy="222047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8F9513B-89FC-3FB6-09FF-3350189C0467}"/>
              </a:ext>
            </a:extLst>
          </p:cNvPr>
          <p:cNvSpPr txBox="1"/>
          <p:nvPr/>
        </p:nvSpPr>
        <p:spPr>
          <a:xfrm>
            <a:off x="-47593" y="4114632"/>
            <a:ext cx="4206875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참고한 </a:t>
            </a:r>
            <a:r>
              <a:rPr lang="en-US" altLang="ko-KR" sz="1000" dirty="0"/>
              <a:t>ppt </a:t>
            </a:r>
            <a:r>
              <a:rPr lang="ko-KR" altLang="en-US" sz="1000" dirty="0"/>
              <a:t>자료</a:t>
            </a:r>
            <a:endParaRPr lang="en-US" altLang="ko-KR" sz="1000" dirty="0"/>
          </a:p>
          <a:p>
            <a:r>
              <a:rPr lang="en-US" altLang="ko-KR" sz="1000" dirty="0"/>
              <a:t>(</a:t>
            </a:r>
            <a:r>
              <a:rPr lang="ko-KR" altLang="en-US" sz="1000" dirty="0"/>
              <a:t>출처</a:t>
            </a:r>
            <a:r>
              <a:rPr lang="en-US" altLang="ko-KR" sz="1000" dirty="0"/>
              <a:t>: </a:t>
            </a:r>
            <a:r>
              <a:rPr lang="en-US" altLang="ko-KR" sz="1000" dirty="0">
                <a:hlinkClick r:id="rId3"/>
              </a:rPr>
              <a:t>https://www.slideshare.net/slideshow/mmorpg-106391346/106391346</a:t>
            </a:r>
            <a:r>
              <a:rPr lang="en-US" altLang="ko-KR" sz="1000" dirty="0"/>
              <a:t>) </a:t>
            </a:r>
            <a:r>
              <a:rPr lang="ko-KR" altLang="en-US" sz="1000" dirty="0"/>
              <a:t>페이지 </a:t>
            </a:r>
            <a:r>
              <a:rPr lang="en-US" altLang="ko-KR" sz="1000" dirty="0"/>
              <a:t>53</a:t>
            </a:r>
          </a:p>
          <a:p>
            <a:r>
              <a:rPr lang="ko-KR" altLang="en-US" sz="1000" dirty="0"/>
              <a:t>해당 자료에서 </a:t>
            </a:r>
            <a:r>
              <a:rPr lang="en-US" altLang="ko-KR" sz="1000" dirty="0" err="1"/>
              <a:t>m_Creature</a:t>
            </a:r>
            <a:r>
              <a:rPr lang="en-US" altLang="ko-KR" sz="1000" dirty="0"/>
              <a:t> </a:t>
            </a:r>
            <a:r>
              <a:rPr lang="ko-KR" altLang="en-US" sz="1000" dirty="0"/>
              <a:t>포인터가 실제 구현에서는 </a:t>
            </a:r>
            <a:r>
              <a:rPr lang="en-US" altLang="ko-KR" sz="1000" dirty="0" err="1"/>
              <a:t>shared_ptr</a:t>
            </a:r>
            <a:r>
              <a:rPr lang="en-US" altLang="ko-KR" sz="1000" dirty="0"/>
              <a:t> </a:t>
            </a:r>
            <a:r>
              <a:rPr lang="ko-KR" altLang="en-US" sz="1000" dirty="0"/>
              <a:t>같이 객체의 수명을 보장할 수 있는 멤버변수로 추정된다</a:t>
            </a:r>
            <a:r>
              <a:rPr lang="en-US" altLang="ko-KR" sz="1000" dirty="0"/>
              <a:t>.</a:t>
            </a:r>
            <a:endParaRPr lang="ko-KR" altLang="en-US" sz="1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70D8646-7102-2600-D56A-DFA4CAC6FFE8}"/>
              </a:ext>
            </a:extLst>
          </p:cNvPr>
          <p:cNvSpPr txBox="1"/>
          <p:nvPr/>
        </p:nvSpPr>
        <p:spPr>
          <a:xfrm>
            <a:off x="4066080" y="2862353"/>
            <a:ext cx="62180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 err="1"/>
              <a:t>ㅡ</a:t>
            </a:r>
            <a:r>
              <a:rPr lang="en-US" altLang="ko-KR" sz="2000" dirty="0"/>
              <a:t>&gt;</a:t>
            </a:r>
            <a:endParaRPr lang="ko-KR" altLang="en-US" sz="2000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FB81292F-2668-2592-BE60-8CDA22E1313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87886" y="4254745"/>
            <a:ext cx="5392738" cy="1374106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55E5C3D8-F984-F367-D652-C9BFDDC2CBE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87887" y="2123956"/>
            <a:ext cx="5392737" cy="2130789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C77B3401-C242-B016-FA73-313E3752E16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4609" y="2139707"/>
            <a:ext cx="2786015" cy="2130789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4B1B69CF-6D09-C788-DC8B-DDEBC8D683D2}"/>
              </a:ext>
            </a:extLst>
          </p:cNvPr>
          <p:cNvSpPr txBox="1"/>
          <p:nvPr/>
        </p:nvSpPr>
        <p:spPr>
          <a:xfrm>
            <a:off x="6319858" y="1723846"/>
            <a:ext cx="383877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Task </a:t>
            </a:r>
            <a:r>
              <a:rPr lang="ko-KR" altLang="en-US" sz="1000" dirty="0"/>
              <a:t>전달 시 </a:t>
            </a:r>
            <a:r>
              <a:rPr lang="en-US" altLang="ko-KR" sz="1000" dirty="0" err="1"/>
              <a:t>shared_ptr</a:t>
            </a:r>
            <a:r>
              <a:rPr lang="en-US" altLang="ko-KR" sz="1000" dirty="0"/>
              <a:t> </a:t>
            </a:r>
            <a:r>
              <a:rPr lang="ko-KR" altLang="en-US" sz="1000" dirty="0"/>
              <a:t>복사 및 이동과 소유 오브젝트의 수명 보장을 위한 노력의 일부분 </a:t>
            </a:r>
            <a:r>
              <a:rPr lang="en-US" altLang="ko-KR" sz="1000" dirty="0" err="1"/>
              <a:t>IocpObject.h</a:t>
            </a:r>
            <a:r>
              <a:rPr lang="en-US" altLang="ko-KR" sz="1000" dirty="0"/>
              <a:t> </a:t>
            </a:r>
            <a:r>
              <a:rPr lang="ko-KR" altLang="en-US" sz="1000" dirty="0"/>
              <a:t>및 </a:t>
            </a:r>
            <a:r>
              <a:rPr lang="en-US" altLang="ko-KR" sz="1000" dirty="0" err="1"/>
              <a:t>cpp</a:t>
            </a:r>
            <a:r>
              <a:rPr lang="ko-KR" altLang="en-US" sz="1000" dirty="0"/>
              <a:t> 참조</a:t>
            </a:r>
          </a:p>
        </p:txBody>
      </p:sp>
    </p:spTree>
    <p:extLst>
      <p:ext uri="{BB962C8B-B14F-4D97-AF65-F5344CB8AC3E}">
        <p14:creationId xmlns:p14="http://schemas.microsoft.com/office/powerpoint/2010/main" val="382491742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8AAD3F9-B6D1-4273-0BF5-9211FB9F74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166001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</a:t>
            </a:r>
            <a:r>
              <a:rPr lang="ko-KR" altLang="en-US" sz="2000" dirty="0"/>
              <a:t>컴포넌트 패턴</a:t>
            </a:r>
            <a:r>
              <a:rPr lang="en-US" altLang="ko-KR" sz="2000" dirty="0"/>
              <a:t>)</a:t>
            </a:r>
            <a:endParaRPr lang="ko-KR" altLang="en-US" sz="2000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74999B7-3000-67EF-BE0C-7E4F8A6F21BD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228600" y="864638"/>
            <a:ext cx="9347040" cy="1107037"/>
          </a:xfrm>
        </p:spPr>
        <p:txBody>
          <a:bodyPr>
            <a:normAutofit fontScale="92500"/>
          </a:bodyPr>
          <a:lstStyle/>
          <a:p>
            <a:pPr lvl="1">
              <a:buFontTx/>
              <a:buChar char="-"/>
            </a:pPr>
            <a:r>
              <a:rPr lang="ko-KR" altLang="en-US" sz="1800" dirty="0"/>
              <a:t>개요</a:t>
            </a:r>
            <a:r>
              <a:rPr lang="en-US" altLang="ko-KR" sz="1800" dirty="0"/>
              <a:t>:</a:t>
            </a:r>
          </a:p>
          <a:p>
            <a:pPr marL="457200" lvl="1" indent="0">
              <a:buNone/>
            </a:pPr>
            <a:r>
              <a:rPr lang="en-US" altLang="ko-KR" sz="1400" dirty="0"/>
              <a:t>Player,</a:t>
            </a:r>
            <a:r>
              <a:rPr lang="ko-KR" altLang="en-US" sz="1400" dirty="0"/>
              <a:t> </a:t>
            </a:r>
            <a:r>
              <a:rPr lang="en-US" altLang="ko-KR" sz="1400" dirty="0"/>
              <a:t>Monster,</a:t>
            </a:r>
            <a:r>
              <a:rPr lang="ko-KR" altLang="en-US" sz="1400" dirty="0"/>
              <a:t> </a:t>
            </a:r>
            <a:r>
              <a:rPr lang="en-US" altLang="ko-KR" sz="1400" dirty="0"/>
              <a:t>Item</a:t>
            </a:r>
            <a:r>
              <a:rPr lang="ko-KR" altLang="en-US" sz="1400" dirty="0"/>
              <a:t> 구분 없이 모든 객체는 </a:t>
            </a:r>
            <a:r>
              <a:rPr lang="en-US" altLang="ko-KR" sz="1400" dirty="0" err="1"/>
              <a:t>ContentsEntity</a:t>
            </a:r>
            <a:r>
              <a:rPr lang="ko-KR" altLang="en-US" sz="1400" dirty="0"/>
              <a:t>이고</a:t>
            </a:r>
            <a:r>
              <a:rPr lang="en-US" altLang="ko-KR" sz="1400" dirty="0"/>
              <a:t> </a:t>
            </a:r>
            <a:r>
              <a:rPr lang="ko-KR" altLang="en-US" sz="1400" dirty="0"/>
              <a:t>관련된 기능들은 전부 컴포넌트로 추가하여 상속 없이 특정 기능을 수행 하는 객체를 만들어낸다</a:t>
            </a:r>
            <a:r>
              <a:rPr lang="en-US" altLang="ko-KR" sz="1400" dirty="0"/>
              <a:t>.</a:t>
            </a:r>
          </a:p>
          <a:p>
            <a:pPr marL="457200" lvl="1" indent="0">
              <a:buNone/>
            </a:pPr>
            <a:r>
              <a:rPr lang="ko-KR" altLang="en-US" sz="1400" dirty="0"/>
              <a:t>예를 들어 </a:t>
            </a:r>
            <a:r>
              <a:rPr lang="en-US" altLang="ko-KR" sz="1400" dirty="0"/>
              <a:t>Player</a:t>
            </a:r>
            <a:r>
              <a:rPr lang="ko-KR" altLang="en-US" sz="1400" dirty="0"/>
              <a:t>라면 </a:t>
            </a:r>
            <a:r>
              <a:rPr lang="en-US" altLang="ko-KR" sz="1400" dirty="0"/>
              <a:t>HP, Move, Inventory </a:t>
            </a:r>
            <a:r>
              <a:rPr lang="ko-KR" altLang="en-US" sz="1400" dirty="0"/>
              <a:t>등의 클래스들을 전부 컴포넌트로서 만들고 해당 컴포넌트들의 조합으로 표현하고 그 기능이 필요하다면 </a:t>
            </a:r>
            <a:r>
              <a:rPr lang="en-US" altLang="ko-KR" sz="1400" dirty="0" err="1"/>
              <a:t>ContentsEntity</a:t>
            </a:r>
            <a:r>
              <a:rPr lang="ko-KR" altLang="en-US" sz="1400" dirty="0"/>
              <a:t>가 가진 컴포넌트 컨테이너에서 </a:t>
            </a:r>
            <a:r>
              <a:rPr lang="en-US" altLang="ko-KR" sz="1400" dirty="0"/>
              <a:t>HP </a:t>
            </a:r>
            <a:r>
              <a:rPr lang="ko-KR" altLang="en-US" sz="1400" dirty="0"/>
              <a:t>컴포넌트를 찾아서 이용하는 방식 </a:t>
            </a:r>
            <a:endParaRPr lang="en-US" altLang="ko-KR" sz="1400" dirty="0"/>
          </a:p>
          <a:p>
            <a:pPr marL="457200" lvl="1" indent="0">
              <a:buNone/>
            </a:pPr>
            <a:endParaRPr lang="en-US" altLang="ko-KR" sz="18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6D377C3-EE09-12EB-16F8-5C9CC3353DFA}"/>
              </a:ext>
            </a:extLst>
          </p:cNvPr>
          <p:cNvSpPr txBox="1"/>
          <p:nvPr/>
        </p:nvSpPr>
        <p:spPr>
          <a:xfrm>
            <a:off x="504000" y="2214563"/>
            <a:ext cx="7877175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ko-KR" altLang="en-US" dirty="0"/>
              <a:t>나는 왜 이렇게 하였는가</a:t>
            </a:r>
            <a:r>
              <a:rPr lang="en-US" altLang="ko-KR" dirty="0"/>
              <a:t>?:</a:t>
            </a:r>
          </a:p>
          <a:p>
            <a:r>
              <a:rPr lang="ko-KR" altLang="en-US" sz="1600" dirty="0"/>
              <a:t>이전에는 </a:t>
            </a:r>
            <a:r>
              <a:rPr lang="en-US" altLang="ko-KR" sz="1600" dirty="0"/>
              <a:t>Object </a:t>
            </a:r>
            <a:r>
              <a:rPr lang="ko-KR" altLang="en-US" sz="1600" dirty="0"/>
              <a:t>클래스를 만들고 </a:t>
            </a:r>
            <a:r>
              <a:rPr lang="en-US" altLang="ko-KR" sz="1600" dirty="0"/>
              <a:t>Player</a:t>
            </a:r>
            <a:r>
              <a:rPr lang="ko-KR" altLang="en-US" sz="1600" dirty="0"/>
              <a:t>를 만들기 위해 </a:t>
            </a:r>
            <a:r>
              <a:rPr lang="en-US" altLang="ko-KR" sz="1600" dirty="0"/>
              <a:t>Object </a:t>
            </a:r>
            <a:r>
              <a:rPr lang="ko-KR" altLang="en-US" sz="1600" dirty="0"/>
              <a:t>클래스를 상속받은 </a:t>
            </a:r>
            <a:r>
              <a:rPr lang="en-US" altLang="ko-KR" sz="1600" dirty="0"/>
              <a:t>Player </a:t>
            </a:r>
            <a:r>
              <a:rPr lang="ko-KR" altLang="en-US" sz="1600" dirty="0"/>
              <a:t>클래스를 만들고 거기서 다시 전사를 만들기 위해 </a:t>
            </a:r>
            <a:r>
              <a:rPr lang="en-US" altLang="ko-KR" sz="1600" dirty="0"/>
              <a:t>Warrior </a:t>
            </a:r>
            <a:r>
              <a:rPr lang="ko-KR" altLang="en-US" sz="1600" dirty="0"/>
              <a:t>클래스를 </a:t>
            </a:r>
            <a:r>
              <a:rPr lang="en-US" altLang="ko-KR" sz="1600" dirty="0"/>
              <a:t>Player</a:t>
            </a:r>
            <a:r>
              <a:rPr lang="ko-KR" altLang="en-US" sz="1600" dirty="0"/>
              <a:t>를 상속받아 만들었음</a:t>
            </a:r>
            <a:r>
              <a:rPr lang="en-US" altLang="ko-KR" sz="1600" dirty="0"/>
              <a:t> </a:t>
            </a:r>
            <a:r>
              <a:rPr lang="ko-KR" altLang="en-US" sz="1600" dirty="0"/>
              <a:t>몬스터의 경우도 같은 과정으로 만듦</a:t>
            </a:r>
            <a:r>
              <a:rPr lang="en-US" altLang="ko-KR" sz="1600" dirty="0"/>
              <a:t>. </a:t>
            </a:r>
            <a:r>
              <a:rPr lang="ko-KR" altLang="en-US" sz="1600" dirty="0"/>
              <a:t>하지만 이럴 경우 </a:t>
            </a:r>
            <a:r>
              <a:rPr lang="en-US" altLang="ko-KR" sz="1600" dirty="0"/>
              <a:t>Object </a:t>
            </a:r>
            <a:r>
              <a:rPr lang="ko-KR" altLang="en-US" sz="1600" dirty="0"/>
              <a:t>클래스에 사소한 변경이라도 발생 했을 경우 모든 자식클래스에 영향을 미치고</a:t>
            </a:r>
            <a:r>
              <a:rPr lang="en-US" altLang="ko-KR" sz="1600" dirty="0"/>
              <a:t> </a:t>
            </a:r>
            <a:r>
              <a:rPr lang="ko-KR" altLang="en-US" sz="1600" dirty="0"/>
              <a:t>또한 </a:t>
            </a:r>
            <a:r>
              <a:rPr lang="en-US" altLang="ko-KR" sz="1600" dirty="0"/>
              <a:t>Player </a:t>
            </a:r>
            <a:r>
              <a:rPr lang="ko-KR" altLang="en-US" sz="1600" dirty="0"/>
              <a:t>클래스에 이동 로직이 있었는데 </a:t>
            </a:r>
            <a:r>
              <a:rPr lang="en-US" altLang="ko-KR" sz="1600" dirty="0"/>
              <a:t>Monster</a:t>
            </a:r>
            <a:r>
              <a:rPr lang="ko-KR" altLang="en-US" sz="1600" dirty="0"/>
              <a:t>에도 이동 로직이 필요했으나 </a:t>
            </a:r>
            <a:r>
              <a:rPr lang="en-US" altLang="ko-KR" sz="1600" dirty="0"/>
              <a:t>Player</a:t>
            </a:r>
            <a:r>
              <a:rPr lang="ko-KR" altLang="en-US" sz="1600" dirty="0"/>
              <a:t>를 상속받아 </a:t>
            </a:r>
            <a:r>
              <a:rPr lang="en-US" altLang="ko-KR" sz="1600" dirty="0"/>
              <a:t>Monster</a:t>
            </a:r>
            <a:r>
              <a:rPr lang="ko-KR" altLang="en-US" sz="1600" dirty="0"/>
              <a:t>를 만들기엔 불필요한 로직을 너무 많이 상속받아야 했고 몬스터 중에는 이동하지 않거나 다르게 이동하는 몬스터도 존재했기에 상속의 단점을 크게 체감하였고</a:t>
            </a:r>
            <a:r>
              <a:rPr lang="en-US" altLang="ko-KR" sz="1600" dirty="0"/>
              <a:t> </a:t>
            </a:r>
            <a:r>
              <a:rPr lang="ko-KR" altLang="en-US" sz="1600" dirty="0"/>
              <a:t>그래서 </a:t>
            </a:r>
            <a:r>
              <a:rPr lang="en-US" altLang="ko-KR" sz="1600" dirty="0"/>
              <a:t> </a:t>
            </a:r>
            <a:r>
              <a:rPr lang="ko-KR" altLang="en-US" sz="1600" dirty="0"/>
              <a:t>컴포넌트 기반설계라면 해당 기능을 전부 모듈화 하여 필요한 부분만 얼마든지 재사용이 가능하다고 생각하였다</a:t>
            </a:r>
            <a:r>
              <a:rPr lang="en-US" altLang="ko-KR" sz="1600" dirty="0"/>
              <a:t>.</a:t>
            </a:r>
            <a:r>
              <a:rPr lang="ko-KR" altLang="en-US" sz="16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59203258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844A1C1-1A90-49D7-5A82-F4A267915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</a:t>
            </a:r>
            <a:r>
              <a:rPr lang="ko-KR" altLang="en-US" sz="2000" dirty="0"/>
              <a:t>컴포넌트 패턴</a:t>
            </a:r>
            <a:r>
              <a:rPr lang="en-US" altLang="ko-KR" sz="2000" dirty="0"/>
              <a:t>)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38EE33F-24D8-9AA8-94F3-95CDE4FA866F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137288" y="1531005"/>
            <a:ext cx="9071640" cy="946440"/>
          </a:xfrm>
        </p:spPr>
        <p:txBody>
          <a:bodyPr>
            <a:normAutofit/>
          </a:bodyPr>
          <a:lstStyle/>
          <a:p>
            <a:pPr marL="285750" indent="-285750">
              <a:buFontTx/>
              <a:buChar char="-"/>
            </a:pPr>
            <a:r>
              <a:rPr lang="ko-KR" altLang="en-US" sz="1800" dirty="0"/>
              <a:t>이걸 어떻게 구현하였나</a:t>
            </a:r>
            <a:r>
              <a:rPr lang="en-US" altLang="ko-KR" sz="1800" dirty="0"/>
              <a:t>?:</a:t>
            </a:r>
          </a:p>
          <a:p>
            <a:r>
              <a:rPr lang="en-US" altLang="ko-KR" sz="1800" dirty="0" err="1"/>
              <a:t>ContentsEntity</a:t>
            </a:r>
            <a:r>
              <a:rPr lang="en-US" altLang="ko-KR" sz="1800" dirty="0"/>
              <a:t> </a:t>
            </a:r>
            <a:r>
              <a:rPr lang="ko-KR" altLang="en-US" sz="1800" dirty="0"/>
              <a:t>클래스에 컴포넌트들을 조합하여 특정한 객체를 생성하게 하였다</a:t>
            </a:r>
            <a:r>
              <a:rPr lang="en-US" altLang="ko-KR" sz="1800" dirty="0"/>
              <a:t>.</a:t>
            </a:r>
            <a:r>
              <a:rPr lang="ko-KR" altLang="en-US" sz="1800" dirty="0"/>
              <a:t> </a:t>
            </a:r>
            <a:endParaRPr lang="en-US" altLang="ko-KR" sz="1800" dirty="0"/>
          </a:p>
          <a:p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6B05C1E4-3B64-C765-EA54-CA50527C4F3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837" y="1940581"/>
            <a:ext cx="4460876" cy="3452157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CC8CB52F-4475-3AF0-33D3-C9D6AA5977C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57713" y="1940581"/>
            <a:ext cx="3733800" cy="16764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74226EA-5DEC-D5E4-93E8-6E2CBA497418}"/>
              </a:ext>
            </a:extLst>
          </p:cNvPr>
          <p:cNvSpPr txBox="1"/>
          <p:nvPr/>
        </p:nvSpPr>
        <p:spPr>
          <a:xfrm>
            <a:off x="4673108" y="3616981"/>
            <a:ext cx="4262437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필요한 기능들을 전부 컴포넌트로 만들고 그 컴포넌트들의 조합으로 </a:t>
            </a:r>
            <a:r>
              <a:rPr lang="en-US" altLang="ko-KR" dirty="0"/>
              <a:t>Player</a:t>
            </a:r>
            <a:r>
              <a:rPr lang="ko-KR" altLang="en-US" dirty="0"/>
              <a:t>나 </a:t>
            </a:r>
            <a:r>
              <a:rPr lang="en-US" altLang="ko-KR" dirty="0"/>
              <a:t>Monster</a:t>
            </a:r>
            <a:r>
              <a:rPr lang="ko-KR" altLang="en-US" dirty="0"/>
              <a:t>같은 객체를 만들어낸다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en-US" altLang="ko-KR" dirty="0"/>
              <a:t>Death</a:t>
            </a:r>
            <a:r>
              <a:rPr lang="ko-KR" altLang="en-US" dirty="0"/>
              <a:t>나 </a:t>
            </a:r>
            <a:r>
              <a:rPr lang="en-US" altLang="ko-KR" dirty="0"/>
              <a:t>HP</a:t>
            </a:r>
            <a:r>
              <a:rPr lang="ko-KR" altLang="en-US" dirty="0"/>
              <a:t>도 컴포넌트이며 </a:t>
            </a:r>
            <a:r>
              <a:rPr lang="en-US" altLang="ko-KR" dirty="0"/>
              <a:t>Death</a:t>
            </a:r>
            <a:r>
              <a:rPr lang="ko-KR" altLang="en-US" dirty="0"/>
              <a:t>에 관련된 작업이 필요할 경우 </a:t>
            </a:r>
            <a:r>
              <a:rPr lang="en-US" altLang="ko-KR" dirty="0"/>
              <a:t>Death </a:t>
            </a:r>
            <a:r>
              <a:rPr lang="ko-KR" altLang="en-US" dirty="0"/>
              <a:t>컴포넌트를 찾아서 작업한다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89098086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48F21B0-B3F0-3610-CCFD-2658ED08B7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</a:t>
            </a:r>
            <a:r>
              <a:rPr lang="ko-KR" altLang="en-US" sz="2000" dirty="0"/>
              <a:t>컴포넌트 패턴</a:t>
            </a:r>
            <a:r>
              <a:rPr lang="en-US" altLang="ko-KR" sz="2000" dirty="0"/>
              <a:t>)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DDABCE7-A749-E21F-A80D-7888F9089DB5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907013"/>
          </a:xfrm>
        </p:spPr>
        <p:txBody>
          <a:bodyPr>
            <a:normAutofit/>
          </a:bodyPr>
          <a:lstStyle/>
          <a:p>
            <a:pPr>
              <a:buFontTx/>
              <a:buChar char="-"/>
            </a:pPr>
            <a:r>
              <a:rPr lang="ko-KR" altLang="en-US" sz="1800" dirty="0"/>
              <a:t>나는 무엇을 고민했나</a:t>
            </a:r>
            <a:r>
              <a:rPr lang="en-US" altLang="ko-KR" sz="1800" dirty="0"/>
              <a:t>?:</a:t>
            </a:r>
          </a:p>
          <a:p>
            <a:pPr marL="342900" indent="-342900">
              <a:buAutoNum type="arabicPeriod"/>
            </a:pPr>
            <a:r>
              <a:rPr lang="en-US" altLang="ko-KR" sz="1300" dirty="0" err="1"/>
              <a:t>ContentsEntity</a:t>
            </a:r>
            <a:r>
              <a:rPr lang="ko-KR" altLang="en-US" sz="1300" dirty="0"/>
              <a:t>가 가진 컴포넌트의 컨테이너에서 컴포넌트를 어떻게 찾을까</a:t>
            </a:r>
            <a:r>
              <a:rPr lang="en-US" altLang="ko-KR" sz="1300" dirty="0"/>
              <a:t>?</a:t>
            </a:r>
          </a:p>
          <a:p>
            <a:pPr marL="0" indent="0">
              <a:buNone/>
            </a:pPr>
            <a:r>
              <a:rPr lang="en-US" altLang="ko-KR" sz="1300" dirty="0"/>
              <a:t>- </a:t>
            </a:r>
            <a:r>
              <a:rPr lang="ko-KR" altLang="en-US" sz="1300" dirty="0"/>
              <a:t>가장 먼저 떠오른 방법은 </a:t>
            </a:r>
            <a:r>
              <a:rPr lang="en-US" altLang="ko-KR" sz="1300" dirty="0" err="1"/>
              <a:t>dynamic_cast</a:t>
            </a:r>
            <a:r>
              <a:rPr lang="ko-KR" altLang="en-US" sz="1300" dirty="0"/>
              <a:t>를 이용하여 검색하기</a:t>
            </a:r>
            <a:endParaRPr lang="en-US" altLang="ko-KR" sz="1300" dirty="0"/>
          </a:p>
          <a:p>
            <a:pPr marL="0" indent="0">
              <a:buNone/>
            </a:pPr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472FEAB0-8052-1D39-18EE-CE94AA207F6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19688" y="1896269"/>
            <a:ext cx="4624387" cy="128508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DDA3EC3-728E-10B6-6411-82E4DBD4C21F}"/>
              </a:ext>
            </a:extLst>
          </p:cNvPr>
          <p:cNvSpPr txBox="1"/>
          <p:nvPr/>
        </p:nvSpPr>
        <p:spPr>
          <a:xfrm>
            <a:off x="504000" y="2247900"/>
            <a:ext cx="453631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가장 간단하고 확실하지만 특정 컴포넌트를 찾아 특정 작업을 하는 일이 매우 </a:t>
            </a:r>
            <a:r>
              <a:rPr lang="ko-KR" altLang="en-US" sz="1200" dirty="0" err="1"/>
              <a:t>매우</a:t>
            </a:r>
            <a:r>
              <a:rPr lang="ko-KR" altLang="en-US" sz="1200" dirty="0"/>
              <a:t> 잦은데 그때 마다 컨테이너를 선형탐색 하면서 매 원소마다 </a:t>
            </a:r>
            <a:r>
              <a:rPr lang="en-US" altLang="ko-KR" sz="1200" dirty="0" err="1"/>
              <a:t>dynamic_cast</a:t>
            </a:r>
            <a:r>
              <a:rPr lang="ko-KR" altLang="en-US" sz="1200" dirty="0"/>
              <a:t>를 할 경우의 오버헤드가 매우 크다고 판단하였다</a:t>
            </a:r>
            <a:r>
              <a:rPr lang="en-US" altLang="ko-KR" sz="1200" dirty="0"/>
              <a:t>. </a:t>
            </a:r>
            <a:r>
              <a:rPr lang="ko-KR" altLang="en-US" sz="1200" dirty="0"/>
              <a:t>또한 탐색에 적합한 </a:t>
            </a:r>
            <a:r>
              <a:rPr lang="en-US" altLang="ko-KR" sz="1200" dirty="0"/>
              <a:t>std::map,</a:t>
            </a:r>
            <a:r>
              <a:rPr lang="ko-KR" altLang="en-US" sz="1200" dirty="0"/>
              <a:t> </a:t>
            </a:r>
            <a:r>
              <a:rPr lang="en-US" altLang="ko-KR" sz="1200" dirty="0"/>
              <a:t>std::</a:t>
            </a:r>
            <a:r>
              <a:rPr lang="en-US" altLang="ko-KR" sz="1200" dirty="0" err="1"/>
              <a:t>unordered_map</a:t>
            </a:r>
            <a:r>
              <a:rPr lang="ko-KR" altLang="en-US" sz="1200" dirty="0"/>
              <a:t>을 놔두고 </a:t>
            </a:r>
            <a:r>
              <a:rPr lang="en-US" altLang="ko-KR" sz="1200" dirty="0"/>
              <a:t>std::vector</a:t>
            </a:r>
            <a:r>
              <a:rPr lang="ko-KR" altLang="en-US" sz="1200" dirty="0"/>
              <a:t>로 탐색만 한다는 점도 마음에 들지 않았다</a:t>
            </a:r>
            <a:r>
              <a:rPr lang="en-US" altLang="ko-KR" sz="1200" dirty="0"/>
              <a:t>.</a:t>
            </a:r>
            <a:r>
              <a:rPr lang="ko-KR" altLang="en-US" sz="1200" dirty="0"/>
              <a:t>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5E4D478-8F37-41F1-B9C9-ACD2C4431692}"/>
              </a:ext>
            </a:extLst>
          </p:cNvPr>
          <p:cNvSpPr txBox="1"/>
          <p:nvPr/>
        </p:nvSpPr>
        <p:spPr>
          <a:xfrm>
            <a:off x="504000" y="3277850"/>
            <a:ext cx="513003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Tx/>
              <a:buChar char="-"/>
            </a:pPr>
            <a:r>
              <a:rPr lang="ko-KR" altLang="en-US" sz="1200" dirty="0"/>
              <a:t>컴포넌트마다 </a:t>
            </a:r>
            <a:r>
              <a:rPr lang="en-US" altLang="ko-KR" sz="1200" dirty="0" err="1"/>
              <a:t>enum</a:t>
            </a:r>
            <a:r>
              <a:rPr lang="ko-KR" altLang="en-US" sz="1200" dirty="0"/>
              <a:t>같은 적절한 키 값을 두기</a:t>
            </a:r>
            <a:endParaRPr lang="en-US" altLang="ko-KR" sz="1200" dirty="0"/>
          </a:p>
          <a:p>
            <a:r>
              <a:rPr lang="ko-KR" altLang="en-US" sz="1200" dirty="0"/>
              <a:t>특정 컴포넌트의 </a:t>
            </a:r>
            <a:r>
              <a:rPr lang="en-US" altLang="ko-KR" sz="1200" dirty="0"/>
              <a:t>static </a:t>
            </a:r>
            <a:r>
              <a:rPr lang="ko-KR" altLang="en-US" sz="1200" dirty="0"/>
              <a:t>멤버변수로 키 값을 지정하면 컨테이너에 삽입할 때 </a:t>
            </a:r>
            <a:r>
              <a:rPr lang="en-US" altLang="ko-KR" sz="1200" dirty="0" err="1"/>
              <a:t>container.emlace</a:t>
            </a:r>
            <a:r>
              <a:rPr lang="en-US" altLang="ko-KR" sz="1200" dirty="0"/>
              <a:t>(Comp::</a:t>
            </a:r>
            <a:r>
              <a:rPr lang="en-US" altLang="ko-KR" sz="1200" dirty="0" err="1"/>
              <a:t>KeyVal</a:t>
            </a:r>
            <a:r>
              <a:rPr lang="en-US" altLang="ko-KR" sz="1200" dirty="0"/>
              <a:t>, </a:t>
            </a:r>
            <a:r>
              <a:rPr lang="en-US" altLang="ko-KR" sz="1200" dirty="0" err="1"/>
              <a:t>comp_ptr</a:t>
            </a:r>
            <a:r>
              <a:rPr lang="en-US" altLang="ko-KR" sz="1200" dirty="0"/>
              <a:t>) </a:t>
            </a:r>
            <a:r>
              <a:rPr lang="ko-KR" altLang="en-US" sz="1200" dirty="0"/>
              <a:t>이렇게 삽입하고 찾을 때 </a:t>
            </a:r>
            <a:r>
              <a:rPr lang="en-US" altLang="ko-KR" sz="1200" dirty="0" err="1"/>
              <a:t>container.find</a:t>
            </a:r>
            <a:r>
              <a:rPr lang="en-US" altLang="ko-KR" sz="1200" dirty="0"/>
              <a:t>(Comp::</a:t>
            </a:r>
            <a:r>
              <a:rPr lang="en-US" altLang="ko-KR" sz="1200" dirty="0" err="1"/>
              <a:t>KeyVal</a:t>
            </a:r>
            <a:r>
              <a:rPr lang="en-US" altLang="ko-KR" sz="1200" dirty="0"/>
              <a:t>) </a:t>
            </a:r>
            <a:r>
              <a:rPr lang="ko-KR" altLang="en-US" sz="1200" dirty="0"/>
              <a:t>이렇게 찾을 수 있기 때문에 적절하다고 생각하였다</a:t>
            </a:r>
            <a:r>
              <a:rPr lang="en-US" altLang="ko-KR" sz="1200" dirty="0"/>
              <a:t>.</a:t>
            </a:r>
          </a:p>
          <a:p>
            <a:r>
              <a:rPr lang="ko-KR" altLang="en-US" sz="1200" dirty="0"/>
              <a:t>하지만 적절한 </a:t>
            </a:r>
            <a:r>
              <a:rPr lang="en-US" altLang="ko-KR" sz="1200" dirty="0"/>
              <a:t>Key</a:t>
            </a:r>
            <a:r>
              <a:rPr lang="ko-KR" altLang="en-US" sz="1200" dirty="0"/>
              <a:t>값을 매번 정해줘야 하는 번거로움이 존재하였다</a:t>
            </a:r>
            <a:r>
              <a:rPr lang="en-US" altLang="ko-KR" sz="1200" dirty="0"/>
              <a:t>.</a:t>
            </a:r>
            <a:r>
              <a:rPr lang="ko-KR" altLang="en-US" sz="1200" dirty="0"/>
              <a:t> </a:t>
            </a:r>
            <a:endParaRPr lang="en-US" altLang="ko-KR" sz="1200" dirty="0"/>
          </a:p>
          <a:p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FBEA9E6-602C-E029-AFFF-F89A0F9C7DC8}"/>
              </a:ext>
            </a:extLst>
          </p:cNvPr>
          <p:cNvSpPr txBox="1"/>
          <p:nvPr/>
        </p:nvSpPr>
        <p:spPr>
          <a:xfrm>
            <a:off x="6300787" y="3206413"/>
            <a:ext cx="36671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dynamic_cast</a:t>
            </a:r>
            <a:r>
              <a:rPr lang="ko-KR" altLang="en-US" dirty="0"/>
              <a:t>를 이용했다면 이렇게 컴포넌트 검색을 했어야 한다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8480937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DBBEF1E-1CDC-8481-B4F6-EC9FD92C5D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203087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</a:t>
            </a:r>
            <a:r>
              <a:rPr lang="ko-KR" altLang="en-US" sz="2000" dirty="0"/>
              <a:t>컴포넌트 패턴</a:t>
            </a:r>
            <a:r>
              <a:rPr lang="en-US" altLang="ko-KR" sz="2000" dirty="0"/>
              <a:t>)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CD3A1F7-6463-1B69-7F26-22AF305D4904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332549" y="895711"/>
            <a:ext cx="9071640" cy="1585551"/>
          </a:xfrm>
        </p:spPr>
        <p:txBody>
          <a:bodyPr>
            <a:normAutofit fontScale="77500" lnSpcReduction="20000"/>
          </a:bodyPr>
          <a:lstStyle/>
          <a:p>
            <a:pPr marL="0" indent="0">
              <a:lnSpc>
                <a:spcPct val="170000"/>
              </a:lnSpc>
              <a:buNone/>
            </a:pPr>
            <a:r>
              <a:rPr lang="en-US" altLang="ko-KR" sz="1300" dirty="0"/>
              <a:t>2. </a:t>
            </a:r>
            <a:r>
              <a:rPr lang="ko-KR" altLang="en-US" sz="1300" dirty="0"/>
              <a:t>정말 </a:t>
            </a:r>
            <a:r>
              <a:rPr lang="en-US" altLang="ko-KR" sz="1300" dirty="0"/>
              <a:t>std::map / std::</a:t>
            </a:r>
            <a:r>
              <a:rPr lang="en-US" altLang="ko-KR" sz="1300" dirty="0" err="1"/>
              <a:t>unordered_map</a:t>
            </a:r>
            <a:r>
              <a:rPr lang="ko-KR" altLang="en-US" sz="1300" dirty="0"/>
              <a:t>이 최선인가</a:t>
            </a:r>
            <a:r>
              <a:rPr lang="en-US" altLang="ko-KR" sz="1300" dirty="0"/>
              <a:t>?:</a:t>
            </a:r>
          </a:p>
          <a:p>
            <a:pPr marL="0" indent="0">
              <a:lnSpc>
                <a:spcPct val="170000"/>
              </a:lnSpc>
              <a:buNone/>
            </a:pPr>
            <a:r>
              <a:rPr lang="ko-KR" altLang="en-US" sz="1300" dirty="0"/>
              <a:t>앞에서 언급한 </a:t>
            </a:r>
            <a:r>
              <a:rPr lang="en-US" altLang="ko-KR" sz="1300" dirty="0"/>
              <a:t>static</a:t>
            </a:r>
            <a:r>
              <a:rPr lang="ko-KR" altLang="en-US" sz="1300" dirty="0"/>
              <a:t>변수로 </a:t>
            </a:r>
            <a:r>
              <a:rPr lang="en-US" altLang="ko-KR" sz="1300" dirty="0"/>
              <a:t>Key</a:t>
            </a:r>
            <a:r>
              <a:rPr lang="ko-KR" altLang="en-US" sz="1300" dirty="0"/>
              <a:t>값을 이용하는 방법을 사용할 때 정말 </a:t>
            </a:r>
            <a:r>
              <a:rPr lang="en-US" altLang="ko-KR" sz="1300" dirty="0"/>
              <a:t>std::map / std::</a:t>
            </a:r>
            <a:r>
              <a:rPr lang="en-US" altLang="ko-KR" sz="1300" dirty="0" err="1"/>
              <a:t>unordered_map</a:t>
            </a:r>
            <a:r>
              <a:rPr lang="en-US" altLang="ko-KR" sz="1300" dirty="0"/>
              <a:t> </a:t>
            </a:r>
            <a:r>
              <a:rPr lang="ko-KR" altLang="en-US" sz="1300" dirty="0"/>
              <a:t>같은 자료구조를 </a:t>
            </a:r>
            <a:r>
              <a:rPr lang="ko-KR" altLang="en-US" sz="1300" dirty="0" err="1"/>
              <a:t>사용하는게</a:t>
            </a:r>
            <a:r>
              <a:rPr lang="ko-KR" altLang="en-US" sz="1300" dirty="0"/>
              <a:t> 최선일까</a:t>
            </a:r>
            <a:r>
              <a:rPr lang="en-US" altLang="ko-KR" sz="1300" dirty="0"/>
              <a:t>? </a:t>
            </a:r>
            <a:r>
              <a:rPr lang="ko-KR" altLang="en-US" sz="1300" dirty="0"/>
              <a:t>라는 생각이 들었다</a:t>
            </a:r>
            <a:r>
              <a:rPr lang="en-US" altLang="ko-KR" sz="1300" dirty="0"/>
              <a:t>.</a:t>
            </a:r>
          </a:p>
          <a:p>
            <a:pPr marL="0" indent="0">
              <a:lnSpc>
                <a:spcPct val="170000"/>
              </a:lnSpc>
              <a:buNone/>
            </a:pPr>
            <a:r>
              <a:rPr lang="ko-KR" altLang="en-US" sz="1300" dirty="0"/>
              <a:t>왜냐하면 컴포넌트들은 정말 많이 달아봐야 </a:t>
            </a:r>
            <a:r>
              <a:rPr lang="en-US" altLang="ko-KR" sz="1300" dirty="0"/>
              <a:t>20</a:t>
            </a:r>
            <a:r>
              <a:rPr lang="ko-KR" altLang="en-US" sz="1300" dirty="0"/>
              <a:t>개를 넘을 것 같지 않았는데 저런 적은 수의 원소를 가진 컨테이너를 검색할 때는 그냥 배열에서 선형탐색을 해도 다른 방법과 별 차이가 없을 것 같다고 생각했기 때문이다</a:t>
            </a:r>
            <a:r>
              <a:rPr lang="en-US" altLang="ko-KR" sz="1300" dirty="0"/>
              <a:t>. </a:t>
            </a:r>
          </a:p>
          <a:p>
            <a:pPr marL="0" indent="0">
              <a:lnSpc>
                <a:spcPct val="170000"/>
              </a:lnSpc>
              <a:buNone/>
            </a:pPr>
            <a:r>
              <a:rPr lang="ko-KR" altLang="en-US" sz="1300" dirty="0"/>
              <a:t>또한</a:t>
            </a:r>
            <a:r>
              <a:rPr lang="en-US" altLang="ko-KR" sz="1300" dirty="0"/>
              <a:t> </a:t>
            </a:r>
            <a:r>
              <a:rPr lang="ko-KR" altLang="en-US" sz="1300" dirty="0"/>
              <a:t>비주얼 스튜디오 기준</a:t>
            </a:r>
            <a:r>
              <a:rPr lang="en-US" altLang="ko-KR" sz="1300" dirty="0"/>
              <a:t> std::</a:t>
            </a:r>
            <a:r>
              <a:rPr lang="en-US" altLang="ko-KR" sz="1300" dirty="0" err="1"/>
              <a:t>unordered_map</a:t>
            </a:r>
            <a:r>
              <a:rPr lang="ko-KR" altLang="en-US" sz="1300" dirty="0"/>
              <a:t>은 </a:t>
            </a:r>
            <a:r>
              <a:rPr lang="en-US" altLang="ko-KR" sz="1300" dirty="0"/>
              <a:t>64</a:t>
            </a:r>
            <a:r>
              <a:rPr lang="ko-KR" altLang="en-US" sz="1300" dirty="0"/>
              <a:t>바이트</a:t>
            </a:r>
            <a:r>
              <a:rPr lang="en-US" altLang="ko-KR" sz="1300" dirty="0"/>
              <a:t>, std::vector</a:t>
            </a:r>
            <a:r>
              <a:rPr lang="ko-KR" altLang="en-US" sz="1300" dirty="0"/>
              <a:t>는 </a:t>
            </a:r>
            <a:r>
              <a:rPr lang="en-US" altLang="ko-KR" sz="1300" dirty="0"/>
              <a:t>24</a:t>
            </a:r>
            <a:r>
              <a:rPr lang="ko-KR" altLang="en-US" sz="1300" dirty="0"/>
              <a:t>바이트이기 때문에 </a:t>
            </a:r>
            <a:r>
              <a:rPr lang="en-US" altLang="ko-KR" sz="1300" dirty="0"/>
              <a:t>std::vector</a:t>
            </a:r>
            <a:r>
              <a:rPr lang="ko-KR" altLang="en-US" sz="1300" dirty="0"/>
              <a:t>가 더 적은 용량을 차지하고 </a:t>
            </a:r>
            <a:r>
              <a:rPr lang="en-US" altLang="ko-KR" sz="1300" dirty="0"/>
              <a:t>std::map</a:t>
            </a:r>
            <a:r>
              <a:rPr lang="ko-KR" altLang="en-US" sz="1300" dirty="0"/>
              <a:t>은 </a:t>
            </a:r>
            <a:r>
              <a:rPr lang="en-US" altLang="ko-KR" sz="1300" dirty="0"/>
              <a:t>16</a:t>
            </a:r>
            <a:r>
              <a:rPr lang="ko-KR" altLang="en-US" sz="1300" dirty="0"/>
              <a:t>바이트이지만 </a:t>
            </a:r>
            <a:r>
              <a:rPr lang="en-US" altLang="ko-KR" sz="1300" dirty="0"/>
              <a:t>vector</a:t>
            </a:r>
            <a:r>
              <a:rPr lang="ko-KR" altLang="en-US" sz="1300" dirty="0"/>
              <a:t>는 메모리에서 연속적인 자료구조이기 때문에 더 좋은 캐시히트를</a:t>
            </a:r>
            <a:r>
              <a:rPr lang="en-US" altLang="ko-KR" sz="1300" dirty="0"/>
              <a:t> </a:t>
            </a:r>
            <a:r>
              <a:rPr lang="ko-KR" altLang="en-US" sz="1300" dirty="0"/>
              <a:t>기대할 수 있어서 </a:t>
            </a:r>
            <a:r>
              <a:rPr lang="en-US" altLang="ko-KR" sz="1300" dirty="0"/>
              <a:t>std::vector</a:t>
            </a:r>
            <a:r>
              <a:rPr lang="ko-KR" altLang="en-US" sz="1300" dirty="0"/>
              <a:t>를 사용하기로 결정하였다</a:t>
            </a:r>
            <a:r>
              <a:rPr lang="en-US" altLang="ko-KR" sz="1300" dirty="0"/>
              <a:t>.</a:t>
            </a:r>
          </a:p>
          <a:p>
            <a:pPr marL="0" indent="0">
              <a:buNone/>
            </a:pP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DD53E60-FA62-00B0-3BF9-1FB6EC9EB1D4}"/>
              </a:ext>
            </a:extLst>
          </p:cNvPr>
          <p:cNvSpPr txBox="1"/>
          <p:nvPr/>
        </p:nvSpPr>
        <p:spPr>
          <a:xfrm>
            <a:off x="295276" y="2266951"/>
            <a:ext cx="860107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3. </a:t>
            </a:r>
            <a:r>
              <a:rPr lang="ko-KR" altLang="en-US" sz="1200" dirty="0"/>
              <a:t>컴포넌트를 식별할 키 값의 자동화</a:t>
            </a:r>
            <a:r>
              <a:rPr lang="en-US" altLang="ko-KR" sz="1200" dirty="0"/>
              <a:t>:</a:t>
            </a:r>
          </a:p>
          <a:p>
            <a:r>
              <a:rPr lang="ko-KR" altLang="en-US" sz="1200" dirty="0"/>
              <a:t>결국 </a:t>
            </a:r>
            <a:r>
              <a:rPr lang="en-US" altLang="ko-KR" sz="1200" dirty="0"/>
              <a:t>static </a:t>
            </a:r>
            <a:r>
              <a:rPr lang="ko-KR" altLang="en-US" sz="1200" dirty="0"/>
              <a:t>변수 키 값 </a:t>
            </a:r>
            <a:r>
              <a:rPr lang="en-US" altLang="ko-KR" sz="1200" dirty="0"/>
              <a:t>+ vector </a:t>
            </a:r>
            <a:r>
              <a:rPr lang="ko-KR" altLang="en-US" sz="1200" dirty="0"/>
              <a:t>컨테이너 사용으로 마음을 굳혔고 컴포넌트를 고유하게 식별할 </a:t>
            </a:r>
            <a:r>
              <a:rPr lang="en-US" altLang="ko-KR" sz="1200" dirty="0"/>
              <a:t>Key</a:t>
            </a:r>
            <a:r>
              <a:rPr lang="ko-KR" altLang="en-US" sz="1200" dirty="0"/>
              <a:t>값을 편하게 생성하기 위해 </a:t>
            </a:r>
            <a:r>
              <a:rPr lang="en-US" altLang="ko-KR" sz="1200" dirty="0"/>
              <a:t>#define </a:t>
            </a:r>
            <a:r>
              <a:rPr lang="ko-KR" altLang="en-US" sz="1200" dirty="0"/>
              <a:t>매크로를 이용하여 컴포넌트의 이름을 문자열로 해석하고 그 문자열을 해시함수를 이용해 고유한 정수 키 값을 만들어 사용하기로 하였다</a:t>
            </a:r>
            <a:r>
              <a:rPr lang="en-US" altLang="ko-KR" sz="1200" dirty="0"/>
              <a:t>. </a:t>
            </a:r>
            <a:r>
              <a:rPr lang="ko-KR" altLang="en-US" sz="1200" dirty="0"/>
              <a:t>이때 이 키 값 생성의 런타임 오버헤드를 피하고자 컴파일 타임에 문자열을 해시 값으로 바꾸는 </a:t>
            </a:r>
            <a:r>
              <a:rPr lang="en-US" altLang="ko-KR" sz="1200" dirty="0" err="1"/>
              <a:t>consteval</a:t>
            </a:r>
            <a:r>
              <a:rPr lang="en-US" altLang="ko-KR" sz="1200" dirty="0"/>
              <a:t> </a:t>
            </a:r>
            <a:r>
              <a:rPr lang="ko-KR" altLang="en-US" sz="1200" dirty="0"/>
              <a:t>함수를 직접 만들었다</a:t>
            </a:r>
            <a:r>
              <a:rPr lang="en-US" altLang="ko-KR" sz="1200" dirty="0"/>
              <a:t>.</a:t>
            </a:r>
            <a:endParaRPr lang="ko-KR" altLang="en-US" sz="1200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4124F128-B205-D3E3-30EE-095D39DC876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4450" y="3057190"/>
            <a:ext cx="6137275" cy="2504038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B5AB2288-FCCE-CD51-A54D-0CDB2B62076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615" y="3282614"/>
            <a:ext cx="3749835" cy="22786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429240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84B3A56-8DC7-C723-34D9-A4529135B2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</a:t>
            </a:r>
            <a:r>
              <a:rPr lang="ko-KR" altLang="en-US" sz="2000" dirty="0"/>
              <a:t>컴포넌트 패턴</a:t>
            </a:r>
            <a:r>
              <a:rPr lang="en-US" altLang="ko-KR" sz="2000" dirty="0"/>
              <a:t>)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BA92ECE-1B31-7517-C320-C42EBB5C0507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446850" y="1003999"/>
            <a:ext cx="9071640" cy="31045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z="1800" dirty="0"/>
              <a:t>- </a:t>
            </a:r>
            <a:r>
              <a:rPr lang="ko-KR" altLang="en-US" sz="1800" dirty="0"/>
              <a:t>컴포넌트 작성 시 매크로를 이용해 편하게 만들 수 있게 한 실제 코드의 일부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2BB7037A-4DD5-ADD8-D2EC-E3426345A9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095" y="1383445"/>
            <a:ext cx="7146193" cy="407987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0B707ED-4A3D-5430-84A1-3B0156FDF26A}"/>
              </a:ext>
            </a:extLst>
          </p:cNvPr>
          <p:cNvSpPr txBox="1"/>
          <p:nvPr/>
        </p:nvSpPr>
        <p:spPr>
          <a:xfrm>
            <a:off x="7358795" y="4127942"/>
            <a:ext cx="242570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매크로를 이용해 컴파일 타임 키 값 생성 및 그 </a:t>
            </a:r>
            <a:r>
              <a:rPr lang="ko-KR" altLang="en-US" sz="1600" dirty="0" err="1"/>
              <a:t>키값을</a:t>
            </a:r>
            <a:r>
              <a:rPr lang="ko-KR" altLang="en-US" sz="1600" dirty="0"/>
              <a:t> 반환하는 함수를 만들도록 하였다</a:t>
            </a:r>
            <a:r>
              <a:rPr lang="en-US" altLang="ko-KR" sz="1600" dirty="0"/>
              <a:t>.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128018954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C0DA743-33AE-CB90-E239-6C5E796B3B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</a:t>
            </a:r>
            <a:r>
              <a:rPr lang="ko-KR" altLang="en-US" sz="2000" dirty="0"/>
              <a:t>컴포넌트 패턴</a:t>
            </a:r>
            <a:r>
              <a:rPr lang="en-US" altLang="ko-KR" sz="2000" dirty="0"/>
              <a:t>)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55CEB47-C3E7-7047-8F63-107D45944EA4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11070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z="1600" dirty="0"/>
              <a:t>4. </a:t>
            </a:r>
            <a:r>
              <a:rPr lang="ko-KR" altLang="en-US" sz="1600" dirty="0"/>
              <a:t>혹시라도 일어날 해시충돌은 괜찮은가</a:t>
            </a:r>
            <a:r>
              <a:rPr lang="en-US" altLang="ko-KR" sz="1600" dirty="0"/>
              <a:t>?:</a:t>
            </a:r>
          </a:p>
          <a:p>
            <a:pPr marL="0" indent="0">
              <a:buNone/>
            </a:pPr>
            <a:r>
              <a:rPr lang="ko-KR" altLang="en-US" sz="1200" dirty="0"/>
              <a:t>컴파일 타임 문자열 해시함수는 인터넷을 참고하여 작성하였고</a:t>
            </a:r>
            <a:r>
              <a:rPr lang="en-US" altLang="ko-KR" sz="1200" dirty="0"/>
              <a:t>, </a:t>
            </a:r>
            <a:r>
              <a:rPr lang="ko-KR" altLang="en-US" sz="1200" dirty="0"/>
              <a:t>해당 함수의 해시 키 값의 충돌 확률은 매우 낮았지만 정말 혹시라도 발생할 해시 충돌에 대비하여 모든 컴포넌트는 해당 컴포넌트의 정적 멤버변수가 초기화 되는 시점에서 해시 값이 충돌하는지 여부를</a:t>
            </a:r>
            <a:endParaRPr lang="en-US" altLang="ko-KR" sz="1200" dirty="0"/>
          </a:p>
          <a:p>
            <a:pPr marL="0" indent="0">
              <a:buNone/>
            </a:pPr>
            <a:r>
              <a:rPr lang="ko-KR" altLang="en-US" sz="1200" dirty="0"/>
              <a:t>검사하도록 하였다</a:t>
            </a:r>
            <a:r>
              <a:rPr lang="en-US" altLang="ko-KR" sz="1200" dirty="0"/>
              <a:t>.</a:t>
            </a:r>
            <a:r>
              <a:rPr lang="ko-KR" altLang="en-US" sz="1200" dirty="0"/>
              <a:t> 코드 전문은 </a:t>
            </a:r>
            <a:r>
              <a:rPr lang="en-US" altLang="ko-KR" sz="1200" dirty="0" err="1"/>
              <a:t>ContentsComponent.h</a:t>
            </a:r>
            <a:r>
              <a:rPr lang="en-US" altLang="ko-KR" sz="1200" dirty="0"/>
              <a:t> </a:t>
            </a:r>
            <a:r>
              <a:rPr lang="ko-KR" altLang="en-US" sz="1200" dirty="0"/>
              <a:t>및 </a:t>
            </a:r>
            <a:r>
              <a:rPr lang="en-US" altLang="ko-KR" sz="1200" dirty="0" err="1"/>
              <a:t>ComponentSystem.h</a:t>
            </a:r>
            <a:r>
              <a:rPr lang="en-US" altLang="ko-KR" sz="1200" dirty="0"/>
              <a:t> </a:t>
            </a:r>
            <a:r>
              <a:rPr lang="ko-KR" altLang="en-US" sz="1200" dirty="0"/>
              <a:t>참조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5F4D9DC4-B163-025A-9971-FDD9C4650D0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000" y="2335212"/>
            <a:ext cx="7239000" cy="310515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637C34B-0ACF-1907-67AF-426286EF47C7}"/>
              </a:ext>
            </a:extLst>
          </p:cNvPr>
          <p:cNvSpPr txBox="1"/>
          <p:nvPr/>
        </p:nvSpPr>
        <p:spPr>
          <a:xfrm>
            <a:off x="7743000" y="4629618"/>
            <a:ext cx="198596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멀티스레드를</a:t>
            </a:r>
            <a:r>
              <a:rPr lang="ko-KR" altLang="en-US" dirty="0"/>
              <a:t> 고려한 </a:t>
            </a:r>
            <a:r>
              <a:rPr lang="en-US" altLang="ko-KR" dirty="0"/>
              <a:t>mutex </a:t>
            </a:r>
            <a:r>
              <a:rPr lang="ko-KR" altLang="en-US" dirty="0"/>
              <a:t>사용</a:t>
            </a:r>
          </a:p>
        </p:txBody>
      </p:sp>
    </p:spTree>
    <p:extLst>
      <p:ext uri="{BB962C8B-B14F-4D97-AF65-F5344CB8AC3E}">
        <p14:creationId xmlns:p14="http://schemas.microsoft.com/office/powerpoint/2010/main" val="209505209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49D64F6-B1C9-701E-9122-EA7356B028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132663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</a:t>
            </a:r>
            <a:r>
              <a:rPr lang="ko-KR" altLang="en-US" sz="2000" dirty="0"/>
              <a:t>패킷 핸들링</a:t>
            </a:r>
            <a:r>
              <a:rPr lang="en-US" altLang="ko-KR" sz="2000" dirty="0"/>
              <a:t>)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F10CFFA-1E04-060A-1889-550ACC58BCA3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299213" y="755459"/>
            <a:ext cx="9071640" cy="3897504"/>
          </a:xfrm>
        </p:spPr>
        <p:txBody>
          <a:bodyPr>
            <a:normAutofit fontScale="77500" lnSpcReduction="20000"/>
          </a:bodyPr>
          <a:lstStyle/>
          <a:p>
            <a:pPr>
              <a:lnSpc>
                <a:spcPct val="150000"/>
              </a:lnSpc>
              <a:buAutoNum type="arabicPeriod"/>
            </a:pPr>
            <a:r>
              <a:rPr lang="ko-KR" altLang="en-US" sz="1400" dirty="0"/>
              <a:t>컨텐츠 부분에서 특정 패킷에 대응되는 이벤트들을 정의하고 </a:t>
            </a:r>
            <a:r>
              <a:rPr lang="ko-KR" altLang="en-US" sz="1400" dirty="0" err="1"/>
              <a:t>함수포인터</a:t>
            </a:r>
            <a:r>
              <a:rPr lang="ko-KR" altLang="en-US" sz="1400" dirty="0"/>
              <a:t> 배열에 </a:t>
            </a:r>
            <a:r>
              <a:rPr lang="ko-KR" altLang="en-US" sz="1400" dirty="0" err="1"/>
              <a:t>함수포인터로서</a:t>
            </a:r>
            <a:r>
              <a:rPr lang="ko-KR" altLang="en-US" sz="1400" dirty="0"/>
              <a:t> 등록한다</a:t>
            </a:r>
            <a:r>
              <a:rPr lang="en-US" altLang="ko-KR" sz="1400" dirty="0"/>
              <a:t>. </a:t>
            </a:r>
          </a:p>
          <a:p>
            <a:pPr>
              <a:lnSpc>
                <a:spcPct val="150000"/>
              </a:lnSpc>
              <a:buAutoNum type="arabicPeriod"/>
            </a:pPr>
            <a:r>
              <a:rPr lang="ko-KR" altLang="en-US" sz="1400" dirty="0"/>
              <a:t>해당 </a:t>
            </a:r>
            <a:r>
              <a:rPr lang="ko-KR" altLang="en-US" sz="1400" dirty="0" err="1"/>
              <a:t>함수포인터</a:t>
            </a:r>
            <a:r>
              <a:rPr lang="ko-KR" altLang="en-US" sz="1400" dirty="0"/>
              <a:t> 배열의 시작주소를 </a:t>
            </a:r>
            <a:r>
              <a:rPr lang="en-US" altLang="ko-KR" sz="1400" dirty="0"/>
              <a:t>Session</a:t>
            </a:r>
            <a:r>
              <a:rPr lang="ko-KR" altLang="en-US" sz="1400" dirty="0"/>
              <a:t>의 </a:t>
            </a:r>
            <a:r>
              <a:rPr lang="en-US" altLang="ko-KR" sz="1400" dirty="0"/>
              <a:t>static </a:t>
            </a:r>
            <a:r>
              <a:rPr lang="ko-KR" altLang="en-US" sz="1400" dirty="0"/>
              <a:t>멤버변수로서 가지고 있게 한다</a:t>
            </a:r>
            <a:r>
              <a:rPr lang="en-US" altLang="ko-KR" sz="1400" dirty="0"/>
              <a:t>.</a:t>
            </a:r>
          </a:p>
          <a:p>
            <a:pPr>
              <a:lnSpc>
                <a:spcPct val="270000"/>
              </a:lnSpc>
              <a:buAutoNum type="arabicPeriod"/>
            </a:pPr>
            <a:r>
              <a:rPr lang="ko-KR" altLang="en-US" sz="1400" dirty="0"/>
              <a:t>패킷은 해당 패킷을 핸들링 할 </a:t>
            </a:r>
            <a:r>
              <a:rPr lang="ko-KR" altLang="en-US" sz="1400" dirty="0" err="1"/>
              <a:t>함수포인터</a:t>
            </a:r>
            <a:r>
              <a:rPr lang="ko-KR" altLang="en-US" sz="1400" dirty="0"/>
              <a:t> 배열의 인덱스와 이 패킷의 크기정보로 구성된 </a:t>
            </a:r>
            <a:r>
              <a:rPr lang="en-US" altLang="ko-KR" sz="1400" dirty="0" err="1"/>
              <a:t>PacketHeader</a:t>
            </a:r>
            <a:r>
              <a:rPr lang="en-US" altLang="ko-KR" sz="1400" dirty="0"/>
              <a:t> </a:t>
            </a:r>
            <a:r>
              <a:rPr lang="ko-KR" altLang="en-US" sz="1400" dirty="0"/>
              <a:t>구조체 그리고</a:t>
            </a:r>
            <a:r>
              <a:rPr lang="en-US" altLang="ko-KR" sz="1400" dirty="0"/>
              <a:t> </a:t>
            </a:r>
            <a:r>
              <a:rPr lang="en-US" altLang="ko-KR" sz="1400" dirty="0" err="1"/>
              <a:t>Flatbuffers</a:t>
            </a:r>
            <a:r>
              <a:rPr lang="en-US" altLang="ko-KR" sz="1400" dirty="0"/>
              <a:t> </a:t>
            </a:r>
            <a:r>
              <a:rPr lang="ko-KR" altLang="en-US" sz="1400" dirty="0"/>
              <a:t>라이브러리를 이용한 패킷의 본체로 구성하였다</a:t>
            </a:r>
            <a:r>
              <a:rPr lang="en-US" altLang="ko-KR" sz="1400" dirty="0"/>
              <a:t>.</a:t>
            </a:r>
          </a:p>
          <a:p>
            <a:pPr>
              <a:lnSpc>
                <a:spcPct val="150000"/>
              </a:lnSpc>
              <a:buAutoNum type="arabicPeriod"/>
            </a:pPr>
            <a:r>
              <a:rPr lang="ko-KR" altLang="en-US" sz="1400" dirty="0"/>
              <a:t>패킷 하나를 만들고 보낼 때 마다 </a:t>
            </a:r>
            <a:r>
              <a:rPr lang="en-US" altLang="ko-KR" sz="1400" dirty="0" err="1"/>
              <a:t>memcpy</a:t>
            </a:r>
            <a:r>
              <a:rPr lang="ko-KR" altLang="en-US" sz="1400" dirty="0"/>
              <a:t>로 복사하는 오버헤드를 피하기 위해 하나의 패킷을 </a:t>
            </a:r>
            <a:r>
              <a:rPr lang="en-US" altLang="ko-KR" sz="1400" dirty="0" err="1"/>
              <a:t>shared_ptr</a:t>
            </a:r>
            <a:r>
              <a:rPr lang="ko-KR" altLang="en-US" sz="1400" dirty="0"/>
              <a:t>로 할당하고 이 포인터를 주고받는 방식을 선택하였다</a:t>
            </a:r>
            <a:r>
              <a:rPr lang="en-US" altLang="ko-KR" sz="1400" dirty="0"/>
              <a:t>.</a:t>
            </a:r>
          </a:p>
          <a:p>
            <a:pPr>
              <a:lnSpc>
                <a:spcPct val="150000"/>
              </a:lnSpc>
              <a:buAutoNum type="arabicPeriod"/>
            </a:pPr>
            <a:r>
              <a:rPr lang="ko-KR" altLang="en-US" sz="1400" dirty="0"/>
              <a:t>이렇게 만들어진 패킷이 </a:t>
            </a:r>
            <a:r>
              <a:rPr lang="en-US" altLang="ko-KR" sz="1400" dirty="0" err="1"/>
              <a:t>Recv</a:t>
            </a:r>
            <a:r>
              <a:rPr lang="ko-KR" altLang="en-US" sz="1400" dirty="0"/>
              <a:t>에서 도착했을 경우 </a:t>
            </a:r>
            <a:r>
              <a:rPr lang="en-US" altLang="ko-KR" sz="1400" dirty="0"/>
              <a:t>…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1400" dirty="0"/>
              <a:t> 5 - 1. </a:t>
            </a:r>
            <a:r>
              <a:rPr lang="ko-KR" altLang="en-US" sz="1400" dirty="0"/>
              <a:t>수신된 데이터의 크기가 적어도 </a:t>
            </a:r>
            <a:r>
              <a:rPr lang="en-US" altLang="ko-KR" sz="1400" dirty="0" err="1"/>
              <a:t>PacketHeader</a:t>
            </a:r>
            <a:r>
              <a:rPr lang="ko-KR" altLang="en-US" sz="1400" dirty="0"/>
              <a:t>를 파싱 할 수는 있는지를 확인한다</a:t>
            </a:r>
            <a:r>
              <a:rPr lang="en-US" altLang="ko-KR" sz="1400" dirty="0"/>
              <a:t>.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1400" dirty="0"/>
              <a:t> 5 - 2. </a:t>
            </a:r>
            <a:r>
              <a:rPr lang="ko-KR" altLang="en-US" sz="1400" dirty="0"/>
              <a:t>수신된 데이터의 크기가 </a:t>
            </a:r>
            <a:r>
              <a:rPr lang="en-US" altLang="ko-KR" sz="1400" dirty="0" err="1"/>
              <a:t>PacketHeader</a:t>
            </a:r>
            <a:r>
              <a:rPr lang="ko-KR" altLang="en-US" sz="1400" dirty="0"/>
              <a:t>의 크기 이상이라면 데이터를 </a:t>
            </a:r>
            <a:r>
              <a:rPr lang="ko-KR" altLang="en-US" sz="1400" dirty="0" err="1"/>
              <a:t>수신받은</a:t>
            </a:r>
            <a:r>
              <a:rPr lang="ko-KR" altLang="en-US" sz="1400" dirty="0"/>
              <a:t> 버퍼의 시작주소를 </a:t>
            </a:r>
            <a:r>
              <a:rPr lang="en-US" altLang="ko-KR" sz="1400" dirty="0" err="1"/>
              <a:t>PacketHeader</a:t>
            </a:r>
            <a:r>
              <a:rPr lang="ko-KR" altLang="en-US" sz="1400" dirty="0"/>
              <a:t>로 재해석 한다</a:t>
            </a:r>
            <a:r>
              <a:rPr lang="en-US" altLang="ko-KR" sz="1400" dirty="0"/>
              <a:t>.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1400" dirty="0"/>
              <a:t> 5 - 3. </a:t>
            </a:r>
            <a:r>
              <a:rPr lang="ko-KR" altLang="en-US" sz="1400" dirty="0"/>
              <a:t>수신된 데이터의 크기가 </a:t>
            </a:r>
            <a:r>
              <a:rPr lang="en-US" altLang="ko-KR" sz="1400" dirty="0" err="1"/>
              <a:t>PacketHeader</a:t>
            </a:r>
            <a:r>
              <a:rPr lang="ko-KR" altLang="en-US" sz="1400" dirty="0"/>
              <a:t>에 기입된 패킷의 실제 사이즈 이상인지 확인한다</a:t>
            </a:r>
            <a:r>
              <a:rPr lang="en-US" altLang="ko-KR" sz="1400" dirty="0"/>
              <a:t>.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1400" dirty="0"/>
              <a:t> 5 - 4.</a:t>
            </a:r>
            <a:r>
              <a:rPr lang="ko-KR" altLang="en-US" sz="1400" dirty="0"/>
              <a:t> 수신된 데이터의 크기가 </a:t>
            </a:r>
            <a:r>
              <a:rPr lang="en-US" altLang="ko-KR" sz="1400" dirty="0" err="1"/>
              <a:t>PacketHeader</a:t>
            </a:r>
            <a:r>
              <a:rPr lang="ko-KR" altLang="en-US" sz="1400" dirty="0"/>
              <a:t>에 기입된 패킷의 실제 사이즈 이상이라면 </a:t>
            </a:r>
            <a:r>
              <a:rPr lang="en-US" altLang="ko-KR" sz="1400" dirty="0" err="1"/>
              <a:t>PacketHeader</a:t>
            </a:r>
            <a:r>
              <a:rPr lang="ko-KR" altLang="en-US" sz="1400" dirty="0"/>
              <a:t>에 기입된 </a:t>
            </a:r>
            <a:r>
              <a:rPr lang="ko-KR" altLang="en-US" sz="1400" dirty="0" err="1"/>
              <a:t>함수포인터</a:t>
            </a:r>
            <a:r>
              <a:rPr lang="ko-KR" altLang="en-US" sz="1400" dirty="0"/>
              <a:t> 배열의 인덱스를 참조하여 해당 </a:t>
            </a:r>
            <a:r>
              <a:rPr lang="ko-KR" altLang="en-US" sz="1400" dirty="0" err="1"/>
              <a:t>함수포인터에</a:t>
            </a:r>
            <a:r>
              <a:rPr lang="ko-KR" altLang="en-US" sz="1400" dirty="0"/>
              <a:t> 이 세션의 포인터와 패킷을 매개변수로 하여 호출한다</a:t>
            </a:r>
            <a:r>
              <a:rPr lang="en-US" altLang="ko-KR" sz="1400" dirty="0"/>
              <a:t>.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1400" dirty="0"/>
              <a:t> 5 - 5. </a:t>
            </a:r>
            <a:r>
              <a:rPr lang="ko-KR" altLang="en-US" sz="1400" dirty="0"/>
              <a:t>등록된 </a:t>
            </a:r>
            <a:r>
              <a:rPr lang="ko-KR" altLang="en-US" sz="1400" dirty="0" err="1"/>
              <a:t>함수포인터</a:t>
            </a:r>
            <a:r>
              <a:rPr lang="ko-KR" altLang="en-US" sz="1400" dirty="0"/>
              <a:t> 내부에서 패킷에 유효하지 않은 값 </a:t>
            </a:r>
            <a:r>
              <a:rPr lang="en-US" altLang="ko-KR" sz="1400" dirty="0"/>
              <a:t>(</a:t>
            </a:r>
            <a:r>
              <a:rPr lang="ko-KR" altLang="en-US" sz="1400" dirty="0"/>
              <a:t>배열의 인덱스를 넘어가거나 갈 수 없는 지역의 좌표 등</a:t>
            </a:r>
            <a:r>
              <a:rPr lang="en-US" altLang="ko-KR" sz="1400" dirty="0"/>
              <a:t>…)</a:t>
            </a:r>
            <a:r>
              <a:rPr lang="ko-KR" altLang="en-US" sz="1400" dirty="0"/>
              <a:t>이 있다면 </a:t>
            </a:r>
            <a:r>
              <a:rPr lang="en-US" altLang="ko-KR" sz="1400" dirty="0"/>
              <a:t>false </a:t>
            </a:r>
            <a:r>
              <a:rPr lang="ko-KR" altLang="en-US" sz="1400" dirty="0"/>
              <a:t>값을 </a:t>
            </a:r>
            <a:r>
              <a:rPr lang="ko-KR" altLang="en-US" sz="1400" dirty="0" err="1"/>
              <a:t>리턴하여</a:t>
            </a:r>
            <a:r>
              <a:rPr lang="ko-KR" altLang="en-US" sz="1400" dirty="0"/>
              <a:t> 문제가 있음을 알린다</a:t>
            </a:r>
            <a:r>
              <a:rPr lang="en-US" altLang="ko-KR" sz="1400" dirty="0"/>
              <a:t>. (</a:t>
            </a:r>
            <a:r>
              <a:rPr lang="en-US" altLang="ko-KR" sz="1400" dirty="0" err="1"/>
              <a:t>PacketHeader</a:t>
            </a:r>
            <a:r>
              <a:rPr lang="ko-KR" altLang="en-US" sz="1400" dirty="0"/>
              <a:t>에 기입된 패킷의 사이즈와 핸들링 할 패킷의 사이즈가 같은 지의 여부도 확인한다</a:t>
            </a:r>
            <a:r>
              <a:rPr lang="en-US" altLang="ko-KR" sz="1400" dirty="0"/>
              <a:t>.)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1400" dirty="0"/>
              <a:t>6. </a:t>
            </a:r>
            <a:r>
              <a:rPr lang="ko-KR" altLang="en-US" sz="1400" dirty="0"/>
              <a:t>해당 패킷에 대한 이벤트를 처리 후 아직도 처리할 데이터가 남았다면 </a:t>
            </a:r>
            <a:r>
              <a:rPr lang="en-US" altLang="ko-KR" sz="1400" dirty="0"/>
              <a:t>1</a:t>
            </a:r>
            <a:r>
              <a:rPr lang="ko-KR" altLang="en-US" sz="1400" dirty="0"/>
              <a:t>로 돌아가 위의 과정을 반복한다</a:t>
            </a:r>
            <a:r>
              <a:rPr lang="en-US" altLang="ko-KR" sz="1400" dirty="0"/>
              <a:t>.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1400" dirty="0"/>
              <a:t>(</a:t>
            </a:r>
            <a:r>
              <a:rPr lang="ko-KR" altLang="en-US" sz="1400" dirty="0"/>
              <a:t>위의 방식은 클라이언트의 네트워크 관련 로직에도 거의 동일하게 적용하였다</a:t>
            </a:r>
            <a:r>
              <a:rPr lang="en-US" altLang="ko-KR" sz="1400" dirty="0"/>
              <a:t>.)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84062090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1A9333A-609F-72DD-361F-85E88F7BFE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</a:t>
            </a:r>
            <a:r>
              <a:rPr lang="ko-KR" altLang="en-US" sz="2000" dirty="0"/>
              <a:t>패킷 핸들링</a:t>
            </a:r>
            <a:r>
              <a:rPr lang="en-US" altLang="ko-KR" sz="2000" dirty="0"/>
              <a:t>)</a:t>
            </a:r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7AD62D1B-58B0-C813-369B-B087129E1EB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738" y="1004000"/>
            <a:ext cx="4981573" cy="4049013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98652608-5A68-5D49-8A1E-7866E396A65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95875" y="1003999"/>
            <a:ext cx="4667532" cy="404901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5BE5931-8A5F-29D1-BBB4-A068C6B1D5DE}"/>
              </a:ext>
            </a:extLst>
          </p:cNvPr>
          <p:cNvSpPr txBox="1"/>
          <p:nvPr/>
        </p:nvSpPr>
        <p:spPr>
          <a:xfrm>
            <a:off x="2697955" y="5237112"/>
            <a:ext cx="5719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관련 코드는 </a:t>
            </a:r>
            <a:r>
              <a:rPr lang="en-US" altLang="ko-KR" sz="1200" dirty="0"/>
              <a:t>PacketSession.cpp </a:t>
            </a:r>
            <a:r>
              <a:rPr lang="ko-KR" altLang="en-US" sz="1200" dirty="0"/>
              <a:t>및 </a:t>
            </a:r>
            <a:r>
              <a:rPr lang="en-US" altLang="ko-KR" sz="1200" dirty="0"/>
              <a:t>c2s_PacketHandler.h </a:t>
            </a:r>
            <a:r>
              <a:rPr lang="ko-KR" altLang="en-US" sz="1200" dirty="0"/>
              <a:t>참조</a:t>
            </a:r>
          </a:p>
        </p:txBody>
      </p:sp>
    </p:spTree>
    <p:extLst>
      <p:ext uri="{BB962C8B-B14F-4D97-AF65-F5344CB8AC3E}">
        <p14:creationId xmlns:p14="http://schemas.microsoft.com/office/powerpoint/2010/main" val="132422823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51170BF-0A70-F8A9-8D2D-0D3D9CAFB3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1629" y="42176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</a:t>
            </a:r>
            <a:r>
              <a:rPr lang="ko-KR" altLang="en-US" sz="2000" dirty="0"/>
              <a:t>패킷 핸들링</a:t>
            </a:r>
            <a:r>
              <a:rPr lang="en-US" altLang="ko-KR" sz="2000" dirty="0"/>
              <a:t>)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F7459E2-A74B-7C39-42DB-B4563B364552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287337" y="785611"/>
            <a:ext cx="9505949" cy="2148776"/>
          </a:xfrm>
        </p:spPr>
        <p:txBody>
          <a:bodyPr>
            <a:normAutofit fontScale="70000" lnSpcReduction="20000"/>
          </a:bodyPr>
          <a:lstStyle/>
          <a:p>
            <a:pPr>
              <a:lnSpc>
                <a:spcPct val="160000"/>
              </a:lnSpc>
              <a:buFontTx/>
              <a:buChar char="-"/>
            </a:pPr>
            <a:r>
              <a:rPr lang="ko-KR" altLang="en-US" sz="1800" dirty="0"/>
              <a:t>나는 무엇을 고민했나</a:t>
            </a:r>
            <a:r>
              <a:rPr lang="en-US" altLang="ko-KR" sz="1800" dirty="0"/>
              <a:t>?:</a:t>
            </a:r>
          </a:p>
          <a:p>
            <a:pPr marL="342900" indent="-342900">
              <a:lnSpc>
                <a:spcPct val="160000"/>
              </a:lnSpc>
              <a:buAutoNum type="arabicPeriod"/>
            </a:pPr>
            <a:r>
              <a:rPr lang="ko-KR" altLang="en-US" sz="1300" dirty="0"/>
              <a:t>패킷이 뭉쳐서 오거나 쪼개져서 온다면 </a:t>
            </a:r>
            <a:r>
              <a:rPr lang="en-US" altLang="ko-KR" sz="1300" dirty="0"/>
              <a:t>?</a:t>
            </a:r>
          </a:p>
          <a:p>
            <a:pPr>
              <a:lnSpc>
                <a:spcPct val="160000"/>
              </a:lnSpc>
              <a:buFontTx/>
              <a:buChar char="-"/>
            </a:pPr>
            <a:r>
              <a:rPr lang="ko-KR" altLang="en-US" sz="1300" dirty="0"/>
              <a:t>예</a:t>
            </a:r>
            <a:r>
              <a:rPr lang="en-US" altLang="ko-KR" sz="1300" dirty="0"/>
              <a:t>) </a:t>
            </a:r>
            <a:r>
              <a:rPr lang="ko-KR" altLang="en-US" sz="1300" dirty="0"/>
              <a:t>패킷 </a:t>
            </a:r>
            <a:r>
              <a:rPr lang="en-US" altLang="ko-KR" sz="1300" dirty="0"/>
              <a:t>A, B</a:t>
            </a:r>
            <a:r>
              <a:rPr lang="ko-KR" altLang="en-US" sz="1300" dirty="0"/>
              <a:t>가 있을 때 패킷 </a:t>
            </a:r>
            <a:r>
              <a:rPr lang="en-US" altLang="ko-KR" sz="1300" dirty="0"/>
              <a:t>A</a:t>
            </a:r>
            <a:r>
              <a:rPr lang="ko-KR" altLang="en-US" sz="1300" dirty="0"/>
              <a:t>의 일부만 도착한 경우 또는 패킷 </a:t>
            </a:r>
            <a:r>
              <a:rPr lang="en-US" altLang="ko-KR" sz="1300" dirty="0"/>
              <a:t>A</a:t>
            </a:r>
            <a:r>
              <a:rPr lang="ko-KR" altLang="en-US" sz="1300" dirty="0"/>
              <a:t>와 </a:t>
            </a:r>
            <a:r>
              <a:rPr lang="en-US" altLang="ko-KR" sz="1300" dirty="0"/>
              <a:t>B</a:t>
            </a:r>
            <a:r>
              <a:rPr lang="ko-KR" altLang="en-US" sz="1300" dirty="0"/>
              <a:t>를 한꺼번에 뭉쳐서 수신 받은 경우</a:t>
            </a:r>
            <a:endParaRPr lang="en-US" altLang="ko-KR" sz="1300" dirty="0"/>
          </a:p>
          <a:p>
            <a:pPr>
              <a:lnSpc>
                <a:spcPct val="160000"/>
              </a:lnSpc>
              <a:buFontTx/>
              <a:buChar char="-"/>
            </a:pPr>
            <a:r>
              <a:rPr lang="ko-KR" altLang="en-US" sz="1300" dirty="0"/>
              <a:t>해당 세션의 </a:t>
            </a:r>
            <a:r>
              <a:rPr lang="en-US" altLang="ko-KR" sz="1300" dirty="0" err="1"/>
              <a:t>Recv</a:t>
            </a:r>
            <a:r>
              <a:rPr lang="en-US" altLang="ko-KR" sz="1300" dirty="0"/>
              <a:t> </a:t>
            </a:r>
            <a:r>
              <a:rPr lang="ko-KR" altLang="en-US" sz="1300" dirty="0"/>
              <a:t>받은 데이터와 상황을 관리할 </a:t>
            </a:r>
            <a:r>
              <a:rPr lang="en-US" altLang="ko-KR" sz="1300" dirty="0" err="1"/>
              <a:t>RecvBuffer</a:t>
            </a:r>
            <a:r>
              <a:rPr lang="en-US" altLang="ko-KR" sz="1300" dirty="0"/>
              <a:t> </a:t>
            </a:r>
            <a:r>
              <a:rPr lang="ko-KR" altLang="en-US" sz="1300" b="1" dirty="0"/>
              <a:t>클래스를 제작하였다</a:t>
            </a:r>
            <a:r>
              <a:rPr lang="en-US" altLang="ko-KR" sz="1300" b="1" dirty="0"/>
              <a:t>.</a:t>
            </a:r>
          </a:p>
          <a:p>
            <a:pPr>
              <a:lnSpc>
                <a:spcPct val="160000"/>
              </a:lnSpc>
              <a:buFontTx/>
              <a:buChar char="-"/>
            </a:pPr>
            <a:r>
              <a:rPr lang="ko-KR" altLang="en-US" sz="1300" b="1" dirty="0"/>
              <a:t>해당 클래스에는 처리를 시작해야 할 버퍼의 인덱스</a:t>
            </a:r>
            <a:r>
              <a:rPr lang="en-US" altLang="ko-KR" sz="1300" b="1" dirty="0"/>
              <a:t>1</a:t>
            </a:r>
            <a:r>
              <a:rPr lang="ko-KR" altLang="en-US" sz="1300" b="1" dirty="0"/>
              <a:t>과</a:t>
            </a:r>
            <a:r>
              <a:rPr lang="en-US" altLang="ko-KR" sz="1300" b="1" dirty="0"/>
              <a:t>, </a:t>
            </a:r>
            <a:r>
              <a:rPr lang="ko-KR" altLang="en-US" sz="1300" b="1" dirty="0"/>
              <a:t>마지막으로 </a:t>
            </a:r>
            <a:r>
              <a:rPr lang="ko-KR" altLang="en-US" sz="1300" dirty="0"/>
              <a:t>수신 받은 데이터의 바로 뒤를 가리키는 인덱스</a:t>
            </a:r>
            <a:r>
              <a:rPr lang="en-US" altLang="ko-KR" sz="1300" dirty="0"/>
              <a:t>2</a:t>
            </a:r>
            <a:r>
              <a:rPr lang="ko-KR" altLang="en-US" sz="1300" dirty="0"/>
              <a:t>를 가지고 있다</a:t>
            </a:r>
            <a:r>
              <a:rPr lang="en-US" altLang="ko-KR" sz="1300" dirty="0"/>
              <a:t>.</a:t>
            </a:r>
          </a:p>
          <a:p>
            <a:pPr>
              <a:lnSpc>
                <a:spcPct val="160000"/>
              </a:lnSpc>
              <a:buFontTx/>
              <a:buChar char="-"/>
            </a:pPr>
            <a:r>
              <a:rPr lang="en-US" altLang="ko-KR" sz="1300" dirty="0" err="1"/>
              <a:t>Recv</a:t>
            </a:r>
            <a:r>
              <a:rPr lang="ko-KR" altLang="en-US" sz="1300" dirty="0"/>
              <a:t>를 받았다면 일단 받은 크기만큼 인덱스</a:t>
            </a:r>
            <a:r>
              <a:rPr lang="en-US" altLang="ko-KR" sz="1300" dirty="0"/>
              <a:t>2</a:t>
            </a:r>
            <a:r>
              <a:rPr lang="ko-KR" altLang="en-US" sz="1300" dirty="0"/>
              <a:t>를 뒤로 보낸다</a:t>
            </a:r>
            <a:r>
              <a:rPr lang="en-US" altLang="ko-KR" sz="1300" dirty="0"/>
              <a:t>.</a:t>
            </a:r>
          </a:p>
          <a:p>
            <a:pPr>
              <a:lnSpc>
                <a:spcPct val="160000"/>
              </a:lnSpc>
              <a:buFontTx/>
              <a:buChar char="-"/>
            </a:pPr>
            <a:r>
              <a:rPr lang="ko-KR" altLang="en-US" sz="1300" dirty="0"/>
              <a:t>파싱 해보고 패킷을 처리할 수 있다면 패킷을 처리하고 인덱스</a:t>
            </a:r>
            <a:r>
              <a:rPr lang="en-US" altLang="ko-KR" sz="1300" dirty="0"/>
              <a:t>1</a:t>
            </a:r>
            <a:r>
              <a:rPr lang="ko-KR" altLang="en-US" sz="1300" dirty="0"/>
              <a:t>을 패킷의 크기만큼  뒤로 보낸다</a:t>
            </a:r>
            <a:r>
              <a:rPr lang="en-US" altLang="ko-KR" sz="1300" dirty="0"/>
              <a:t>.</a:t>
            </a:r>
          </a:p>
          <a:p>
            <a:pPr>
              <a:lnSpc>
                <a:spcPct val="160000"/>
              </a:lnSpc>
              <a:buFontTx/>
              <a:buChar char="-"/>
            </a:pPr>
            <a:r>
              <a:rPr lang="ko-KR" altLang="en-US" sz="1300" dirty="0"/>
              <a:t>패킷의 일부만 도착한 경우라면 인덱스</a:t>
            </a:r>
            <a:r>
              <a:rPr lang="en-US" altLang="ko-KR" sz="1300" dirty="0"/>
              <a:t>2</a:t>
            </a:r>
            <a:r>
              <a:rPr lang="ko-KR" altLang="en-US" sz="1300" dirty="0"/>
              <a:t>를 뒤로만 보내서 버퍼에 기록된 데이터의 크기</a:t>
            </a:r>
            <a:r>
              <a:rPr lang="en-US" altLang="ko-KR" sz="1300" dirty="0"/>
              <a:t>(</a:t>
            </a:r>
            <a:r>
              <a:rPr lang="ko-KR" altLang="en-US" sz="1300" dirty="0"/>
              <a:t>인덱스</a:t>
            </a:r>
            <a:r>
              <a:rPr lang="en-US" altLang="ko-KR" sz="1300" dirty="0"/>
              <a:t>2 – </a:t>
            </a:r>
            <a:r>
              <a:rPr lang="ko-KR" altLang="en-US" sz="1300" dirty="0"/>
              <a:t>인덱스</a:t>
            </a:r>
            <a:r>
              <a:rPr lang="en-US" altLang="ko-KR" sz="1300" dirty="0"/>
              <a:t>1)</a:t>
            </a:r>
            <a:r>
              <a:rPr lang="ko-KR" altLang="en-US" sz="1300" dirty="0"/>
              <a:t>이 패킷</a:t>
            </a:r>
            <a:r>
              <a:rPr lang="en-US" altLang="ko-KR" sz="1300" dirty="0"/>
              <a:t>A</a:t>
            </a:r>
            <a:r>
              <a:rPr lang="ko-KR" altLang="en-US" sz="1300" dirty="0"/>
              <a:t>의 크기만큼 될 때까지 </a:t>
            </a:r>
            <a:r>
              <a:rPr lang="en-US" altLang="ko-KR" sz="1300" dirty="0" err="1"/>
              <a:t>Recv</a:t>
            </a:r>
            <a:r>
              <a:rPr lang="ko-KR" altLang="en-US" sz="1300" dirty="0"/>
              <a:t>를 기다린다</a:t>
            </a:r>
            <a:r>
              <a:rPr lang="en-US" altLang="ko-KR" sz="1300" dirty="0"/>
              <a:t>.</a:t>
            </a:r>
          </a:p>
          <a:p>
            <a:pPr>
              <a:lnSpc>
                <a:spcPct val="160000"/>
              </a:lnSpc>
              <a:buFontTx/>
              <a:buChar char="-"/>
            </a:pPr>
            <a:r>
              <a:rPr lang="ko-KR" altLang="en-US" sz="1300" dirty="0"/>
              <a:t>뭉쳐서 온 경우라면 첫번째 패킷을 처리하고 인덱스</a:t>
            </a:r>
            <a:r>
              <a:rPr lang="en-US" altLang="ko-KR" sz="1300" dirty="0"/>
              <a:t>1</a:t>
            </a:r>
            <a:r>
              <a:rPr lang="ko-KR" altLang="en-US" sz="1300" dirty="0"/>
              <a:t>을 뒤로 보낸 뒤 다시 남은 데이터의 크기 </a:t>
            </a:r>
            <a:r>
              <a:rPr lang="en-US" altLang="ko-KR" sz="1300" dirty="0"/>
              <a:t>(</a:t>
            </a:r>
            <a:r>
              <a:rPr lang="ko-KR" altLang="en-US" sz="1300" dirty="0"/>
              <a:t>인덱스</a:t>
            </a:r>
            <a:r>
              <a:rPr lang="en-US" altLang="ko-KR" sz="1300" dirty="0"/>
              <a:t>2 – </a:t>
            </a:r>
            <a:r>
              <a:rPr lang="ko-KR" altLang="en-US" sz="1300" dirty="0"/>
              <a:t>인덱스</a:t>
            </a:r>
            <a:r>
              <a:rPr lang="en-US" altLang="ko-KR" sz="1300" dirty="0"/>
              <a:t>1)</a:t>
            </a:r>
            <a:r>
              <a:rPr lang="ko-KR" altLang="en-US" sz="1300" dirty="0"/>
              <a:t>을 확인한다</a:t>
            </a:r>
            <a:r>
              <a:rPr lang="en-US" altLang="ko-KR" sz="1300" dirty="0"/>
              <a:t>.</a:t>
            </a:r>
          </a:p>
          <a:p>
            <a:pPr>
              <a:lnSpc>
                <a:spcPct val="160000"/>
              </a:lnSpc>
              <a:buFontTx/>
              <a:buChar char="-"/>
            </a:pPr>
            <a:r>
              <a:rPr lang="ko-KR" altLang="en-US" sz="1300" dirty="0"/>
              <a:t>남은 데이터의 크기가 다음 패킷을 처리할 수 있다면 같은 과정을 반복하고 그렇지 않다면 다시 다음 패킷을 처리할 크기가 될 때 까지 </a:t>
            </a:r>
            <a:r>
              <a:rPr lang="en-US" altLang="ko-KR" sz="1300" dirty="0" err="1"/>
              <a:t>Recv</a:t>
            </a:r>
            <a:r>
              <a:rPr lang="ko-KR" altLang="en-US" sz="1300" dirty="0"/>
              <a:t>를 기다린다</a:t>
            </a:r>
            <a:r>
              <a:rPr lang="en-US" altLang="ko-KR" sz="1300" dirty="0"/>
              <a:t>.</a:t>
            </a:r>
          </a:p>
          <a:p>
            <a:pPr marL="0" indent="0">
              <a:buNone/>
            </a:pPr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9E5A0BB0-1F30-9CC1-D138-37EEB6104FB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964" y="2835275"/>
            <a:ext cx="6143624" cy="283527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5102F65-1714-CFAC-A2D1-2FB5DB0C244D}"/>
              </a:ext>
            </a:extLst>
          </p:cNvPr>
          <p:cNvSpPr txBox="1"/>
          <p:nvPr/>
        </p:nvSpPr>
        <p:spPr>
          <a:xfrm>
            <a:off x="6256335" y="2786749"/>
            <a:ext cx="3743324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오버랩드</a:t>
            </a:r>
            <a:r>
              <a:rPr lang="ko-KR" altLang="en-US" dirty="0"/>
              <a:t> 구조체를 넘긴 </a:t>
            </a:r>
            <a:r>
              <a:rPr lang="en-US" altLang="ko-KR" dirty="0"/>
              <a:t>WSA </a:t>
            </a:r>
            <a:r>
              <a:rPr lang="en-US" altLang="ko-KR" dirty="0" err="1"/>
              <a:t>Recv</a:t>
            </a:r>
            <a:r>
              <a:rPr lang="ko-KR" altLang="en-US" dirty="0"/>
              <a:t>는 유저가 제공한 버퍼에 페이지 단위로 </a:t>
            </a:r>
            <a:r>
              <a:rPr lang="en-US" altLang="ko-KR" dirty="0"/>
              <a:t>PAGE_LOCKING</a:t>
            </a:r>
            <a:r>
              <a:rPr lang="ko-KR" altLang="en-US" dirty="0"/>
              <a:t>을 걸기 때문에</a:t>
            </a:r>
            <a:endParaRPr lang="en-US" altLang="ko-KR" dirty="0"/>
          </a:p>
          <a:p>
            <a:r>
              <a:rPr lang="en-US" altLang="ko-KR" dirty="0"/>
              <a:t>PAGE</a:t>
            </a:r>
            <a:r>
              <a:rPr lang="ko-KR" altLang="en-US" dirty="0"/>
              <a:t>단위로 버퍼를 할당하여 </a:t>
            </a:r>
            <a:r>
              <a:rPr lang="en-US" altLang="ko-KR" dirty="0"/>
              <a:t>PAGE</a:t>
            </a:r>
            <a:r>
              <a:rPr lang="ko-KR" altLang="en-US" dirty="0"/>
              <a:t>의 시작주소를 </a:t>
            </a:r>
            <a:r>
              <a:rPr lang="en-US" altLang="ko-KR" dirty="0"/>
              <a:t>IOCP</a:t>
            </a:r>
            <a:r>
              <a:rPr lang="ko-KR" altLang="en-US" dirty="0"/>
              <a:t>에 제공하도록 하였다</a:t>
            </a:r>
            <a:r>
              <a:rPr lang="en-US" altLang="ko-KR" dirty="0"/>
              <a:t>. </a:t>
            </a:r>
          </a:p>
          <a:p>
            <a:r>
              <a:rPr lang="ko-KR" altLang="en-US" dirty="0"/>
              <a:t>코드 전체는 </a:t>
            </a:r>
            <a:r>
              <a:rPr lang="en-US" altLang="ko-KR" dirty="0" err="1"/>
              <a:t>RecvBuffer.h</a:t>
            </a:r>
            <a:r>
              <a:rPr lang="en-US" altLang="ko-KR" dirty="0"/>
              <a:t> , </a:t>
            </a:r>
            <a:r>
              <a:rPr lang="en-US" altLang="ko-KR" dirty="0" err="1"/>
              <a:t>cpp</a:t>
            </a:r>
            <a:r>
              <a:rPr lang="en-US" altLang="ko-KR" dirty="0"/>
              <a:t> </a:t>
            </a:r>
            <a:r>
              <a:rPr lang="ko-KR" altLang="en-US" dirty="0"/>
              <a:t>참조</a:t>
            </a:r>
          </a:p>
        </p:txBody>
      </p:sp>
    </p:spTree>
    <p:extLst>
      <p:ext uri="{BB962C8B-B14F-4D97-AF65-F5344CB8AC3E}">
        <p14:creationId xmlns:p14="http://schemas.microsoft.com/office/powerpoint/2010/main" val="334996270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4F04501-8C25-2B97-9B3C-4B9A510984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1138" y="151714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</a:t>
            </a:r>
            <a:r>
              <a:rPr lang="ko-KR" altLang="en-US" sz="2000" dirty="0"/>
              <a:t>패킷 핸들링</a:t>
            </a:r>
            <a:r>
              <a:rPr lang="en-US" altLang="ko-KR" sz="2000" dirty="0"/>
              <a:t>)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EC465C4-7E96-B640-6582-4421EE768415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461138" y="682074"/>
            <a:ext cx="9071640" cy="1368975"/>
          </a:xfrm>
        </p:spPr>
        <p:txBody>
          <a:bodyPr>
            <a:normAutofit fontScale="92500" lnSpcReduction="20000"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altLang="ko-KR" sz="1200" dirty="0"/>
              <a:t>2. </a:t>
            </a:r>
            <a:r>
              <a:rPr lang="en-US" altLang="ko-KR" sz="1200" dirty="0" err="1"/>
              <a:t>Recv</a:t>
            </a:r>
            <a:r>
              <a:rPr lang="ko-KR" altLang="en-US" sz="1200" dirty="0"/>
              <a:t>버퍼가 꽉 차면</a:t>
            </a:r>
            <a:r>
              <a:rPr lang="en-US" altLang="ko-KR" sz="1200" dirty="0"/>
              <a:t>?:</a:t>
            </a:r>
          </a:p>
          <a:p>
            <a:pPr>
              <a:lnSpc>
                <a:spcPct val="150000"/>
              </a:lnSpc>
              <a:buFontTx/>
              <a:buChar char="-"/>
            </a:pPr>
            <a:r>
              <a:rPr lang="ko-KR" altLang="en-US" sz="1200" dirty="0"/>
              <a:t>앞서 언급한 실제로 처리를 시작해야 할 버퍼의 인덱스와 마지막으로 </a:t>
            </a:r>
            <a:r>
              <a:rPr lang="ko-KR" altLang="en-US" sz="1200" dirty="0" err="1"/>
              <a:t>수신받은</a:t>
            </a:r>
            <a:r>
              <a:rPr lang="ko-KR" altLang="en-US" sz="1200" dirty="0"/>
              <a:t> 데이터의 </a:t>
            </a:r>
            <a:r>
              <a:rPr lang="ko-KR" altLang="en-US" sz="1200" dirty="0" err="1"/>
              <a:t>바로뒤를</a:t>
            </a:r>
            <a:r>
              <a:rPr lang="ko-KR" altLang="en-US" sz="1200" dirty="0"/>
              <a:t> 가리키는 인덱스 </a:t>
            </a:r>
            <a:r>
              <a:rPr lang="en-US" altLang="ko-KR" sz="1200" dirty="0"/>
              <a:t>(</a:t>
            </a:r>
            <a:r>
              <a:rPr lang="ko-KR" altLang="en-US" sz="1200" dirty="0"/>
              <a:t>각각 인덱스</a:t>
            </a:r>
            <a:r>
              <a:rPr lang="en-US" altLang="ko-KR" sz="1200" dirty="0"/>
              <a:t>1</a:t>
            </a:r>
            <a:r>
              <a:rPr lang="ko-KR" altLang="en-US" sz="1200" dirty="0"/>
              <a:t>과 인덱스</a:t>
            </a:r>
            <a:r>
              <a:rPr lang="en-US" altLang="ko-KR" sz="1200" dirty="0"/>
              <a:t>2)</a:t>
            </a:r>
            <a:r>
              <a:rPr lang="ko-KR" altLang="en-US" sz="1200" dirty="0"/>
              <a:t>가 겹치는</a:t>
            </a:r>
            <a:r>
              <a:rPr lang="en-US" altLang="ko-KR" sz="1200" dirty="0"/>
              <a:t>(</a:t>
            </a:r>
            <a:r>
              <a:rPr lang="ko-KR" altLang="en-US" sz="1200" dirty="0"/>
              <a:t>같아지는</a:t>
            </a:r>
            <a:r>
              <a:rPr lang="en-US" altLang="ko-KR" sz="1200" dirty="0"/>
              <a:t>) </a:t>
            </a:r>
            <a:r>
              <a:rPr lang="ko-KR" altLang="en-US" sz="1200" dirty="0"/>
              <a:t>경우 수신된 모든 데이터를 잘 처리한 것 이므로 모든 인덱스의 위치를 </a:t>
            </a:r>
            <a:r>
              <a:rPr lang="en-US" altLang="ko-KR" sz="1200" dirty="0"/>
              <a:t>0</a:t>
            </a:r>
            <a:r>
              <a:rPr lang="ko-KR" altLang="en-US" sz="1200" dirty="0"/>
              <a:t>부터 다시 시작하게 한다</a:t>
            </a:r>
            <a:r>
              <a:rPr lang="en-US" altLang="ko-KR" sz="1200" dirty="0"/>
              <a:t>.</a:t>
            </a:r>
          </a:p>
          <a:p>
            <a:pPr>
              <a:lnSpc>
                <a:spcPct val="150000"/>
              </a:lnSpc>
              <a:buFontTx/>
              <a:buChar char="-"/>
            </a:pPr>
            <a:r>
              <a:rPr lang="ko-KR" altLang="en-US" sz="1200" dirty="0"/>
              <a:t>이렇지 못한 상황이 계속 발생할 경우 한계용량을 설정하고 현재 버퍼에 들어있는 처리되지 못한 데이터의 양과 설정한 한계용량의 크기를 계속 비교하여 이 크기가 한계용량을 넘어섰을 경우 처리되지 못한 데이터를 전부 </a:t>
            </a:r>
            <a:r>
              <a:rPr lang="en-US" altLang="ko-KR" sz="1200" dirty="0"/>
              <a:t>0</a:t>
            </a:r>
            <a:r>
              <a:rPr lang="ko-KR" altLang="en-US" sz="1200" dirty="0"/>
              <a:t>번 인덱스로 </a:t>
            </a:r>
            <a:r>
              <a:rPr lang="en-US" altLang="ko-KR" sz="1200" dirty="0" err="1"/>
              <a:t>memcpy</a:t>
            </a:r>
            <a:r>
              <a:rPr lang="ko-KR" altLang="en-US" sz="1200" dirty="0"/>
              <a:t>를 하고 인덱스</a:t>
            </a:r>
            <a:r>
              <a:rPr lang="en-US" altLang="ko-KR" sz="1200" dirty="0"/>
              <a:t>1</a:t>
            </a:r>
            <a:r>
              <a:rPr lang="ko-KR" altLang="en-US" sz="1200" dirty="0"/>
              <a:t>의 위치를 </a:t>
            </a:r>
            <a:r>
              <a:rPr lang="en-US" altLang="ko-KR" sz="1200" dirty="0"/>
              <a:t>0</a:t>
            </a:r>
            <a:r>
              <a:rPr lang="ko-KR" altLang="en-US" sz="1200" dirty="0"/>
              <a:t>으로</a:t>
            </a:r>
            <a:r>
              <a:rPr lang="en-US" altLang="ko-KR" sz="1200" dirty="0"/>
              <a:t>, </a:t>
            </a:r>
            <a:r>
              <a:rPr lang="ko-KR" altLang="en-US" sz="1200" dirty="0"/>
              <a:t>인덱스</a:t>
            </a:r>
            <a:r>
              <a:rPr lang="en-US" altLang="ko-KR" sz="1200" dirty="0"/>
              <a:t>2</a:t>
            </a:r>
            <a:r>
              <a:rPr lang="ko-KR" altLang="en-US" sz="1200" dirty="0"/>
              <a:t>의 위치는 해당 데이터의 크기만큼 으로 바꾼다</a:t>
            </a:r>
            <a:r>
              <a:rPr lang="en-US" altLang="ko-KR" sz="1200" dirty="0"/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88AEEF2-4173-8249-D392-8FE9631A543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5888" y="2051049"/>
            <a:ext cx="4400550" cy="361950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8572D21-9299-0988-F434-922ECAC90F5F}"/>
              </a:ext>
            </a:extLst>
          </p:cNvPr>
          <p:cNvSpPr txBox="1"/>
          <p:nvPr/>
        </p:nvSpPr>
        <p:spPr>
          <a:xfrm>
            <a:off x="4861688" y="2176463"/>
            <a:ext cx="4448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한계용량을 넉넉하게 설정하여 두번째 상황의 발생은 가급적 일어나지 않게 하였다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8994310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13CF97-5966-FFDD-F520-96B3BA8F71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127901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서버구조</a:t>
            </a:r>
            <a:r>
              <a:rPr lang="en-US" altLang="ko-KR" dirty="0"/>
              <a:t> </a:t>
            </a:r>
            <a:r>
              <a:rPr lang="en-US" altLang="ko-KR" sz="2000" dirty="0"/>
              <a:t>(</a:t>
            </a:r>
            <a:r>
              <a:rPr lang="ko-KR" altLang="en-US" sz="2000" dirty="0"/>
              <a:t>패킷 핸들링</a:t>
            </a:r>
            <a:r>
              <a:rPr lang="en-US" altLang="ko-KR" sz="2000" dirty="0"/>
              <a:t>)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BEED747-37B8-1883-CE4E-FB2EA80A350D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419100" y="877815"/>
            <a:ext cx="9156540" cy="130817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z="1200" dirty="0"/>
              <a:t>3. </a:t>
            </a:r>
            <a:r>
              <a:rPr lang="en-US" altLang="ko-KR" sz="1200" dirty="0" err="1"/>
              <a:t>PacketHeader</a:t>
            </a:r>
            <a:r>
              <a:rPr lang="ko-KR" altLang="en-US" sz="1200" dirty="0"/>
              <a:t>에 들어있는 </a:t>
            </a:r>
            <a:r>
              <a:rPr lang="ko-KR" altLang="en-US" sz="1200" dirty="0" err="1"/>
              <a:t>함수포인터</a:t>
            </a:r>
            <a:r>
              <a:rPr lang="ko-KR" altLang="en-US" sz="1200" dirty="0"/>
              <a:t> 배열의 인덱스가 유효하지 않을 경우</a:t>
            </a:r>
            <a:r>
              <a:rPr lang="en-US" altLang="ko-KR" sz="1200" dirty="0"/>
              <a:t>?:</a:t>
            </a:r>
          </a:p>
          <a:p>
            <a:pPr marL="0" indent="0">
              <a:buNone/>
            </a:pPr>
            <a:r>
              <a:rPr lang="en-US" altLang="ko-KR" sz="1200" dirty="0"/>
              <a:t>-    </a:t>
            </a:r>
            <a:r>
              <a:rPr lang="ko-KR" altLang="en-US" sz="1200" dirty="0" err="1"/>
              <a:t>컨텐츠단에서</a:t>
            </a:r>
            <a:r>
              <a:rPr lang="ko-KR" altLang="en-US" sz="1200" dirty="0"/>
              <a:t> </a:t>
            </a:r>
            <a:r>
              <a:rPr lang="ko-KR" altLang="en-US" sz="1200" dirty="0" err="1"/>
              <a:t>함수포인터</a:t>
            </a:r>
            <a:r>
              <a:rPr lang="ko-KR" altLang="en-US" sz="1200" dirty="0"/>
              <a:t> 배열의 크기를 </a:t>
            </a:r>
            <a:r>
              <a:rPr lang="en-US" altLang="ko-KR" sz="1200" dirty="0"/>
              <a:t>UINT16MAX</a:t>
            </a:r>
            <a:r>
              <a:rPr lang="ko-KR" altLang="en-US" sz="1200" dirty="0"/>
              <a:t>로 하고 이 배열을 초기화 할 때 정의되지 않은 인덱스에는 전부 아무것도 하지 않고 </a:t>
            </a:r>
            <a:r>
              <a:rPr lang="en-US" altLang="ko-KR" sz="1200" dirty="0"/>
              <a:t>false</a:t>
            </a:r>
            <a:r>
              <a:rPr lang="ko-KR" altLang="en-US" sz="1200" dirty="0"/>
              <a:t>를 반환하는 </a:t>
            </a:r>
            <a:r>
              <a:rPr lang="ko-KR" altLang="en-US" sz="1200" dirty="0" err="1"/>
              <a:t>함수포인터를</a:t>
            </a:r>
            <a:r>
              <a:rPr lang="ko-KR" altLang="en-US" sz="1200" dirty="0"/>
              <a:t> 등록시킨다</a:t>
            </a:r>
            <a:r>
              <a:rPr lang="en-US" altLang="ko-KR" sz="1200" dirty="0"/>
              <a:t>.</a:t>
            </a:r>
          </a:p>
          <a:p>
            <a:pPr>
              <a:buFontTx/>
              <a:buChar char="-"/>
            </a:pPr>
            <a:r>
              <a:rPr lang="en-US" altLang="ko-KR" sz="1200" dirty="0" err="1"/>
              <a:t>PacketHeader</a:t>
            </a:r>
            <a:r>
              <a:rPr lang="ko-KR" altLang="en-US" sz="1200" dirty="0"/>
              <a:t>에 들어있던 인덱스 값을 </a:t>
            </a:r>
            <a:r>
              <a:rPr lang="en-US" altLang="ko-KR" sz="1200" dirty="0"/>
              <a:t>UINT16</a:t>
            </a:r>
            <a:r>
              <a:rPr lang="ko-KR" altLang="en-US" sz="1200" dirty="0"/>
              <a:t>으로 해석하여 배열의 범위를 초과하지 않게 한다</a:t>
            </a:r>
            <a:r>
              <a:rPr lang="en-US" altLang="ko-KR" sz="1200" dirty="0"/>
              <a:t>.</a:t>
            </a:r>
          </a:p>
          <a:p>
            <a:pPr>
              <a:buFontTx/>
              <a:buChar char="-"/>
            </a:pPr>
            <a:r>
              <a:rPr lang="ko-KR" altLang="en-US" sz="1200" dirty="0"/>
              <a:t>유효하지 않은 인덱스의 </a:t>
            </a:r>
            <a:r>
              <a:rPr lang="ko-KR" altLang="en-US" sz="1200" dirty="0" err="1"/>
              <a:t>함수포인터를</a:t>
            </a:r>
            <a:r>
              <a:rPr lang="ko-KR" altLang="en-US" sz="1200" dirty="0"/>
              <a:t> 호출하더라도 아무것도 하지 않고 </a:t>
            </a:r>
            <a:r>
              <a:rPr lang="en-US" altLang="ko-KR" sz="1200" dirty="0"/>
              <a:t>false</a:t>
            </a:r>
            <a:r>
              <a:rPr lang="ko-KR" altLang="en-US" sz="1200" dirty="0"/>
              <a:t>를 반환하는 </a:t>
            </a:r>
            <a:r>
              <a:rPr lang="ko-KR" altLang="en-US" sz="1200" dirty="0" err="1"/>
              <a:t>함수포인터를</a:t>
            </a:r>
            <a:r>
              <a:rPr lang="ko-KR" altLang="en-US" sz="1200" dirty="0"/>
              <a:t> 호출하게 된다</a:t>
            </a:r>
            <a:r>
              <a:rPr lang="en-US" altLang="ko-KR" sz="1200" dirty="0"/>
              <a:t>.</a:t>
            </a:r>
          </a:p>
          <a:p>
            <a:pPr>
              <a:buFontTx/>
              <a:buChar char="-"/>
            </a:pPr>
            <a:endParaRPr lang="en-US" altLang="ko-KR" sz="1200" dirty="0"/>
          </a:p>
          <a:p>
            <a:pPr marL="0" indent="0">
              <a:buNone/>
            </a:pPr>
            <a:endParaRPr lang="ko-KR" altLang="en-US" sz="1200" dirty="0"/>
          </a:p>
        </p:txBody>
      </p:sp>
      <p:sp>
        <p:nvSpPr>
          <p:cNvPr id="4" name="텍스트 개체 틀 2">
            <a:extLst>
              <a:ext uri="{FF2B5EF4-FFF2-40B4-BE49-F238E27FC236}">
                <a16:creationId xmlns:a16="http://schemas.microsoft.com/office/drawing/2014/main" id="{239191CA-DE56-7CAF-EC60-74C45FFDDA9B}"/>
              </a:ext>
            </a:extLst>
          </p:cNvPr>
          <p:cNvSpPr txBox="1">
            <a:spLocks/>
          </p:cNvSpPr>
          <p:nvPr/>
        </p:nvSpPr>
        <p:spPr>
          <a:xfrm>
            <a:off x="419100" y="3269480"/>
            <a:ext cx="9489915" cy="1450205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1200" dirty="0"/>
              <a:t>4. </a:t>
            </a:r>
            <a:r>
              <a:rPr lang="en-US" altLang="ko-KR" sz="1200" dirty="0" err="1"/>
              <a:t>PacketHeader</a:t>
            </a:r>
            <a:r>
              <a:rPr lang="ko-KR" altLang="en-US" sz="1200" dirty="0"/>
              <a:t>에 들어있는 패킷의 사이즈가 실제 패킷의 사이즈와 다를 경우</a:t>
            </a:r>
            <a:r>
              <a:rPr lang="en-US" altLang="ko-KR" sz="1200" dirty="0"/>
              <a:t>?:</a:t>
            </a:r>
          </a:p>
          <a:p>
            <a:r>
              <a:rPr lang="en-US" altLang="ko-KR" sz="1200" dirty="0"/>
              <a:t>-   AWS</a:t>
            </a:r>
            <a:r>
              <a:rPr lang="ko-KR" altLang="en-US" sz="1200" dirty="0"/>
              <a:t>를 이용한 클라우드 서비스 시 경험한 버그</a:t>
            </a:r>
            <a:endParaRPr lang="en-US" altLang="ko-KR" sz="1200" dirty="0"/>
          </a:p>
          <a:p>
            <a:pPr marL="171450" indent="-171450">
              <a:buFontTx/>
              <a:buChar char="-"/>
            </a:pPr>
            <a:r>
              <a:rPr lang="ko-KR" altLang="en-US" sz="1200" dirty="0"/>
              <a:t>특히 이 값이 </a:t>
            </a:r>
            <a:r>
              <a:rPr lang="en-US" altLang="ko-KR" sz="1200" dirty="0"/>
              <a:t>0</a:t>
            </a:r>
            <a:r>
              <a:rPr lang="ko-KR" altLang="en-US" sz="1200" dirty="0"/>
              <a:t>일 경우 무한루프에 빠지는 심각한 문제가 발생하였음</a:t>
            </a:r>
            <a:endParaRPr lang="en-US" altLang="ko-KR" sz="1200" dirty="0"/>
          </a:p>
          <a:p>
            <a:pPr marL="171450" indent="-171450">
              <a:buFontTx/>
              <a:buChar char="-"/>
            </a:pPr>
            <a:r>
              <a:rPr lang="ko-KR" altLang="en-US" sz="1200" dirty="0"/>
              <a:t>실제 패킷보다 크건 작건 다음 패킷 처리 시 문제 발생 </a:t>
            </a:r>
            <a:r>
              <a:rPr lang="en-US" altLang="ko-KR" sz="1200" dirty="0"/>
              <a:t>(</a:t>
            </a:r>
            <a:r>
              <a:rPr lang="ko-KR" altLang="en-US" sz="1200" dirty="0"/>
              <a:t>버퍼의 엉뚱한 주소를 가리키게 됨</a:t>
            </a:r>
            <a:r>
              <a:rPr lang="en-US" altLang="ko-KR" sz="1200" dirty="0"/>
              <a:t>)</a:t>
            </a:r>
          </a:p>
          <a:p>
            <a:r>
              <a:rPr lang="en-US" altLang="ko-KR" sz="1200" dirty="0"/>
              <a:t>-&gt; </a:t>
            </a:r>
            <a:r>
              <a:rPr lang="ko-KR" altLang="en-US" sz="1200" dirty="0"/>
              <a:t>해결방안</a:t>
            </a:r>
            <a:r>
              <a:rPr lang="en-US" altLang="ko-KR" sz="1200" dirty="0"/>
              <a:t>: </a:t>
            </a:r>
            <a:r>
              <a:rPr lang="ko-KR" altLang="en-US" sz="1200" dirty="0"/>
              <a:t>컨텐츠 단에서 실제 </a:t>
            </a:r>
            <a:r>
              <a:rPr lang="ko-KR" altLang="en-US" sz="1200" dirty="0" err="1"/>
              <a:t>함수포인터를</a:t>
            </a:r>
            <a:r>
              <a:rPr lang="ko-KR" altLang="en-US" sz="1200" dirty="0"/>
              <a:t> 호출하기 전 </a:t>
            </a:r>
            <a:r>
              <a:rPr lang="ko-KR" altLang="en-US" sz="1200" dirty="0" err="1"/>
              <a:t>파싱한</a:t>
            </a:r>
            <a:r>
              <a:rPr lang="ko-KR" altLang="en-US" sz="1200" dirty="0"/>
              <a:t> 크기와 실제 패킷의 크기가 정말 같은 지 먼저 검증하도록 한다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endParaRPr lang="ko-KR" altLang="en-US" sz="1200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CD0FD656-6C9F-7044-DED6-BE00004CA5B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9100" y="2439987"/>
            <a:ext cx="2990850" cy="790575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8BA15746-097D-A29F-7D14-02DF6DF7D61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9100" y="1843089"/>
            <a:ext cx="7943850" cy="68580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5A230A09-65C9-1C4D-E997-172A88B8677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02" y="4245886"/>
            <a:ext cx="7642223" cy="12192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57C6AF0-2C72-2D83-2A88-02E149C34654}"/>
              </a:ext>
            </a:extLst>
          </p:cNvPr>
          <p:cNvSpPr txBox="1"/>
          <p:nvPr/>
        </p:nvSpPr>
        <p:spPr>
          <a:xfrm>
            <a:off x="7705725" y="4813945"/>
            <a:ext cx="17508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라이브러리에서 지원하는 패킷 유효성 검사 함수를 사용하였다</a:t>
            </a:r>
            <a:r>
              <a:rPr lang="en-US" altLang="ko-KR" sz="1200" dirty="0"/>
              <a:t>.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253736762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BD2DF09-823D-445A-532B-204DD6412C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4.3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성능 향상을 위한 노력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90FC4EA-121E-9AF9-5FF5-5C0260DF7A00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504000" y="1007082"/>
            <a:ext cx="9071640" cy="3656386"/>
          </a:xfrm>
        </p:spPr>
        <p:txBody>
          <a:bodyPr/>
          <a:lstStyle/>
          <a:p>
            <a:pPr marL="0" indent="0">
              <a:buNone/>
            </a:pPr>
            <a:r>
              <a:rPr lang="en-US" altLang="ko-KR" dirty="0"/>
              <a:t>1. Zero Byte</a:t>
            </a:r>
            <a:r>
              <a:rPr lang="ko-KR" altLang="en-US" dirty="0"/>
              <a:t> </a:t>
            </a:r>
            <a:r>
              <a:rPr lang="en-US" altLang="ko-KR" dirty="0" err="1"/>
              <a:t>Recv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2. MPSC </a:t>
            </a:r>
            <a:r>
              <a:rPr lang="ko-KR" altLang="en-US" dirty="0"/>
              <a:t>큐</a:t>
            </a:r>
            <a:endParaRPr lang="en-US" altLang="ko-KR" dirty="0"/>
          </a:p>
          <a:p>
            <a:r>
              <a:rPr lang="en-US" altLang="ko-KR" dirty="0"/>
              <a:t>3. Custom </a:t>
            </a:r>
            <a:r>
              <a:rPr lang="en-US" altLang="ko-KR" dirty="0" err="1"/>
              <a:t>shared_ptr</a:t>
            </a:r>
            <a:r>
              <a:rPr lang="ko-KR" altLang="en-US" dirty="0"/>
              <a:t> </a:t>
            </a:r>
          </a:p>
          <a:p>
            <a:pPr marL="0" indent="0">
              <a:buNone/>
            </a:pPr>
            <a:r>
              <a:rPr lang="en-US" altLang="ko-KR" dirty="0"/>
              <a:t>4. Task vs std::function</a:t>
            </a:r>
          </a:p>
          <a:p>
            <a:pPr marL="0" indent="0">
              <a:buNone/>
            </a:pPr>
            <a:r>
              <a:rPr lang="en-US" altLang="ko-KR" dirty="0"/>
              <a:t>5. Cluster </a:t>
            </a:r>
            <a:r>
              <a:rPr lang="ko-KR" altLang="en-US" dirty="0"/>
              <a:t>공간분할 </a:t>
            </a:r>
            <a:r>
              <a:rPr lang="en-US" altLang="ko-KR" dirty="0"/>
              <a:t>(</a:t>
            </a:r>
            <a:r>
              <a:rPr lang="ko-KR" altLang="en-US" dirty="0"/>
              <a:t>테두리 언급</a:t>
            </a:r>
            <a:r>
              <a:rPr lang="en-US" altLang="ko-KR" dirty="0"/>
              <a:t>)</a:t>
            </a:r>
          </a:p>
          <a:p>
            <a:pPr marL="0" indent="0">
              <a:buNone/>
            </a:pPr>
            <a:r>
              <a:rPr lang="en-US" altLang="ko-KR" dirty="0"/>
              <a:t>6. view list + vector hash</a:t>
            </a:r>
          </a:p>
        </p:txBody>
      </p:sp>
    </p:spTree>
    <p:extLst>
      <p:ext uri="{BB962C8B-B14F-4D97-AF65-F5344CB8AC3E}">
        <p14:creationId xmlns:p14="http://schemas.microsoft.com/office/powerpoint/2010/main" val="163017405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F0AAE4B-A298-113E-439A-3B1C927C4E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9213" y="203175"/>
            <a:ext cx="9071640" cy="249299"/>
          </a:xfrm>
        </p:spPr>
        <p:txBody>
          <a:bodyPr/>
          <a:lstStyle/>
          <a:p>
            <a:r>
              <a:rPr lang="en-US" altLang="ko-KR" sz="1800" dirty="0"/>
              <a:t>4.3 </a:t>
            </a:r>
            <a:r>
              <a:rPr lang="ko-KR" altLang="en-US" sz="1800" dirty="0"/>
              <a:t>졸작 </a:t>
            </a:r>
            <a:r>
              <a:rPr lang="en-US" altLang="ko-KR" sz="1800" dirty="0"/>
              <a:t>– </a:t>
            </a:r>
            <a:r>
              <a:rPr lang="ko-KR" altLang="en-US" sz="1800" dirty="0"/>
              <a:t>성능 향상을 위한 노력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89A9FA6-3407-CFB7-9B20-5DF17CAD84C5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175388" y="559837"/>
            <a:ext cx="9071640" cy="2316713"/>
          </a:xfrm>
        </p:spPr>
        <p:txBody>
          <a:bodyPr/>
          <a:lstStyle/>
          <a:p>
            <a:pPr marL="514350" indent="-514350">
              <a:buAutoNum type="arabicPeriod"/>
            </a:pPr>
            <a:r>
              <a:rPr lang="en-US" altLang="ko-KR" dirty="0"/>
              <a:t>Zero Byte</a:t>
            </a:r>
            <a:r>
              <a:rPr lang="ko-KR" altLang="en-US" dirty="0"/>
              <a:t> </a:t>
            </a:r>
            <a:r>
              <a:rPr lang="en-US" altLang="ko-KR" dirty="0" err="1"/>
              <a:t>Recv</a:t>
            </a:r>
            <a:endParaRPr lang="en-US" altLang="ko-KR" dirty="0"/>
          </a:p>
          <a:p>
            <a:pPr>
              <a:buFontTx/>
              <a:buChar char="-"/>
            </a:pPr>
            <a:r>
              <a:rPr lang="ko-KR" altLang="en-US" sz="1200" dirty="0"/>
              <a:t>나는 이걸 왜 하였는가</a:t>
            </a:r>
            <a:r>
              <a:rPr lang="en-US" altLang="ko-KR" sz="1200" dirty="0"/>
              <a:t>?:</a:t>
            </a:r>
          </a:p>
          <a:p>
            <a:pPr>
              <a:buFontTx/>
              <a:buChar char="-"/>
            </a:pPr>
            <a:r>
              <a:rPr lang="ko-KR" altLang="en-US" sz="1200" dirty="0" err="1"/>
              <a:t>오버랩드</a:t>
            </a:r>
            <a:r>
              <a:rPr lang="ko-KR" altLang="en-US" sz="1200" dirty="0"/>
              <a:t> 구조체를 넘긴 </a:t>
            </a:r>
            <a:r>
              <a:rPr lang="en-US" altLang="ko-KR" sz="1200" dirty="0" err="1"/>
              <a:t>WSARecv</a:t>
            </a:r>
            <a:r>
              <a:rPr lang="ko-KR" altLang="en-US" sz="1200" dirty="0"/>
              <a:t> 호출</a:t>
            </a:r>
            <a:r>
              <a:rPr lang="en-US" altLang="ko-KR" sz="1200" dirty="0"/>
              <a:t>(</a:t>
            </a:r>
            <a:r>
              <a:rPr lang="ko-KR" altLang="en-US" sz="1200" dirty="0"/>
              <a:t>비동기 작업 요청</a:t>
            </a:r>
            <a:r>
              <a:rPr lang="en-US" altLang="ko-KR" sz="1200" dirty="0"/>
              <a:t>)</a:t>
            </a:r>
            <a:r>
              <a:rPr lang="ko-KR" altLang="en-US" sz="1200" dirty="0"/>
              <a:t>시 </a:t>
            </a:r>
            <a:r>
              <a:rPr lang="en-US" altLang="ko-KR" sz="1200" dirty="0"/>
              <a:t>PAGE LOCKING</a:t>
            </a:r>
            <a:r>
              <a:rPr lang="ko-KR" altLang="en-US" sz="1200" dirty="0"/>
              <a:t>을 걸게 된다</a:t>
            </a:r>
            <a:r>
              <a:rPr lang="en-US" altLang="ko-KR" sz="1200" dirty="0"/>
              <a:t>.</a:t>
            </a:r>
          </a:p>
          <a:p>
            <a:pPr>
              <a:buFontTx/>
              <a:buChar char="-"/>
            </a:pPr>
            <a:r>
              <a:rPr lang="en-US" altLang="ko-KR" sz="1200" dirty="0" err="1"/>
              <a:t>WSARecv</a:t>
            </a:r>
            <a:r>
              <a:rPr lang="en-US" altLang="ko-KR" sz="1200" dirty="0"/>
              <a:t> </a:t>
            </a:r>
            <a:r>
              <a:rPr lang="ko-KR" altLang="en-US" sz="1200" dirty="0"/>
              <a:t>호출 시 버퍼 사이즈를 </a:t>
            </a:r>
            <a:r>
              <a:rPr lang="en-US" altLang="ko-KR" sz="1200" dirty="0"/>
              <a:t>0</a:t>
            </a:r>
            <a:r>
              <a:rPr lang="ko-KR" altLang="en-US" sz="1200" dirty="0"/>
              <a:t>으로 제공하면 </a:t>
            </a:r>
            <a:r>
              <a:rPr lang="en-US" altLang="ko-KR" sz="1200" dirty="0"/>
              <a:t>PAGE LOCKING</a:t>
            </a:r>
            <a:r>
              <a:rPr lang="ko-KR" altLang="en-US" sz="1200" dirty="0"/>
              <a:t>을 걸지 않게 된다</a:t>
            </a:r>
            <a:endParaRPr lang="en-US" altLang="ko-KR" sz="1200" dirty="0"/>
          </a:p>
          <a:p>
            <a:pPr>
              <a:buFontTx/>
              <a:buChar char="-"/>
            </a:pPr>
            <a:r>
              <a:rPr lang="en-US" altLang="ko-KR" sz="1200" dirty="0"/>
              <a:t>0 </a:t>
            </a:r>
            <a:r>
              <a:rPr lang="ko-KR" altLang="en-US" sz="1200" dirty="0"/>
              <a:t>바이트의 </a:t>
            </a:r>
            <a:r>
              <a:rPr lang="en-US" altLang="ko-KR" sz="1200" dirty="0" err="1"/>
              <a:t>WSARecv</a:t>
            </a:r>
            <a:r>
              <a:rPr lang="ko-KR" altLang="en-US" sz="1200" dirty="0"/>
              <a:t>의 비동기 작업 완료 시 곧 바로 제대로 된 버퍼 크기를 제공하여 </a:t>
            </a:r>
            <a:r>
              <a:rPr lang="en-US" altLang="ko-KR" sz="1200" dirty="0" err="1"/>
              <a:t>WSARecv</a:t>
            </a:r>
            <a:r>
              <a:rPr lang="ko-KR" altLang="en-US" sz="1200" dirty="0"/>
              <a:t>를 이용하여 바로 데이터를 수신</a:t>
            </a:r>
            <a:endParaRPr lang="en-US" altLang="ko-KR" sz="1200" dirty="0"/>
          </a:p>
          <a:p>
            <a:pPr>
              <a:buFontTx/>
              <a:buChar char="-"/>
            </a:pPr>
            <a:r>
              <a:rPr lang="ko-KR" altLang="en-US" sz="1200" dirty="0"/>
              <a:t>얻는 것</a:t>
            </a:r>
            <a:r>
              <a:rPr lang="en-US" altLang="ko-KR" sz="1200" dirty="0"/>
              <a:t>: </a:t>
            </a:r>
          </a:p>
          <a:p>
            <a:pPr marL="0" indent="0">
              <a:buNone/>
            </a:pPr>
            <a:r>
              <a:rPr lang="en-US" altLang="ko-KR" sz="1200" dirty="0"/>
              <a:t>      </a:t>
            </a:r>
            <a:r>
              <a:rPr lang="ko-KR" altLang="en-US" sz="1200" dirty="0"/>
              <a:t>아직 </a:t>
            </a:r>
            <a:r>
              <a:rPr lang="en-US" altLang="ko-KR" sz="1200" dirty="0" err="1"/>
              <a:t>Recv</a:t>
            </a:r>
            <a:r>
              <a:rPr lang="en-US" altLang="ko-KR" sz="1200" dirty="0"/>
              <a:t> </a:t>
            </a:r>
            <a:r>
              <a:rPr lang="ko-KR" altLang="en-US" sz="1200" dirty="0"/>
              <a:t>받은 게 없는 세션에 대해서 </a:t>
            </a:r>
            <a:r>
              <a:rPr lang="en-US" altLang="ko-KR" sz="1200" dirty="0"/>
              <a:t>non – paged pool</a:t>
            </a:r>
            <a:r>
              <a:rPr lang="ko-KR" altLang="en-US" sz="1200" dirty="0"/>
              <a:t>의 낭비 및 </a:t>
            </a:r>
            <a:r>
              <a:rPr lang="en-US" altLang="ko-KR" sz="1200" dirty="0"/>
              <a:t>PAGE LOCKING</a:t>
            </a:r>
            <a:r>
              <a:rPr lang="ko-KR" altLang="en-US" sz="1200" dirty="0"/>
              <a:t>의 빈도 수를 줄일 수 있게 된다</a:t>
            </a:r>
            <a:r>
              <a:rPr lang="en-US" altLang="ko-KR" sz="1200" dirty="0"/>
              <a:t>.</a:t>
            </a:r>
          </a:p>
          <a:p>
            <a:pPr marL="0" indent="0">
              <a:buNone/>
            </a:pPr>
            <a:endParaRPr lang="en-US" altLang="ko-KR" sz="1200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31AB82DF-E959-CF74-7660-EA197A8D77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970" y="2919413"/>
            <a:ext cx="3846243" cy="1096645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B15D4DFC-4475-1AD0-1665-034CDF2FE32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11249" y="2876550"/>
            <a:ext cx="4297679" cy="1067435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00A0FF1-0883-2E48-0217-AB24007278B6}"/>
              </a:ext>
            </a:extLst>
          </p:cNvPr>
          <p:cNvSpPr txBox="1"/>
          <p:nvPr/>
        </p:nvSpPr>
        <p:spPr>
          <a:xfrm>
            <a:off x="4233863" y="3204607"/>
            <a:ext cx="6392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ㅡ</a:t>
            </a:r>
            <a:r>
              <a:rPr lang="en-US" altLang="ko-KR" dirty="0"/>
              <a:t>&gt;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9BD1932-29CC-447D-C9F0-9E53D349A5F4}"/>
              </a:ext>
            </a:extLst>
          </p:cNvPr>
          <p:cNvSpPr txBox="1"/>
          <p:nvPr/>
        </p:nvSpPr>
        <p:spPr>
          <a:xfrm>
            <a:off x="858345" y="4272042"/>
            <a:ext cx="77057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비주얼 스튜디오의 </a:t>
            </a:r>
            <a:r>
              <a:rPr lang="en-US" altLang="ko-KR" dirty="0"/>
              <a:t>Concurrency Visualizer</a:t>
            </a:r>
            <a:r>
              <a:rPr lang="ko-KR" altLang="en-US" dirty="0"/>
              <a:t>를 이용해 프로파일링 한 결과 </a:t>
            </a:r>
            <a:r>
              <a:rPr lang="en-US" altLang="ko-KR" dirty="0" err="1"/>
              <a:t>Recv</a:t>
            </a:r>
            <a:r>
              <a:rPr lang="ko-KR" altLang="en-US" dirty="0"/>
              <a:t>의 오버헤드가 크게 감소함을 확인 할 수 있었다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9496223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0C7DE0F-231A-5AF6-0AD2-90FA0C7897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7325" y="149475"/>
            <a:ext cx="9071640" cy="166199"/>
          </a:xfrm>
        </p:spPr>
        <p:txBody>
          <a:bodyPr/>
          <a:lstStyle/>
          <a:p>
            <a:r>
              <a:rPr lang="en-US" altLang="ko-KR" sz="1200" dirty="0"/>
              <a:t>4.3 </a:t>
            </a:r>
            <a:r>
              <a:rPr lang="ko-KR" altLang="en-US" sz="1200" dirty="0"/>
              <a:t>졸작 </a:t>
            </a:r>
            <a:r>
              <a:rPr lang="en-US" altLang="ko-KR" sz="1200" dirty="0"/>
              <a:t>– </a:t>
            </a:r>
            <a:r>
              <a:rPr lang="ko-KR" altLang="en-US" sz="1200" dirty="0"/>
              <a:t>성능 향상을 위한 노력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81E4D14-0EA4-D06F-C072-632987AD5A72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437325" y="502687"/>
            <a:ext cx="9071640" cy="3288240"/>
          </a:xfrm>
        </p:spPr>
        <p:txBody>
          <a:bodyPr/>
          <a:lstStyle/>
          <a:p>
            <a:pPr marL="0" indent="0">
              <a:buNone/>
            </a:pPr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B0F31934-E162-D0D7-1738-8213124A55C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49650" y="232574"/>
            <a:ext cx="4807150" cy="4129876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E756FADC-D40B-12FD-1FE3-8E3B13FF988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3825" y="315674"/>
            <a:ext cx="4986337" cy="4046776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7032EFC-D38D-6116-A54E-E810D80E8DD8}"/>
              </a:ext>
            </a:extLst>
          </p:cNvPr>
          <p:cNvSpPr txBox="1"/>
          <p:nvPr/>
        </p:nvSpPr>
        <p:spPr>
          <a:xfrm>
            <a:off x="823913" y="4604855"/>
            <a:ext cx="79819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평균 딜레이가 </a:t>
            </a:r>
            <a:r>
              <a:rPr lang="en-US" altLang="ko-KR" dirty="0"/>
              <a:t>490ms -&gt; 138ms </a:t>
            </a:r>
            <a:r>
              <a:rPr lang="ko-KR" altLang="en-US" dirty="0"/>
              <a:t>로 엄청난 성능 향상이 가능하였다</a:t>
            </a:r>
            <a:r>
              <a:rPr lang="en-US" altLang="ko-KR" dirty="0"/>
              <a:t>. 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4789310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8F6075-BC46-FABC-3A71-806184DE42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075" y="419010"/>
            <a:ext cx="9071640" cy="609398"/>
          </a:xfrm>
        </p:spPr>
        <p:txBody>
          <a:bodyPr/>
          <a:lstStyle/>
          <a:p>
            <a:r>
              <a:rPr lang="en-US" altLang="ko-KR" dirty="0"/>
              <a:t>2. MPSQ </a:t>
            </a:r>
            <a:r>
              <a:rPr lang="ko-KR" altLang="en-US" dirty="0"/>
              <a:t>큐 </a:t>
            </a:r>
            <a:r>
              <a:rPr lang="en-US" altLang="ko-KR" sz="2000" dirty="0"/>
              <a:t>(Multi Producer Single Consumer </a:t>
            </a:r>
            <a:r>
              <a:rPr lang="ko-KR" altLang="en-US" sz="2000" dirty="0"/>
              <a:t>큐</a:t>
            </a:r>
            <a:r>
              <a:rPr lang="en-US" altLang="ko-KR" sz="2000" dirty="0"/>
              <a:t>)</a:t>
            </a:r>
            <a:endParaRPr lang="ko-KR" altLang="en-US" sz="2000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B6D382B-EFE2-E945-2470-7D32BED99271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342075" y="1105301"/>
            <a:ext cx="9071640" cy="1797967"/>
          </a:xfrm>
        </p:spPr>
        <p:txBody>
          <a:bodyPr>
            <a:normAutofit/>
          </a:bodyPr>
          <a:lstStyle/>
          <a:p>
            <a:pPr>
              <a:buFontTx/>
              <a:buChar char="-"/>
            </a:pPr>
            <a:r>
              <a:rPr lang="ko-KR" altLang="en-US" sz="1600" dirty="0"/>
              <a:t>나는 이걸 왜 하였는가</a:t>
            </a:r>
            <a:r>
              <a:rPr lang="en-US" altLang="ko-KR" sz="1600" dirty="0"/>
              <a:t>?:</a:t>
            </a:r>
          </a:p>
          <a:p>
            <a:pPr marL="0" indent="0">
              <a:buNone/>
            </a:pPr>
            <a:r>
              <a:rPr lang="ko-KR" altLang="en-US" sz="1200" dirty="0"/>
              <a:t>앞서 언급된 </a:t>
            </a:r>
            <a:r>
              <a:rPr lang="en-US" altLang="ko-KR" sz="1200" dirty="0"/>
              <a:t>Lock Free Executor</a:t>
            </a:r>
            <a:r>
              <a:rPr lang="ko-KR" altLang="en-US" sz="1200" dirty="0"/>
              <a:t>의 작동 방식이 </a:t>
            </a:r>
            <a:r>
              <a:rPr lang="en-US" altLang="ko-KR" sz="1200" dirty="0"/>
              <a:t>Pop (Flush)</a:t>
            </a:r>
            <a:r>
              <a:rPr lang="ko-KR" altLang="en-US" sz="1200" dirty="0"/>
              <a:t>할 때 반드시 </a:t>
            </a:r>
            <a:r>
              <a:rPr lang="ko-KR" altLang="en-US" sz="1200" dirty="0" err="1"/>
              <a:t>싱글스레드로</a:t>
            </a:r>
            <a:r>
              <a:rPr lang="ko-KR" altLang="en-US" sz="1200" dirty="0"/>
              <a:t> 동작함이 보장되기에 </a:t>
            </a:r>
            <a:r>
              <a:rPr lang="en-US" altLang="ko-KR" sz="1200" dirty="0"/>
              <a:t>ABA </a:t>
            </a:r>
            <a:r>
              <a:rPr lang="ko-KR" altLang="en-US" sz="1200" dirty="0"/>
              <a:t>문제 해결을 위한 오버헤드를 없앨 수 있고 </a:t>
            </a:r>
            <a:endParaRPr lang="en-US" altLang="ko-KR" sz="1200" dirty="0"/>
          </a:p>
          <a:p>
            <a:pPr marL="0" indent="0">
              <a:buNone/>
            </a:pPr>
            <a:r>
              <a:rPr lang="ko-KR" altLang="en-US" sz="1200" dirty="0"/>
              <a:t>일반적인 </a:t>
            </a:r>
            <a:r>
              <a:rPr lang="en-US" altLang="ko-KR" sz="1200" dirty="0"/>
              <a:t>Lock-Free</a:t>
            </a:r>
            <a:r>
              <a:rPr lang="ko-KR" altLang="en-US" sz="1200" dirty="0"/>
              <a:t>큐의 </a:t>
            </a:r>
            <a:r>
              <a:rPr lang="en-US" altLang="ko-KR" sz="1200" dirty="0"/>
              <a:t>Push / Pop </a:t>
            </a:r>
            <a:r>
              <a:rPr lang="ko-KR" altLang="en-US" sz="1200" dirty="0"/>
              <a:t>로직 구현에 필요한 루프 </a:t>
            </a:r>
            <a:r>
              <a:rPr lang="en-US" altLang="ko-KR" sz="1200" dirty="0"/>
              <a:t>+ CAS</a:t>
            </a:r>
            <a:r>
              <a:rPr lang="ko-KR" altLang="en-US" sz="1200" dirty="0"/>
              <a:t> 구조에서 루프를 제거하고 </a:t>
            </a:r>
            <a:r>
              <a:rPr lang="en-US" altLang="ko-KR" sz="1200" dirty="0"/>
              <a:t>CAS</a:t>
            </a:r>
            <a:r>
              <a:rPr lang="ko-KR" altLang="en-US" sz="1200" dirty="0"/>
              <a:t>연산을 더 가벼운 </a:t>
            </a:r>
            <a:r>
              <a:rPr lang="en-US" altLang="ko-KR" sz="1200" dirty="0"/>
              <a:t>atomic </a:t>
            </a:r>
            <a:r>
              <a:rPr lang="ko-KR" altLang="en-US" sz="1200" dirty="0"/>
              <a:t>연산으로 바꿀 수 있기에 큰 성능 향상을 기대할 수 있다고 생각하였다</a:t>
            </a:r>
            <a:r>
              <a:rPr lang="en-US" altLang="ko-KR" sz="1200" dirty="0"/>
              <a:t>.</a:t>
            </a:r>
          </a:p>
          <a:p>
            <a:pPr marL="0" indent="0">
              <a:buNone/>
            </a:pPr>
            <a:r>
              <a:rPr lang="ko-KR" altLang="en-US" sz="1200" dirty="0"/>
              <a:t>또한 </a:t>
            </a:r>
            <a:r>
              <a:rPr lang="en-US" altLang="ko-KR" sz="1200" dirty="0"/>
              <a:t>Session</a:t>
            </a:r>
            <a:r>
              <a:rPr lang="ko-KR" altLang="en-US" sz="1200" dirty="0"/>
              <a:t>의 </a:t>
            </a:r>
            <a:r>
              <a:rPr lang="en-US" altLang="ko-KR" sz="1200" dirty="0"/>
              <a:t>Send</a:t>
            </a:r>
            <a:r>
              <a:rPr lang="ko-KR" altLang="en-US" sz="1200" dirty="0"/>
              <a:t> 로직도 앞서 언급한 방식과 매우 유사하게 작동하기 때문에 </a:t>
            </a:r>
            <a:r>
              <a:rPr lang="en-US" altLang="ko-KR" sz="1200" dirty="0"/>
              <a:t>Session</a:t>
            </a:r>
            <a:r>
              <a:rPr lang="ko-KR" altLang="en-US" sz="1200" dirty="0"/>
              <a:t>의 </a:t>
            </a:r>
            <a:r>
              <a:rPr lang="en-US" altLang="ko-KR" sz="1200" dirty="0"/>
              <a:t>Send </a:t>
            </a:r>
            <a:r>
              <a:rPr lang="ko-KR" altLang="en-US" sz="1200" dirty="0"/>
              <a:t>큐에도 </a:t>
            </a:r>
            <a:r>
              <a:rPr lang="en-US" altLang="ko-KR" sz="1200" dirty="0"/>
              <a:t>MPSC </a:t>
            </a:r>
            <a:r>
              <a:rPr lang="ko-KR" altLang="en-US" sz="1200" dirty="0"/>
              <a:t>큐를 사용한다면 이 부분에서도 마찬가지로 큰 성능 향상을 기대할 수 있다고 생각하였다</a:t>
            </a:r>
            <a:r>
              <a:rPr lang="en-US" altLang="ko-KR" sz="1200" dirty="0"/>
              <a:t>.</a:t>
            </a:r>
            <a:r>
              <a:rPr lang="ko-KR" altLang="en-US" sz="1200" dirty="0"/>
              <a:t> </a:t>
            </a:r>
            <a:endParaRPr lang="en-US" altLang="ko-KR" sz="1200" dirty="0"/>
          </a:p>
          <a:p>
            <a:pPr marL="0" indent="0">
              <a:buNone/>
            </a:pPr>
            <a:endParaRPr lang="en-US" altLang="ko-KR" sz="1600" dirty="0"/>
          </a:p>
          <a:p>
            <a:pPr marL="0" indent="0">
              <a:buNone/>
            </a:pPr>
            <a:endParaRPr lang="en-US" altLang="ko-KR" sz="1600" dirty="0"/>
          </a:p>
          <a:p>
            <a:pPr marL="0" indent="0">
              <a:buNone/>
            </a:pPr>
            <a:endParaRPr lang="ko-KR" altLang="en-US" dirty="0"/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4088253B-74D0-F331-8258-3BEC8A3F5DDC}"/>
              </a:ext>
            </a:extLst>
          </p:cNvPr>
          <p:cNvSpPr txBox="1">
            <a:spLocks/>
          </p:cNvSpPr>
          <p:nvPr/>
        </p:nvSpPr>
        <p:spPr>
          <a:xfrm>
            <a:off x="299213" y="203175"/>
            <a:ext cx="9071640" cy="249299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1800" dirty="0"/>
              <a:t>4.3 </a:t>
            </a:r>
            <a:r>
              <a:rPr lang="ko-KR" altLang="en-US" sz="1800" dirty="0"/>
              <a:t>졸작 </a:t>
            </a:r>
            <a:r>
              <a:rPr lang="en-US" altLang="ko-KR" sz="1800" dirty="0"/>
              <a:t>– </a:t>
            </a:r>
            <a:r>
              <a:rPr lang="ko-KR" altLang="en-US" sz="1800" dirty="0"/>
              <a:t>성능 향상을 위한 노력</a:t>
            </a:r>
          </a:p>
        </p:txBody>
      </p:sp>
    </p:spTree>
    <p:extLst>
      <p:ext uri="{BB962C8B-B14F-4D97-AF65-F5344CB8AC3E}">
        <p14:creationId xmlns:p14="http://schemas.microsoft.com/office/powerpoint/2010/main" val="198967311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F84516-38F7-2627-60E8-91BDC7B7CE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8725" y="612750"/>
            <a:ext cx="9071640" cy="249299"/>
          </a:xfrm>
        </p:spPr>
        <p:txBody>
          <a:bodyPr/>
          <a:lstStyle/>
          <a:p>
            <a:r>
              <a:rPr lang="en-US" altLang="ko-KR" sz="1800" dirty="0"/>
              <a:t>- </a:t>
            </a:r>
            <a:r>
              <a:rPr lang="en-US" altLang="ko-KR" sz="1800" dirty="0" err="1"/>
              <a:t>tbb</a:t>
            </a:r>
            <a:r>
              <a:rPr lang="en-US" altLang="ko-KR" sz="1800" dirty="0"/>
              <a:t> </a:t>
            </a:r>
            <a:r>
              <a:rPr lang="ko-KR" altLang="en-US" sz="1800" dirty="0"/>
              <a:t>큐 구현 </a:t>
            </a:r>
            <a:r>
              <a:rPr lang="en-US" altLang="ko-KR" sz="1800" dirty="0"/>
              <a:t>vs MPSC </a:t>
            </a:r>
            <a:r>
              <a:rPr lang="ko-KR" altLang="en-US" sz="1800" dirty="0"/>
              <a:t>큐 구현</a:t>
            </a:r>
          </a:p>
        </p:txBody>
      </p:sp>
      <p:sp>
        <p:nvSpPr>
          <p:cNvPr id="5" name="제목 1">
            <a:extLst>
              <a:ext uri="{FF2B5EF4-FFF2-40B4-BE49-F238E27FC236}">
                <a16:creationId xmlns:a16="http://schemas.microsoft.com/office/drawing/2014/main" id="{4138F20B-97A9-6B4D-45C8-A27EE8CF8E08}"/>
              </a:ext>
            </a:extLst>
          </p:cNvPr>
          <p:cNvSpPr txBox="1">
            <a:spLocks/>
          </p:cNvSpPr>
          <p:nvPr/>
        </p:nvSpPr>
        <p:spPr>
          <a:xfrm>
            <a:off x="299213" y="203175"/>
            <a:ext cx="9071640" cy="249299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1800" dirty="0"/>
              <a:t>4.3 </a:t>
            </a:r>
            <a:r>
              <a:rPr lang="ko-KR" altLang="en-US" sz="1800" dirty="0"/>
              <a:t>졸작 </a:t>
            </a:r>
            <a:r>
              <a:rPr lang="en-US" altLang="ko-KR" sz="1800" dirty="0"/>
              <a:t>– </a:t>
            </a:r>
            <a:r>
              <a:rPr lang="ko-KR" altLang="en-US" sz="1800" dirty="0"/>
              <a:t>성능 향상을 위한 노력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2AA4F38D-DEB8-035E-E079-DCC7149A78A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083" y="2895600"/>
            <a:ext cx="4238133" cy="2141537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32D08252-6F0E-8A39-7816-496DAC687B5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72075" y="898524"/>
            <a:ext cx="4819157" cy="1863726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0B9F7432-F31D-AD58-6D69-584D215939A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393" y="931862"/>
            <a:ext cx="4253515" cy="1903413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529545C4-4D23-0A65-7ED2-E09A04B9AE1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72075" y="2835275"/>
            <a:ext cx="4862020" cy="214153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8C7AE39-DA26-54F8-749B-78467716AB53}"/>
              </a:ext>
            </a:extLst>
          </p:cNvPr>
          <p:cNvSpPr txBox="1"/>
          <p:nvPr/>
        </p:nvSpPr>
        <p:spPr>
          <a:xfrm>
            <a:off x="4485180" y="1719353"/>
            <a:ext cx="62180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 err="1"/>
              <a:t>ㅡ</a:t>
            </a:r>
            <a:r>
              <a:rPr lang="en-US" altLang="ko-KR" sz="2000" dirty="0"/>
              <a:t>&gt;</a:t>
            </a:r>
            <a:endParaRPr lang="ko-KR" altLang="en-US" sz="20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1099FF6-AB6C-7AC3-7035-5DB1F33730A9}"/>
              </a:ext>
            </a:extLst>
          </p:cNvPr>
          <p:cNvSpPr txBox="1"/>
          <p:nvPr/>
        </p:nvSpPr>
        <p:spPr>
          <a:xfrm>
            <a:off x="4466375" y="3551088"/>
            <a:ext cx="62180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 err="1"/>
              <a:t>ㅡ</a:t>
            </a:r>
            <a:r>
              <a:rPr lang="en-US" altLang="ko-KR" sz="2000" dirty="0"/>
              <a:t>&gt;</a:t>
            </a:r>
            <a:endParaRPr lang="ko-KR" altLang="en-US" sz="20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AFFEFD1-9D9B-FD26-44F5-64284A2E7B65}"/>
              </a:ext>
            </a:extLst>
          </p:cNvPr>
          <p:cNvSpPr txBox="1"/>
          <p:nvPr/>
        </p:nvSpPr>
        <p:spPr>
          <a:xfrm>
            <a:off x="1257300" y="5059657"/>
            <a:ext cx="79629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좌측이 </a:t>
            </a:r>
            <a:r>
              <a:rPr lang="en-US" altLang="ko-KR" dirty="0" err="1"/>
              <a:t>tbb</a:t>
            </a:r>
            <a:r>
              <a:rPr lang="ko-KR" altLang="en-US" dirty="0"/>
              <a:t>의 </a:t>
            </a:r>
            <a:r>
              <a:rPr lang="en-US" altLang="ko-KR" dirty="0" err="1"/>
              <a:t>concurrent_queue</a:t>
            </a:r>
            <a:r>
              <a:rPr lang="en-US" altLang="ko-KR" dirty="0"/>
              <a:t> / </a:t>
            </a:r>
            <a:r>
              <a:rPr lang="ko-KR" altLang="en-US" dirty="0"/>
              <a:t>우측이 직접 제작한 </a:t>
            </a:r>
            <a:r>
              <a:rPr lang="en-US" altLang="ko-KR" dirty="0"/>
              <a:t>MPSC </a:t>
            </a:r>
            <a:r>
              <a:rPr lang="ko-KR" altLang="en-US" dirty="0"/>
              <a:t>큐</a:t>
            </a:r>
            <a:endParaRPr lang="en-US" altLang="ko-KR" dirty="0"/>
          </a:p>
          <a:p>
            <a:r>
              <a:rPr lang="en-US" altLang="ko-KR" dirty="0"/>
              <a:t>MPSC </a:t>
            </a:r>
            <a:r>
              <a:rPr lang="ko-KR" altLang="en-US" dirty="0"/>
              <a:t>큐에서는 루프가 사라지고 </a:t>
            </a:r>
            <a:r>
              <a:rPr lang="en-US" altLang="ko-KR" dirty="0"/>
              <a:t>CAS</a:t>
            </a:r>
            <a:r>
              <a:rPr lang="ko-KR" altLang="en-US" dirty="0"/>
              <a:t>가 다른 </a:t>
            </a:r>
            <a:r>
              <a:rPr lang="en-US" altLang="ko-KR" dirty="0"/>
              <a:t>atomic </a:t>
            </a:r>
            <a:r>
              <a:rPr lang="ko-KR" altLang="en-US" dirty="0"/>
              <a:t>연산으로 대체되었다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8405375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386529-81D4-3067-087D-3E9196C3ED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9213" y="452474"/>
            <a:ext cx="9071640" cy="249299"/>
          </a:xfrm>
        </p:spPr>
        <p:txBody>
          <a:bodyPr/>
          <a:lstStyle/>
          <a:p>
            <a:r>
              <a:rPr lang="en-US" altLang="ko-KR" sz="1800" dirty="0"/>
              <a:t>- </a:t>
            </a:r>
            <a:r>
              <a:rPr lang="en-US" altLang="ko-KR" sz="1800" dirty="0" err="1"/>
              <a:t>tbb</a:t>
            </a:r>
            <a:r>
              <a:rPr lang="en-US" altLang="ko-KR" sz="1800" dirty="0"/>
              <a:t> </a:t>
            </a:r>
            <a:r>
              <a:rPr lang="ko-KR" altLang="en-US" sz="1800" dirty="0"/>
              <a:t>큐 성능 </a:t>
            </a:r>
            <a:r>
              <a:rPr lang="en-US" altLang="ko-KR" sz="1800" dirty="0"/>
              <a:t>vs MPSC </a:t>
            </a:r>
            <a:r>
              <a:rPr lang="ko-KR" altLang="en-US" sz="1800" dirty="0"/>
              <a:t>큐 성능</a:t>
            </a:r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442F1482-9A7A-9943-2777-8A3FFB66F675}"/>
              </a:ext>
            </a:extLst>
          </p:cNvPr>
          <p:cNvSpPr txBox="1">
            <a:spLocks/>
          </p:cNvSpPr>
          <p:nvPr/>
        </p:nvSpPr>
        <p:spPr>
          <a:xfrm>
            <a:off x="299213" y="203175"/>
            <a:ext cx="9071640" cy="249299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1800" dirty="0"/>
              <a:t>4.3 </a:t>
            </a:r>
            <a:r>
              <a:rPr lang="ko-KR" altLang="en-US" sz="1800" dirty="0"/>
              <a:t>졸작 </a:t>
            </a:r>
            <a:r>
              <a:rPr lang="en-US" altLang="ko-KR" sz="1800" dirty="0"/>
              <a:t>– </a:t>
            </a:r>
            <a:r>
              <a:rPr lang="ko-KR" altLang="en-US" sz="1800" dirty="0"/>
              <a:t>성능 향상을 위한 노력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6D8F22EE-A5C2-48BA-766B-5C65A85F73F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0650" y="701773"/>
            <a:ext cx="3313113" cy="2391826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60AAC39B-293E-347F-92F9-B336F32D0BF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0650" y="3057525"/>
            <a:ext cx="3313113" cy="2517775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4BB89178-7475-7B21-EDAE-CDAFA6F859BD}"/>
              </a:ext>
            </a:extLst>
          </p:cNvPr>
          <p:cNvSpPr txBox="1"/>
          <p:nvPr/>
        </p:nvSpPr>
        <p:spPr>
          <a:xfrm>
            <a:off x="3680318" y="2893544"/>
            <a:ext cx="62180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 err="1"/>
              <a:t>ㅡ</a:t>
            </a:r>
            <a:r>
              <a:rPr lang="en-US" altLang="ko-KR" sz="2000" dirty="0"/>
              <a:t>&gt;</a:t>
            </a:r>
            <a:endParaRPr lang="ko-KR" altLang="en-US" sz="2000" dirty="0"/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929D4CB6-A90A-E457-ED35-78EE2536000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0312" y="1078536"/>
            <a:ext cx="3838574" cy="819150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9B5313D9-B2D0-8BF0-3B40-5AAC56184CD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0312" y="3325206"/>
            <a:ext cx="3838575" cy="885825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96AF91EB-6D20-9642-4339-B18EBB73D21D}"/>
              </a:ext>
            </a:extLst>
          </p:cNvPr>
          <p:cNvSpPr txBox="1"/>
          <p:nvPr/>
        </p:nvSpPr>
        <p:spPr>
          <a:xfrm>
            <a:off x="4986337" y="4393989"/>
            <a:ext cx="43243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12</a:t>
            </a:r>
            <a:r>
              <a:rPr lang="ko-KR" altLang="en-US" sz="1200" dirty="0"/>
              <a:t>스레드</a:t>
            </a:r>
            <a:r>
              <a:rPr lang="en-US" altLang="ko-KR" sz="1200" dirty="0"/>
              <a:t>(</a:t>
            </a:r>
            <a:r>
              <a:rPr lang="ko-KR" altLang="en-US" sz="1200" dirty="0"/>
              <a:t>생산자</a:t>
            </a:r>
            <a:r>
              <a:rPr lang="en-US" altLang="ko-KR" sz="1200" dirty="0"/>
              <a:t>)</a:t>
            </a:r>
            <a:r>
              <a:rPr lang="ko-KR" altLang="en-US" sz="1200" dirty="0"/>
              <a:t>가 각각 </a:t>
            </a:r>
            <a:r>
              <a:rPr lang="en-US" altLang="ko-KR" sz="1200" dirty="0"/>
              <a:t>1</a:t>
            </a:r>
            <a:r>
              <a:rPr lang="ko-KR" altLang="en-US" sz="1200" dirty="0" err="1"/>
              <a:t>억개의</a:t>
            </a:r>
            <a:r>
              <a:rPr lang="ko-KR" altLang="en-US" sz="1200" dirty="0"/>
              <a:t> 정수를 </a:t>
            </a:r>
            <a:r>
              <a:rPr lang="en-US" altLang="ko-KR" sz="1200" dirty="0"/>
              <a:t>push</a:t>
            </a:r>
            <a:r>
              <a:rPr lang="ko-KR" altLang="en-US" sz="1200" dirty="0"/>
              <a:t>하며 단일 소비자가 전부 </a:t>
            </a:r>
            <a:r>
              <a:rPr lang="en-US" altLang="ko-KR" sz="1200" dirty="0"/>
              <a:t>pop </a:t>
            </a:r>
            <a:r>
              <a:rPr lang="ko-KR" altLang="en-US" sz="1200" dirty="0" err="1"/>
              <a:t>했을때의</a:t>
            </a:r>
            <a:r>
              <a:rPr lang="ko-KR" altLang="en-US" sz="1200" dirty="0"/>
              <a:t> 벤치마크 결과</a:t>
            </a:r>
            <a:endParaRPr lang="en-US" altLang="ko-KR" sz="1200" dirty="0"/>
          </a:p>
          <a:p>
            <a:r>
              <a:rPr lang="ko-KR" altLang="en-US" sz="1200" dirty="0"/>
              <a:t>약 </a:t>
            </a:r>
            <a:r>
              <a:rPr lang="en-US" altLang="ko-KR" sz="1200" dirty="0"/>
              <a:t>3050ms </a:t>
            </a:r>
            <a:r>
              <a:rPr lang="ko-KR" altLang="en-US" sz="1200" dirty="0"/>
              <a:t>성능 향상을 보여준다</a:t>
            </a:r>
            <a:r>
              <a:rPr lang="en-US" altLang="ko-KR" sz="1200" dirty="0"/>
              <a:t>.</a:t>
            </a:r>
            <a:endParaRPr lang="ko-KR" altLang="en-US" sz="12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36E5980-39C4-E624-8B76-B41A22C87E7E}"/>
              </a:ext>
            </a:extLst>
          </p:cNvPr>
          <p:cNvSpPr txBox="1"/>
          <p:nvPr/>
        </p:nvSpPr>
        <p:spPr>
          <a:xfrm>
            <a:off x="4986337" y="1965114"/>
            <a:ext cx="370998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12</a:t>
            </a:r>
            <a:r>
              <a:rPr lang="ko-KR" altLang="en-US" sz="1200" dirty="0"/>
              <a:t>스레드</a:t>
            </a:r>
            <a:r>
              <a:rPr lang="en-US" altLang="ko-KR" sz="1200" dirty="0"/>
              <a:t>(</a:t>
            </a:r>
            <a:r>
              <a:rPr lang="ko-KR" altLang="en-US" sz="1200" dirty="0"/>
              <a:t>생산자</a:t>
            </a:r>
            <a:r>
              <a:rPr lang="en-US" altLang="ko-KR" sz="1200" dirty="0"/>
              <a:t>)</a:t>
            </a:r>
            <a:r>
              <a:rPr lang="ko-KR" altLang="en-US" sz="1200" dirty="0"/>
              <a:t>가 각각 천만개의 정수를 </a:t>
            </a:r>
            <a:r>
              <a:rPr lang="en-US" altLang="ko-KR" sz="1200" dirty="0"/>
              <a:t>push</a:t>
            </a:r>
            <a:r>
              <a:rPr lang="ko-KR" altLang="en-US" sz="1200" dirty="0"/>
              <a:t>하며 단일 소비자가 전부 </a:t>
            </a:r>
            <a:r>
              <a:rPr lang="en-US" altLang="ko-KR" sz="1200" dirty="0"/>
              <a:t>pop </a:t>
            </a:r>
            <a:r>
              <a:rPr lang="ko-KR" altLang="en-US" sz="1200" dirty="0" err="1"/>
              <a:t>했을때의</a:t>
            </a:r>
            <a:r>
              <a:rPr lang="ko-KR" altLang="en-US" sz="1200" dirty="0"/>
              <a:t> 벤치마크 결과</a:t>
            </a:r>
            <a:endParaRPr lang="en-US" altLang="ko-KR" sz="1200" dirty="0"/>
          </a:p>
          <a:p>
            <a:r>
              <a:rPr lang="ko-KR" altLang="en-US" sz="1200" dirty="0"/>
              <a:t>약 </a:t>
            </a:r>
            <a:r>
              <a:rPr lang="en-US" altLang="ko-KR" sz="1200" dirty="0"/>
              <a:t>1350ms </a:t>
            </a:r>
            <a:r>
              <a:rPr lang="ko-KR" altLang="en-US" sz="1200" dirty="0"/>
              <a:t>성능 향상을 보여준다</a:t>
            </a:r>
            <a:r>
              <a:rPr lang="en-US" altLang="ko-KR" sz="1200" dirty="0"/>
              <a:t>.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270397707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3C5EE45-EB94-8FB4-9534-9472AEC4F0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9213" y="418638"/>
            <a:ext cx="9071640" cy="609398"/>
          </a:xfrm>
        </p:spPr>
        <p:txBody>
          <a:bodyPr/>
          <a:lstStyle/>
          <a:p>
            <a:r>
              <a:rPr lang="en-US" altLang="ko-KR" dirty="0"/>
              <a:t>3. Custom </a:t>
            </a:r>
            <a:r>
              <a:rPr lang="en-US" altLang="ko-KR" dirty="0" err="1"/>
              <a:t>shared_ptr</a:t>
            </a:r>
            <a:r>
              <a:rPr lang="en-US" altLang="ko-KR" dirty="0"/>
              <a:t> </a:t>
            </a:r>
            <a:r>
              <a:rPr lang="ko-KR" altLang="en-US" dirty="0"/>
              <a:t>제작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113C6F2-FADB-D150-8D57-442663E5A893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442087" y="1064660"/>
            <a:ext cx="9071640" cy="28548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z="1600" dirty="0"/>
              <a:t>- </a:t>
            </a:r>
            <a:r>
              <a:rPr lang="ko-KR" altLang="en-US" sz="1600" dirty="0"/>
              <a:t>나는 이걸 왜 하였는가</a:t>
            </a:r>
            <a:r>
              <a:rPr lang="en-US" altLang="ko-KR" sz="1600" dirty="0"/>
              <a:t>?:</a:t>
            </a:r>
          </a:p>
          <a:p>
            <a:pPr>
              <a:buFontTx/>
              <a:buChar char="-"/>
            </a:pPr>
            <a:r>
              <a:rPr lang="en-US" altLang="ko-KR" sz="1600" dirty="0" err="1"/>
              <a:t>shared_ptr</a:t>
            </a:r>
            <a:r>
              <a:rPr lang="ko-KR" altLang="en-US" sz="1600" dirty="0"/>
              <a:t>을 이용하고 있다면 </a:t>
            </a:r>
            <a:r>
              <a:rPr lang="en-US" altLang="ko-KR" sz="1600" dirty="0"/>
              <a:t>this</a:t>
            </a:r>
            <a:r>
              <a:rPr lang="ko-KR" altLang="en-US" sz="1600" dirty="0"/>
              <a:t>포인터를 전달할 필요가 있을 때 반드시 </a:t>
            </a:r>
            <a:r>
              <a:rPr lang="en-US" altLang="ko-KR" sz="1600" dirty="0"/>
              <a:t>std::</a:t>
            </a:r>
            <a:r>
              <a:rPr lang="en-US" altLang="ko-KR" sz="1600" dirty="0" err="1"/>
              <a:t>enable_shared_from_this</a:t>
            </a:r>
            <a:r>
              <a:rPr lang="ko-KR" altLang="en-US" sz="1600" dirty="0"/>
              <a:t>를 상속받아서 </a:t>
            </a:r>
            <a:r>
              <a:rPr lang="en-US" altLang="ko-KR" sz="1600" dirty="0" err="1"/>
              <a:t>shared_from_this</a:t>
            </a:r>
            <a:r>
              <a:rPr lang="en-US" altLang="ko-KR" sz="1600" dirty="0"/>
              <a:t>()</a:t>
            </a:r>
            <a:r>
              <a:rPr lang="ko-KR" altLang="en-US" sz="1600" dirty="0"/>
              <a:t>를 호출하여 생성하여야 한다</a:t>
            </a:r>
            <a:r>
              <a:rPr lang="en-US" altLang="ko-KR" sz="1600" dirty="0"/>
              <a:t>.</a:t>
            </a:r>
          </a:p>
          <a:p>
            <a:pPr>
              <a:buFontTx/>
              <a:buChar char="-"/>
            </a:pPr>
            <a:r>
              <a:rPr lang="ko-KR" altLang="en-US" sz="1600" dirty="0"/>
              <a:t>현재 사용하는 </a:t>
            </a:r>
            <a:r>
              <a:rPr lang="en-US" altLang="ko-KR" sz="1600" dirty="0"/>
              <a:t>MSVC </a:t>
            </a:r>
            <a:r>
              <a:rPr lang="ko-KR" altLang="en-US" sz="1600" dirty="0"/>
              <a:t>컴파일러 기준 </a:t>
            </a:r>
            <a:r>
              <a:rPr lang="en-US" altLang="ko-KR" sz="1600" dirty="0"/>
              <a:t>std::</a:t>
            </a:r>
            <a:r>
              <a:rPr lang="en-US" altLang="ko-KR" sz="1600" dirty="0" err="1"/>
              <a:t>enable_shared_from_this</a:t>
            </a:r>
            <a:r>
              <a:rPr lang="ko-KR" altLang="en-US" sz="1600" dirty="0"/>
              <a:t>는 자기자신의 </a:t>
            </a:r>
            <a:r>
              <a:rPr lang="en-US" altLang="ko-KR" sz="1600" dirty="0" err="1"/>
              <a:t>weak_ptr</a:t>
            </a:r>
            <a:r>
              <a:rPr lang="ko-KR" altLang="en-US" sz="1600" dirty="0"/>
              <a:t>을 멤버변수로 가지고 이를 매개변수로 </a:t>
            </a:r>
            <a:r>
              <a:rPr lang="en-US" altLang="ko-KR" sz="1600" dirty="0" err="1"/>
              <a:t>shared_ptr</a:t>
            </a:r>
            <a:r>
              <a:rPr lang="ko-KR" altLang="en-US" sz="1600" dirty="0"/>
              <a:t>의 생성자를 이용하여 반환하도록 구현되어 있다</a:t>
            </a:r>
            <a:r>
              <a:rPr lang="en-US" altLang="ko-KR" sz="1600" dirty="0"/>
              <a:t>.</a:t>
            </a:r>
          </a:p>
          <a:p>
            <a:pPr>
              <a:buFontTx/>
              <a:buChar char="-"/>
            </a:pPr>
            <a:r>
              <a:rPr lang="en-US" altLang="ko-KR" sz="1600" dirty="0" err="1"/>
              <a:t>shared_from_this</a:t>
            </a:r>
            <a:r>
              <a:rPr lang="ko-KR" altLang="en-US" sz="1600" dirty="0"/>
              <a:t>는 매우 자주 호출될 함수인데 내부 구현이 루프 </a:t>
            </a:r>
            <a:r>
              <a:rPr lang="en-US" altLang="ko-KR" sz="1600" dirty="0"/>
              <a:t>+ CAS</a:t>
            </a:r>
            <a:r>
              <a:rPr lang="ko-KR" altLang="en-US" sz="1600" dirty="0"/>
              <a:t>로 되어있어 큰 오버헤드가 예상되고 직접 구현하면 </a:t>
            </a:r>
            <a:r>
              <a:rPr lang="en-US" altLang="ko-KR" sz="1600" dirty="0" err="1"/>
              <a:t>InterlockedIncrement</a:t>
            </a:r>
            <a:r>
              <a:rPr lang="ko-KR" altLang="en-US" sz="1600" dirty="0"/>
              <a:t>를 한번만 호출하는 것으로 성능 개선 가능성이 보인다</a:t>
            </a:r>
            <a:r>
              <a:rPr lang="en-US" altLang="ko-KR" sz="1600" dirty="0"/>
              <a:t>.</a:t>
            </a:r>
          </a:p>
          <a:p>
            <a:pPr>
              <a:buFontTx/>
              <a:buChar char="-"/>
            </a:pPr>
            <a:r>
              <a:rPr lang="ko-KR" altLang="en-US" sz="1600" dirty="0"/>
              <a:t>현재 사용하는 </a:t>
            </a:r>
            <a:r>
              <a:rPr lang="en-US" altLang="ko-KR" sz="1600" dirty="0"/>
              <a:t>MSVC </a:t>
            </a:r>
            <a:r>
              <a:rPr lang="ko-KR" altLang="en-US" sz="1600" dirty="0"/>
              <a:t>컴파일러 기준 </a:t>
            </a:r>
            <a:r>
              <a:rPr lang="en-US" altLang="ko-KR" sz="1600" dirty="0" err="1"/>
              <a:t>shared_ptr</a:t>
            </a:r>
            <a:r>
              <a:rPr lang="ko-KR" altLang="en-US" sz="1600" dirty="0"/>
              <a:t>의 크기가 </a:t>
            </a:r>
            <a:r>
              <a:rPr lang="en-US" altLang="ko-KR" sz="1600" dirty="0"/>
              <a:t>16</a:t>
            </a:r>
            <a:r>
              <a:rPr lang="ko-KR" altLang="en-US" sz="1600" dirty="0"/>
              <a:t>바이트인데 직접 제작한다면 이를 </a:t>
            </a:r>
            <a:r>
              <a:rPr lang="en-US" altLang="ko-KR" sz="1600" dirty="0"/>
              <a:t>8</a:t>
            </a:r>
            <a:r>
              <a:rPr lang="ko-KR" altLang="en-US" sz="1600" dirty="0"/>
              <a:t>바이트로 줄일 수 있고 제어블록 대신 정수 값 하나만을 이용하여 더 적은 메모리로 구현할 수 있다</a:t>
            </a:r>
            <a:r>
              <a:rPr lang="en-US" altLang="ko-KR" sz="1600" dirty="0"/>
              <a:t>.</a:t>
            </a:r>
          </a:p>
          <a:p>
            <a:pPr marL="0" indent="0">
              <a:buNone/>
            </a:pPr>
            <a:endParaRPr lang="en-US" altLang="ko-KR" sz="1600" dirty="0"/>
          </a:p>
          <a:p>
            <a:pPr>
              <a:buFontTx/>
              <a:buChar char="-"/>
            </a:pPr>
            <a:endParaRPr lang="en-US" altLang="ko-KR" sz="1600" dirty="0"/>
          </a:p>
          <a:p>
            <a:pPr marL="0" indent="0">
              <a:buNone/>
            </a:pPr>
            <a:endParaRPr lang="ko-KR" altLang="en-US" sz="1600" dirty="0"/>
          </a:p>
        </p:txBody>
      </p:sp>
      <p:sp>
        <p:nvSpPr>
          <p:cNvPr id="5" name="제목 1">
            <a:extLst>
              <a:ext uri="{FF2B5EF4-FFF2-40B4-BE49-F238E27FC236}">
                <a16:creationId xmlns:a16="http://schemas.microsoft.com/office/drawing/2014/main" id="{1CF5EFB4-FDAF-8E90-7922-381BE8B526E3}"/>
              </a:ext>
            </a:extLst>
          </p:cNvPr>
          <p:cNvSpPr txBox="1">
            <a:spLocks/>
          </p:cNvSpPr>
          <p:nvPr/>
        </p:nvSpPr>
        <p:spPr>
          <a:xfrm>
            <a:off x="299213" y="203175"/>
            <a:ext cx="9071640" cy="249299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1800" dirty="0"/>
              <a:t>4.3 </a:t>
            </a:r>
            <a:r>
              <a:rPr lang="ko-KR" altLang="en-US" sz="1800" dirty="0"/>
              <a:t>졸작 </a:t>
            </a:r>
            <a:r>
              <a:rPr lang="en-US" altLang="ko-KR" sz="1800" dirty="0"/>
              <a:t>– </a:t>
            </a:r>
            <a:r>
              <a:rPr lang="ko-KR" altLang="en-US" sz="1800" dirty="0"/>
              <a:t>성능 향상을 위한 노력</a:t>
            </a:r>
          </a:p>
        </p:txBody>
      </p:sp>
    </p:spTree>
    <p:extLst>
      <p:ext uri="{BB962C8B-B14F-4D97-AF65-F5344CB8AC3E}">
        <p14:creationId xmlns:p14="http://schemas.microsoft.com/office/powerpoint/2010/main" val="136553417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BC897C25-3C39-23BA-7011-5855BA5B49A7}"/>
              </a:ext>
            </a:extLst>
          </p:cNvPr>
          <p:cNvSpPr txBox="1">
            <a:spLocks/>
          </p:cNvSpPr>
          <p:nvPr/>
        </p:nvSpPr>
        <p:spPr>
          <a:xfrm>
            <a:off x="299213" y="203175"/>
            <a:ext cx="9071640" cy="249299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1800" dirty="0"/>
              <a:t>4.3 </a:t>
            </a:r>
            <a:r>
              <a:rPr lang="ko-KR" altLang="en-US" sz="1800" dirty="0"/>
              <a:t>졸작 </a:t>
            </a:r>
            <a:r>
              <a:rPr lang="en-US" altLang="ko-KR" sz="1800" dirty="0"/>
              <a:t>– </a:t>
            </a:r>
            <a:r>
              <a:rPr lang="ko-KR" altLang="en-US" sz="1800" dirty="0"/>
              <a:t>성능 향상을 위한 노력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C59EA543-EEF6-061D-2F10-8493B08A355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427111"/>
            <a:ext cx="3538538" cy="2090654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E210CCC9-A89C-EA7F-9EF7-C47DDD1B27E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2460599"/>
            <a:ext cx="3538539" cy="2619375"/>
          </a:xfrm>
          <a:prstGeom prst="rect">
            <a:avLst/>
          </a:prstGeom>
        </p:spPr>
      </p:pic>
      <p:sp>
        <p:nvSpPr>
          <p:cNvPr id="8" name="제목 1">
            <a:extLst>
              <a:ext uri="{FF2B5EF4-FFF2-40B4-BE49-F238E27FC236}">
                <a16:creationId xmlns:a16="http://schemas.microsoft.com/office/drawing/2014/main" id="{F1FAFB09-DA64-2FF9-DC87-8EA358840603}"/>
              </a:ext>
            </a:extLst>
          </p:cNvPr>
          <p:cNvSpPr txBox="1">
            <a:spLocks/>
          </p:cNvSpPr>
          <p:nvPr/>
        </p:nvSpPr>
        <p:spPr>
          <a:xfrm>
            <a:off x="-1" y="5160926"/>
            <a:ext cx="3469783" cy="249299"/>
          </a:xfrm>
          <a:prstGeom prst="rect">
            <a:avLst/>
          </a:prstGeom>
        </p:spPr>
        <p:txBody>
          <a:bodyPr wrap="square" lIns="0" tIns="0" rIns="0" bIns="0" anchor="ctr">
            <a:sp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1800" dirty="0"/>
              <a:t> </a:t>
            </a:r>
            <a:r>
              <a:rPr lang="ko-KR" altLang="en-US" sz="1200" dirty="0"/>
              <a:t>표준 </a:t>
            </a:r>
            <a:r>
              <a:rPr lang="en-US" altLang="ko-KR" sz="1200" dirty="0" err="1"/>
              <a:t>shared_from_this</a:t>
            </a:r>
            <a:r>
              <a:rPr lang="en-US" altLang="ko-KR" sz="1200" dirty="0"/>
              <a:t>()</a:t>
            </a:r>
            <a:r>
              <a:rPr lang="ko-KR" altLang="en-US" sz="1200" dirty="0"/>
              <a:t>의 내부 구현 </a:t>
            </a:r>
            <a:r>
              <a:rPr lang="en-US" altLang="ko-KR" sz="1200" dirty="0"/>
              <a:t>(MSVC </a:t>
            </a:r>
            <a:r>
              <a:rPr lang="ko-KR" altLang="en-US" sz="1200" dirty="0"/>
              <a:t>기준</a:t>
            </a:r>
            <a:r>
              <a:rPr lang="en-US" altLang="ko-KR" sz="1200" dirty="0"/>
              <a:t>)</a:t>
            </a:r>
            <a:endParaRPr lang="ko-KR" altLang="en-US" sz="12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F6897DB-BCDE-3537-5ED2-61A80A5D6419}"/>
              </a:ext>
            </a:extLst>
          </p:cNvPr>
          <p:cNvSpPr txBox="1"/>
          <p:nvPr/>
        </p:nvSpPr>
        <p:spPr>
          <a:xfrm>
            <a:off x="3538538" y="2520080"/>
            <a:ext cx="62180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 err="1"/>
              <a:t>ㅡ</a:t>
            </a:r>
            <a:r>
              <a:rPr lang="en-US" altLang="ko-KR" sz="2000" dirty="0"/>
              <a:t>&gt;</a:t>
            </a:r>
            <a:endParaRPr lang="ko-KR" altLang="en-US" sz="2000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11910359-8159-1D23-6F42-D35E1FEFEE5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0525" y="72185"/>
            <a:ext cx="5880100" cy="2275728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5128EB6A-2B17-D5B4-3F1E-570A87E99E1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0525" y="2347913"/>
            <a:ext cx="5880099" cy="2732061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03985B1B-4367-6FFD-B0AA-93FD23686594}"/>
              </a:ext>
            </a:extLst>
          </p:cNvPr>
          <p:cNvSpPr txBox="1"/>
          <p:nvPr/>
        </p:nvSpPr>
        <p:spPr>
          <a:xfrm>
            <a:off x="4200525" y="5147330"/>
            <a:ext cx="5836143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루프와 </a:t>
            </a:r>
            <a:r>
              <a:rPr lang="en-US" altLang="ko-KR" sz="1000" dirty="0"/>
              <a:t>CAS</a:t>
            </a:r>
            <a:r>
              <a:rPr lang="ko-KR" altLang="en-US" sz="1000" dirty="0"/>
              <a:t>를 없애고 </a:t>
            </a:r>
            <a:r>
              <a:rPr lang="en-US" altLang="ko-KR" sz="1000" dirty="0" err="1"/>
              <a:t>InterlockedIncrement</a:t>
            </a:r>
            <a:r>
              <a:rPr lang="en-US" altLang="ko-KR" sz="1000" dirty="0"/>
              <a:t> </a:t>
            </a:r>
            <a:r>
              <a:rPr lang="ko-KR" altLang="en-US" sz="1000" dirty="0"/>
              <a:t>호출 한번으로 간단하게 </a:t>
            </a:r>
            <a:r>
              <a:rPr lang="en-US" altLang="ko-KR" sz="1000" dirty="0" err="1"/>
              <a:t>shared_from_this</a:t>
            </a:r>
            <a:r>
              <a:rPr lang="ko-KR" altLang="en-US" sz="1000" dirty="0"/>
              <a:t>를 구현 가능</a:t>
            </a:r>
            <a:endParaRPr lang="en-US" altLang="ko-KR" sz="1000" dirty="0"/>
          </a:p>
          <a:p>
            <a:r>
              <a:rPr lang="en-US" altLang="ko-KR" sz="1000" dirty="0"/>
              <a:t>(</a:t>
            </a:r>
            <a:r>
              <a:rPr lang="ko-KR" altLang="en-US" sz="1000" dirty="0"/>
              <a:t>상세한 코드 전문은 </a:t>
            </a:r>
            <a:r>
              <a:rPr lang="en-US" altLang="ko-KR" sz="1000" dirty="0" err="1"/>
              <a:t>RefCountable.h</a:t>
            </a:r>
            <a:r>
              <a:rPr lang="en-US" altLang="ko-KR" sz="1000" dirty="0"/>
              <a:t> </a:t>
            </a:r>
            <a:r>
              <a:rPr lang="ko-KR" altLang="en-US" sz="1000" dirty="0"/>
              <a:t>참조</a:t>
            </a:r>
            <a:r>
              <a:rPr lang="en-US" altLang="ko-KR" sz="1000" dirty="0"/>
              <a:t>)</a:t>
            </a:r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4806737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BA11A4E-97B2-4B55-F1CF-D275BCE534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9213" y="422286"/>
            <a:ext cx="9071640" cy="2473314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en-US" altLang="ko-KR" sz="1600" dirty="0"/>
              <a:t>- Custom </a:t>
            </a:r>
            <a:r>
              <a:rPr lang="en-US" altLang="ko-KR" sz="1600" dirty="0" err="1"/>
              <a:t>shared_ptr</a:t>
            </a:r>
            <a:r>
              <a:rPr lang="en-US" altLang="ko-KR" sz="1600" dirty="0"/>
              <a:t> </a:t>
            </a:r>
            <a:r>
              <a:rPr lang="ko-KR" altLang="en-US" sz="1600" dirty="0"/>
              <a:t>제작으로 얻는 것</a:t>
            </a:r>
            <a:r>
              <a:rPr lang="en-US" altLang="ko-KR" sz="1600" dirty="0"/>
              <a:t>:</a:t>
            </a:r>
            <a:br>
              <a:rPr lang="en-US" altLang="ko-KR" sz="1600" dirty="0"/>
            </a:br>
            <a:r>
              <a:rPr lang="en-US" altLang="ko-KR" sz="1600" dirty="0"/>
              <a:t>1. </a:t>
            </a:r>
            <a:r>
              <a:rPr lang="ko-KR" altLang="en-US" sz="1600" dirty="0"/>
              <a:t>표준 </a:t>
            </a:r>
            <a:r>
              <a:rPr lang="en-US" altLang="ko-KR" sz="1600" dirty="0" err="1"/>
              <a:t>shared_ptr</a:t>
            </a:r>
            <a:r>
              <a:rPr lang="ko-KR" altLang="en-US" sz="1600" dirty="0"/>
              <a:t>에 비해 훨씬 더 적은 메모리로 구현 가능</a:t>
            </a:r>
            <a:br>
              <a:rPr lang="en-US" altLang="ko-KR" sz="1600" dirty="0"/>
            </a:br>
            <a:r>
              <a:rPr lang="en-US" altLang="ko-KR" sz="1600" dirty="0"/>
              <a:t>2. </a:t>
            </a:r>
            <a:r>
              <a:rPr lang="ko-KR" altLang="en-US" sz="1600" dirty="0"/>
              <a:t>객체의 수명 보장을 위해 불필요한 </a:t>
            </a:r>
            <a:r>
              <a:rPr lang="en-US" altLang="ko-KR" sz="1600" dirty="0" err="1"/>
              <a:t>shared_ptr</a:t>
            </a:r>
            <a:r>
              <a:rPr lang="ko-KR" altLang="en-US" sz="1600" dirty="0"/>
              <a:t>의 복사가 여러 번 발생 하는 것을 한번에 레퍼런스 카운터를 </a:t>
            </a:r>
            <a:r>
              <a:rPr lang="en-US" altLang="ko-KR" sz="1600" dirty="0"/>
              <a:t>1</a:t>
            </a:r>
            <a:r>
              <a:rPr lang="ko-KR" altLang="en-US" sz="1600" dirty="0"/>
              <a:t>보다 더 큰 값을 증가시키는 것으로 대체 가능</a:t>
            </a:r>
            <a:br>
              <a:rPr lang="en-US" altLang="ko-KR" sz="1600" dirty="0"/>
            </a:br>
            <a:r>
              <a:rPr lang="en-US" altLang="ko-KR" sz="1600" dirty="0"/>
              <a:t>3. </a:t>
            </a:r>
            <a:r>
              <a:rPr lang="ko-KR" altLang="en-US" sz="1600" dirty="0"/>
              <a:t>자기 자신에 대한 </a:t>
            </a:r>
            <a:r>
              <a:rPr lang="en-US" altLang="ko-KR" sz="1600" dirty="0" err="1"/>
              <a:t>shared_ptr</a:t>
            </a:r>
            <a:r>
              <a:rPr lang="en-US" altLang="ko-KR" sz="1600" dirty="0"/>
              <a:t> </a:t>
            </a:r>
            <a:r>
              <a:rPr lang="ko-KR" altLang="en-US" sz="1600" dirty="0"/>
              <a:t>생성</a:t>
            </a:r>
            <a:r>
              <a:rPr lang="en-US" altLang="ko-KR" sz="1600" dirty="0"/>
              <a:t>(</a:t>
            </a:r>
            <a:r>
              <a:rPr lang="en-US" altLang="ko-KR" sz="1600" dirty="0" err="1"/>
              <a:t>shared_from_this</a:t>
            </a:r>
            <a:r>
              <a:rPr lang="en-US" altLang="ko-KR" sz="1600" dirty="0"/>
              <a:t>)</a:t>
            </a:r>
            <a:r>
              <a:rPr lang="ko-KR" altLang="en-US" sz="1600" dirty="0"/>
              <a:t>에 발생했던 오버헤드를 크게 감소</a:t>
            </a:r>
            <a:br>
              <a:rPr lang="en-US" altLang="ko-KR" sz="1600" dirty="0"/>
            </a:br>
            <a:br>
              <a:rPr lang="en-US" altLang="ko-KR" sz="1600" dirty="0"/>
            </a:br>
            <a:endParaRPr lang="ko-KR" altLang="en-US" sz="1600" dirty="0"/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24AF3C29-58EC-372F-EE46-2C2692104006}"/>
              </a:ext>
            </a:extLst>
          </p:cNvPr>
          <p:cNvSpPr txBox="1">
            <a:spLocks/>
          </p:cNvSpPr>
          <p:nvPr/>
        </p:nvSpPr>
        <p:spPr>
          <a:xfrm>
            <a:off x="299213" y="203175"/>
            <a:ext cx="9071640" cy="249299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1800" dirty="0"/>
              <a:t>4.3 </a:t>
            </a:r>
            <a:r>
              <a:rPr lang="ko-KR" altLang="en-US" sz="1800" dirty="0"/>
              <a:t>졸작 </a:t>
            </a:r>
            <a:r>
              <a:rPr lang="en-US" altLang="ko-KR" sz="1800" dirty="0"/>
              <a:t>– </a:t>
            </a:r>
            <a:r>
              <a:rPr lang="ko-KR" altLang="en-US" sz="1800" dirty="0"/>
              <a:t>성능 향상을 위한 노력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92D015B0-DE39-780A-0142-73170003D15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0033" y="2691605"/>
            <a:ext cx="1562100" cy="1979613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9BF82CD0-8018-83E9-E996-285A1119E7A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5450" y="2691605"/>
            <a:ext cx="2634583" cy="1979613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46708C56-CD97-6E9E-E222-A406593D16E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4462" y="2232025"/>
            <a:ext cx="3810000" cy="340201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443F319-0C3F-3B9C-38D7-E37E58D2120B}"/>
              </a:ext>
            </a:extLst>
          </p:cNvPr>
          <p:cNvSpPr txBox="1"/>
          <p:nvPr/>
        </p:nvSpPr>
        <p:spPr>
          <a:xfrm>
            <a:off x="4453351" y="3532921"/>
            <a:ext cx="62180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 err="1"/>
              <a:t>ㅡ</a:t>
            </a:r>
            <a:r>
              <a:rPr lang="en-US" altLang="ko-KR" sz="2000" dirty="0"/>
              <a:t>&gt;</a:t>
            </a:r>
            <a:endParaRPr lang="ko-KR" altLang="en-US" sz="20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EAF0887-AD97-C5EB-0FF9-26C8F43EDF22}"/>
              </a:ext>
            </a:extLst>
          </p:cNvPr>
          <p:cNvSpPr txBox="1"/>
          <p:nvPr/>
        </p:nvSpPr>
        <p:spPr>
          <a:xfrm>
            <a:off x="5348288" y="4733925"/>
            <a:ext cx="46434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 err="1"/>
              <a:t>직접만든</a:t>
            </a:r>
            <a:r>
              <a:rPr lang="ko-KR" altLang="en-US" sz="1200" dirty="0"/>
              <a:t> </a:t>
            </a:r>
            <a:r>
              <a:rPr lang="en-US" altLang="ko-KR" sz="1200" dirty="0" err="1"/>
              <a:t>shared_ptr</a:t>
            </a:r>
            <a:r>
              <a:rPr lang="ko-KR" altLang="en-US" sz="1200" dirty="0"/>
              <a:t>과 표준 </a:t>
            </a:r>
            <a:r>
              <a:rPr lang="en-US" altLang="ko-KR" sz="1200" dirty="0" err="1"/>
              <a:t>shared_ptr</a:t>
            </a:r>
            <a:r>
              <a:rPr lang="ko-KR" altLang="en-US" sz="1200" dirty="0"/>
              <a:t>의 </a:t>
            </a:r>
            <a:r>
              <a:rPr lang="en-US" altLang="ko-KR" sz="1200" dirty="0" err="1"/>
              <a:t>shared_from_this</a:t>
            </a:r>
            <a:r>
              <a:rPr lang="ko-KR" altLang="en-US" sz="1200" dirty="0"/>
              <a:t>를 각각 </a:t>
            </a:r>
            <a:r>
              <a:rPr lang="en-US" altLang="ko-KR" sz="1200" dirty="0"/>
              <a:t>1</a:t>
            </a:r>
            <a:r>
              <a:rPr lang="ko-KR" altLang="en-US" sz="1200" dirty="0" err="1"/>
              <a:t>억번씩</a:t>
            </a:r>
            <a:r>
              <a:rPr lang="ko-KR" altLang="en-US" sz="1200" dirty="0"/>
              <a:t> </a:t>
            </a:r>
            <a:r>
              <a:rPr lang="ko-KR" altLang="en-US" sz="1200" dirty="0" err="1"/>
              <a:t>호출하였을때</a:t>
            </a:r>
            <a:r>
              <a:rPr lang="ko-KR" altLang="en-US" sz="1200" dirty="0"/>
              <a:t> 약 </a:t>
            </a:r>
            <a:r>
              <a:rPr lang="en-US" altLang="ko-KR" sz="1200" dirty="0"/>
              <a:t>500ms</a:t>
            </a:r>
            <a:r>
              <a:rPr lang="ko-KR" altLang="en-US" sz="1200" dirty="0"/>
              <a:t> 더 빠른 성능을 보여준다</a:t>
            </a:r>
            <a:r>
              <a:rPr lang="en-US" altLang="ko-KR" sz="1200" dirty="0"/>
              <a:t>.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168950391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61AD9E9-408C-F7C0-596E-CEDFA3432B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9213" y="527951"/>
            <a:ext cx="9071640" cy="609398"/>
          </a:xfrm>
        </p:spPr>
        <p:txBody>
          <a:bodyPr/>
          <a:lstStyle/>
          <a:p>
            <a:r>
              <a:rPr lang="en-US" altLang="ko-KR" dirty="0"/>
              <a:t>4. Task vs std::function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C7FCD62-A7B8-49E3-6862-59550A3B3F3D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299213" y="1371873"/>
            <a:ext cx="9071640" cy="1373150"/>
          </a:xfrm>
        </p:spPr>
        <p:txBody>
          <a:bodyPr/>
          <a:lstStyle/>
          <a:p>
            <a:pPr>
              <a:buFontTx/>
              <a:buChar char="-"/>
            </a:pPr>
            <a:r>
              <a:rPr lang="ko-KR" altLang="en-US" sz="1600" dirty="0"/>
              <a:t>나는 이걸 왜 하였는가</a:t>
            </a:r>
            <a:r>
              <a:rPr lang="en-US" altLang="ko-KR" sz="1600" dirty="0"/>
              <a:t>?:</a:t>
            </a:r>
          </a:p>
          <a:p>
            <a:pPr marL="0" indent="0">
              <a:buNone/>
            </a:pPr>
            <a:r>
              <a:rPr lang="en-US" altLang="ko-KR" sz="1600" dirty="0"/>
              <a:t>- std::function</a:t>
            </a:r>
            <a:r>
              <a:rPr lang="ko-KR" altLang="en-US" sz="1600" dirty="0"/>
              <a:t>을 람다 캡처로 만들 시 발생하는 동적 할당</a:t>
            </a:r>
            <a:r>
              <a:rPr lang="en-US" altLang="ko-KR" sz="1600" dirty="0"/>
              <a:t>/</a:t>
            </a:r>
            <a:r>
              <a:rPr lang="ko-KR" altLang="en-US" sz="1600" dirty="0"/>
              <a:t>해제 오버헤드를 고성능 커스텀 메모리 풀을 이용하여 개선할 수 있다</a:t>
            </a:r>
            <a:r>
              <a:rPr lang="en-US" altLang="ko-KR" sz="1600" dirty="0"/>
              <a:t>.</a:t>
            </a:r>
          </a:p>
          <a:p>
            <a:pPr marL="0" indent="0">
              <a:buNone/>
            </a:pPr>
            <a:r>
              <a:rPr lang="en-US" altLang="ko-KR" sz="1600" dirty="0"/>
              <a:t>- x64 </a:t>
            </a:r>
            <a:r>
              <a:rPr lang="ko-KR" altLang="en-US" sz="1600" dirty="0"/>
              <a:t>기준 </a:t>
            </a:r>
            <a:r>
              <a:rPr lang="en-US" altLang="ko-KR" sz="1600" dirty="0"/>
              <a:t>16</a:t>
            </a:r>
            <a:r>
              <a:rPr lang="ko-KR" altLang="en-US" sz="1600" dirty="0"/>
              <a:t>바이트 크기</a:t>
            </a:r>
            <a:r>
              <a:rPr lang="en-US" altLang="ko-KR" sz="1600" dirty="0"/>
              <a:t>(</a:t>
            </a:r>
            <a:r>
              <a:rPr lang="ko-KR" altLang="en-US" sz="1600" dirty="0"/>
              <a:t>포인터 두개</a:t>
            </a:r>
            <a:r>
              <a:rPr lang="en-US" altLang="ko-KR" sz="1600" dirty="0"/>
              <a:t>)</a:t>
            </a:r>
            <a:r>
              <a:rPr lang="ko-KR" altLang="en-US" sz="1600" dirty="0"/>
              <a:t>로 제작이 가능하여 </a:t>
            </a:r>
            <a:r>
              <a:rPr lang="en-US" altLang="ko-KR" sz="1600" dirty="0"/>
              <a:t>64</a:t>
            </a:r>
            <a:r>
              <a:rPr lang="ko-KR" altLang="en-US" sz="1600" dirty="0"/>
              <a:t>바이트인 </a:t>
            </a:r>
            <a:r>
              <a:rPr lang="en-US" altLang="ko-KR" sz="1600" dirty="0"/>
              <a:t>std::function</a:t>
            </a:r>
            <a:r>
              <a:rPr lang="ko-KR" altLang="en-US" sz="1600" dirty="0"/>
              <a:t>에 비해 훨씬 더 적은 메모리를 이용하여 구현 할 수 있다</a:t>
            </a:r>
            <a:r>
              <a:rPr lang="en-US" altLang="ko-KR" sz="1600" dirty="0"/>
              <a:t>.</a:t>
            </a:r>
          </a:p>
          <a:p>
            <a:pPr marL="0" indent="0">
              <a:buNone/>
            </a:pPr>
            <a:endParaRPr lang="en-US" altLang="ko-KR" sz="1600" dirty="0"/>
          </a:p>
          <a:p>
            <a:pPr marL="0" indent="0">
              <a:buNone/>
            </a:pPr>
            <a:endParaRPr lang="ko-KR" altLang="en-US" dirty="0"/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1CD6DD7A-8A65-ABBC-74CD-3ACFA2B80EA3}"/>
              </a:ext>
            </a:extLst>
          </p:cNvPr>
          <p:cNvSpPr txBox="1">
            <a:spLocks/>
          </p:cNvSpPr>
          <p:nvPr/>
        </p:nvSpPr>
        <p:spPr>
          <a:xfrm>
            <a:off x="299213" y="203175"/>
            <a:ext cx="9071640" cy="249299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1800" dirty="0"/>
              <a:t>4.3 </a:t>
            </a:r>
            <a:r>
              <a:rPr lang="ko-KR" altLang="en-US" sz="1800" dirty="0"/>
              <a:t>졸작 </a:t>
            </a:r>
            <a:r>
              <a:rPr lang="en-US" altLang="ko-KR" sz="1800" dirty="0"/>
              <a:t>– </a:t>
            </a:r>
            <a:r>
              <a:rPr lang="ko-KR" altLang="en-US" sz="1800" dirty="0"/>
              <a:t>성능 향상을 위한 노력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FB46C9DA-7059-88A3-6835-99BA38DF6B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9788" y="2218631"/>
            <a:ext cx="2271712" cy="2795624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63639A8D-F0AB-958D-FC7D-6C29D3AE856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587" y="2218631"/>
            <a:ext cx="2088201" cy="2795624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1EF139E8-606F-429F-EF9A-9CC0A4EC170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95812" y="3619057"/>
            <a:ext cx="1447800" cy="1397812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335EA786-765E-C3CA-6BDB-743A7643C08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00574" y="2218631"/>
            <a:ext cx="1438275" cy="1397812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3E6679C0-6709-DAD7-B3C3-0D62F8DB177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71724" y="2218631"/>
            <a:ext cx="2219325" cy="2795624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A792A3BE-3F48-1721-2660-217F5AA524A8}"/>
              </a:ext>
            </a:extLst>
          </p:cNvPr>
          <p:cNvSpPr txBox="1"/>
          <p:nvPr/>
        </p:nvSpPr>
        <p:spPr>
          <a:xfrm>
            <a:off x="4815708" y="3450101"/>
            <a:ext cx="62180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 err="1"/>
              <a:t>ㅡ</a:t>
            </a:r>
            <a:r>
              <a:rPr lang="en-US" altLang="ko-KR" sz="2000" dirty="0"/>
              <a:t>&gt;</a:t>
            </a:r>
            <a:endParaRPr lang="ko-KR" altLang="en-US" sz="20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507DF41-8C60-43A6-22A3-4541609D6F66}"/>
              </a:ext>
            </a:extLst>
          </p:cNvPr>
          <p:cNvSpPr txBox="1"/>
          <p:nvPr/>
        </p:nvSpPr>
        <p:spPr>
          <a:xfrm>
            <a:off x="595312" y="5057775"/>
            <a:ext cx="90011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직접 만든 </a:t>
            </a:r>
            <a:r>
              <a:rPr lang="en-US" altLang="ko-KR" sz="1200" dirty="0"/>
              <a:t>Task</a:t>
            </a:r>
            <a:r>
              <a:rPr lang="ko-KR" altLang="en-US" sz="1200" dirty="0"/>
              <a:t>와 </a:t>
            </a:r>
            <a:r>
              <a:rPr lang="en-US" altLang="ko-KR" sz="1200" dirty="0"/>
              <a:t>std::function</a:t>
            </a:r>
            <a:r>
              <a:rPr lang="ko-KR" altLang="en-US" sz="1200" dirty="0"/>
              <a:t>을 동일한 멤버함수 포인터와 매개변수를 캡처하여 생성 및 각각 천만번 씩 호출했을 때 </a:t>
            </a:r>
            <a:r>
              <a:rPr lang="en-US" altLang="ko-KR" sz="1200" dirty="0"/>
              <a:t>Task </a:t>
            </a:r>
            <a:r>
              <a:rPr lang="ko-KR" altLang="en-US" sz="1200" dirty="0"/>
              <a:t>클래스가 약 </a:t>
            </a:r>
            <a:r>
              <a:rPr lang="en-US" altLang="ko-KR" sz="1200" dirty="0"/>
              <a:t>250ms </a:t>
            </a:r>
            <a:r>
              <a:rPr lang="ko-KR" altLang="en-US" sz="1200" dirty="0"/>
              <a:t>더 빠른 성능을 보여준다</a:t>
            </a:r>
            <a:r>
              <a:rPr lang="en-US" altLang="ko-KR" sz="1200" dirty="0"/>
              <a:t>.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143290243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587AB8C-B198-B473-65EB-EBFE754097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363" y="518656"/>
            <a:ext cx="9071640" cy="609398"/>
          </a:xfrm>
        </p:spPr>
        <p:txBody>
          <a:bodyPr/>
          <a:lstStyle/>
          <a:p>
            <a:r>
              <a:rPr lang="en-US" altLang="ko-KR" dirty="0"/>
              <a:t>5. Cluster </a:t>
            </a:r>
            <a:r>
              <a:rPr lang="ko-KR" altLang="en-US" dirty="0"/>
              <a:t>공간분할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DF5DE2D-7A76-CE85-628A-73A0138DF392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394462" y="1194236"/>
            <a:ext cx="9071640" cy="3288240"/>
          </a:xfrm>
        </p:spPr>
        <p:txBody>
          <a:bodyPr/>
          <a:lstStyle/>
          <a:p>
            <a:pPr>
              <a:buFontTx/>
              <a:buChar char="-"/>
            </a:pPr>
            <a:r>
              <a:rPr lang="ko-KR" altLang="en-US" sz="1600" dirty="0"/>
              <a:t>나는 이걸 왜 하였는가</a:t>
            </a:r>
            <a:r>
              <a:rPr lang="en-US" altLang="ko-KR" sz="1600" dirty="0"/>
              <a:t>?:</a:t>
            </a:r>
          </a:p>
          <a:p>
            <a:pPr marL="0" indent="0">
              <a:buNone/>
            </a:pPr>
            <a:r>
              <a:rPr lang="ko-KR" altLang="en-US" sz="1600" dirty="0"/>
              <a:t>패킷 전달</a:t>
            </a:r>
            <a:r>
              <a:rPr lang="en-US" altLang="ko-KR" sz="1600" dirty="0"/>
              <a:t>, </a:t>
            </a:r>
            <a:r>
              <a:rPr lang="ko-KR" altLang="en-US" sz="1600" dirty="0"/>
              <a:t>충돌검사</a:t>
            </a:r>
            <a:r>
              <a:rPr lang="en-US" altLang="ko-KR" sz="1600" dirty="0"/>
              <a:t> </a:t>
            </a:r>
            <a:r>
              <a:rPr lang="ko-KR" altLang="en-US" sz="1600" dirty="0"/>
              <a:t>등 순회 및 특정 조건에 맞는 오브젝트를 찾아내기 위해 선형탐색을 진행할 때</a:t>
            </a:r>
            <a:endParaRPr lang="en-US" altLang="ko-KR" sz="1600" dirty="0"/>
          </a:p>
          <a:p>
            <a:pPr marL="0" indent="0">
              <a:buNone/>
            </a:pPr>
            <a:r>
              <a:rPr lang="ko-KR" altLang="en-US" sz="1600" dirty="0"/>
              <a:t>매번 월드전체의 오브젝트를 검색하기엔 탐색공간이 너무나도 크다</a:t>
            </a:r>
            <a:r>
              <a:rPr lang="en-US" altLang="ko-KR" sz="1600" dirty="0"/>
              <a:t>.</a:t>
            </a:r>
          </a:p>
          <a:p>
            <a:pPr marL="0" indent="0">
              <a:buNone/>
            </a:pPr>
            <a:r>
              <a:rPr lang="ko-KR" altLang="en-US" sz="1600" dirty="0"/>
              <a:t>월드를 격자판으로 쪼개서 자신이 속한 격자판과 그 근처의 격자판만 검색한다면 탐색공간을 크게 줄일 수 있다</a:t>
            </a:r>
            <a:r>
              <a:rPr lang="en-US" altLang="ko-KR" sz="1600" dirty="0"/>
              <a:t>.</a:t>
            </a:r>
          </a:p>
          <a:p>
            <a:pPr marL="0" indent="0">
              <a:buNone/>
            </a:pPr>
            <a:r>
              <a:rPr lang="ko-KR" altLang="en-US" sz="1600" dirty="0"/>
              <a:t>게임서버의 많은 알고리즘들이 대부분 </a:t>
            </a:r>
            <a:r>
              <a:rPr lang="ko-KR" altLang="en-US" sz="1600" dirty="0" err="1"/>
              <a:t>시간복잡도가</a:t>
            </a:r>
            <a:r>
              <a:rPr lang="ko-KR" altLang="en-US" sz="1600" dirty="0"/>
              <a:t> </a:t>
            </a:r>
            <a:r>
              <a:rPr lang="en-US" altLang="ko-KR" sz="1600" dirty="0"/>
              <a:t>O(N^2) </a:t>
            </a:r>
            <a:r>
              <a:rPr lang="ko-KR" altLang="en-US" sz="1600" dirty="0"/>
              <a:t>수준이기 때문에 반드시 이 </a:t>
            </a:r>
            <a:r>
              <a:rPr lang="en-US" altLang="ko-KR" sz="1600" dirty="0"/>
              <a:t>N</a:t>
            </a:r>
            <a:r>
              <a:rPr lang="ko-KR" altLang="en-US" sz="1600" dirty="0"/>
              <a:t>을 줄여야만 한다고 생각하였다</a:t>
            </a:r>
            <a:r>
              <a:rPr lang="en-US" altLang="ko-KR" sz="1600" dirty="0"/>
              <a:t>.</a:t>
            </a:r>
          </a:p>
          <a:p>
            <a:pPr marL="0" indent="0">
              <a:buNone/>
            </a:pPr>
            <a:r>
              <a:rPr lang="en-US" altLang="ko-KR" sz="1200" dirty="0"/>
              <a:t>(</a:t>
            </a:r>
            <a:r>
              <a:rPr lang="ko-KR" altLang="en-US" sz="1200" dirty="0"/>
              <a:t>이 프로젝트에서 </a:t>
            </a:r>
            <a:r>
              <a:rPr lang="ko-KR" altLang="en-US" sz="1200" dirty="0" err="1"/>
              <a:t>격자판</a:t>
            </a:r>
            <a:r>
              <a:rPr lang="ko-KR" altLang="en-US" sz="1200" dirty="0"/>
              <a:t> 하나를 </a:t>
            </a:r>
            <a:r>
              <a:rPr lang="en-US" altLang="ko-KR" sz="1200" dirty="0"/>
              <a:t>Cluster</a:t>
            </a:r>
            <a:r>
              <a:rPr lang="ko-KR" altLang="en-US" sz="1200" dirty="0"/>
              <a:t>라고 부르며</a:t>
            </a:r>
            <a:r>
              <a:rPr lang="en-US" altLang="ko-KR" sz="1200" dirty="0"/>
              <a:t>,</a:t>
            </a:r>
            <a:r>
              <a:rPr lang="ko-KR" altLang="en-US" sz="1200" dirty="0"/>
              <a:t> </a:t>
            </a:r>
            <a:r>
              <a:rPr lang="en-US" altLang="ko-KR" sz="1200" dirty="0"/>
              <a:t>Cluster [ x</a:t>
            </a:r>
            <a:r>
              <a:rPr lang="ko-KR" altLang="en-US" sz="1200" dirty="0"/>
              <a:t> </a:t>
            </a:r>
            <a:r>
              <a:rPr lang="en-US" altLang="ko-KR" sz="1200" dirty="0"/>
              <a:t>/ </a:t>
            </a:r>
            <a:r>
              <a:rPr lang="en-US" altLang="ko-KR" sz="1200" dirty="0" err="1"/>
              <a:t>cluster_x_scale</a:t>
            </a:r>
            <a:r>
              <a:rPr lang="en-US" altLang="ko-KR" sz="1200" dirty="0"/>
              <a:t> ][ z / </a:t>
            </a:r>
            <a:r>
              <a:rPr lang="en-US" altLang="ko-KR" sz="1200" dirty="0" err="1"/>
              <a:t>cluster_z_scale</a:t>
            </a:r>
            <a:r>
              <a:rPr lang="en-US" altLang="ko-KR" sz="1200" dirty="0"/>
              <a:t> ]</a:t>
            </a:r>
            <a:r>
              <a:rPr lang="ko-KR" altLang="en-US" sz="1200" dirty="0"/>
              <a:t>와 같은 방식으로 자신이 속한 </a:t>
            </a:r>
            <a:r>
              <a:rPr lang="en-US" altLang="ko-KR" sz="1200" dirty="0"/>
              <a:t>Cluster</a:t>
            </a:r>
            <a:r>
              <a:rPr lang="ko-KR" altLang="en-US" sz="1200" dirty="0"/>
              <a:t>에 접근할 수 있도록 하였다</a:t>
            </a:r>
            <a:r>
              <a:rPr lang="en-US" altLang="ko-KR" sz="1200" dirty="0"/>
              <a:t>.)</a:t>
            </a:r>
          </a:p>
          <a:p>
            <a:pPr marL="0" indent="0">
              <a:buNone/>
            </a:pPr>
            <a:endParaRPr lang="ko-KR" altLang="en-US" sz="1200" dirty="0"/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001297D4-FA82-625C-4406-DBADA7E5E622}"/>
              </a:ext>
            </a:extLst>
          </p:cNvPr>
          <p:cNvSpPr txBox="1">
            <a:spLocks/>
          </p:cNvSpPr>
          <p:nvPr/>
        </p:nvSpPr>
        <p:spPr>
          <a:xfrm>
            <a:off x="299213" y="203175"/>
            <a:ext cx="9071640" cy="249299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1800" dirty="0"/>
              <a:t>4.3 </a:t>
            </a:r>
            <a:r>
              <a:rPr lang="ko-KR" altLang="en-US" sz="1800" dirty="0"/>
              <a:t>졸작 </a:t>
            </a:r>
            <a:r>
              <a:rPr lang="en-US" altLang="ko-KR" sz="1800" dirty="0"/>
              <a:t>– </a:t>
            </a:r>
            <a:r>
              <a:rPr lang="ko-KR" altLang="en-US" sz="1800" dirty="0"/>
              <a:t>성능 향상을 위한 노력</a:t>
            </a:r>
          </a:p>
        </p:txBody>
      </p:sp>
    </p:spTree>
    <p:extLst>
      <p:ext uri="{BB962C8B-B14F-4D97-AF65-F5344CB8AC3E}">
        <p14:creationId xmlns:p14="http://schemas.microsoft.com/office/powerpoint/2010/main" val="256094726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BBC2053-E488-0137-A76A-AFF10E117D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9213" y="568672"/>
            <a:ext cx="9071640" cy="221599"/>
          </a:xfrm>
        </p:spPr>
        <p:txBody>
          <a:bodyPr/>
          <a:lstStyle/>
          <a:p>
            <a:r>
              <a:rPr lang="en-US" altLang="ko-KR" sz="1600" dirty="0"/>
              <a:t>- </a:t>
            </a:r>
            <a:r>
              <a:rPr lang="ko-KR" altLang="en-US" sz="1600" dirty="0"/>
              <a:t>공간분할 로직이 적용된 서버의 반응속도가 압도적으로 빠르다</a:t>
            </a:r>
            <a:r>
              <a:rPr lang="en-US" altLang="ko-KR" sz="1600" dirty="0"/>
              <a:t>.</a:t>
            </a:r>
            <a:endParaRPr lang="ko-KR" altLang="en-US" sz="1600" dirty="0"/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633F73E5-EA60-D153-6C52-7EA712B35A6F}"/>
              </a:ext>
            </a:extLst>
          </p:cNvPr>
          <p:cNvSpPr txBox="1">
            <a:spLocks/>
          </p:cNvSpPr>
          <p:nvPr/>
        </p:nvSpPr>
        <p:spPr>
          <a:xfrm>
            <a:off x="299213" y="150787"/>
            <a:ext cx="9071640" cy="249299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1800" dirty="0"/>
              <a:t>4.3 </a:t>
            </a:r>
            <a:r>
              <a:rPr lang="ko-KR" altLang="en-US" sz="1800" dirty="0"/>
              <a:t>졸작 </a:t>
            </a:r>
            <a:r>
              <a:rPr lang="en-US" altLang="ko-KR" sz="1800" dirty="0"/>
              <a:t>– </a:t>
            </a:r>
            <a:r>
              <a:rPr lang="ko-KR" altLang="en-US" sz="1800" dirty="0"/>
              <a:t>성능 향상을 위한 노력</a:t>
            </a:r>
          </a:p>
        </p:txBody>
      </p:sp>
    </p:spTree>
    <p:extLst>
      <p:ext uri="{BB962C8B-B14F-4D97-AF65-F5344CB8AC3E}">
        <p14:creationId xmlns:p14="http://schemas.microsoft.com/office/powerpoint/2010/main" val="172954249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282F2B9-6051-9998-F4F4-3DED651EB0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9213" y="558644"/>
            <a:ext cx="9071640" cy="609398"/>
          </a:xfrm>
        </p:spPr>
        <p:txBody>
          <a:bodyPr/>
          <a:lstStyle/>
          <a:p>
            <a:r>
              <a:rPr lang="en-US" altLang="ko-KR" dirty="0"/>
              <a:t>6. view list + vector hash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5D563F3-3A85-8524-D4C3-162CA9591D87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299213" y="1274212"/>
            <a:ext cx="9071640" cy="2626276"/>
          </a:xfrm>
        </p:spPr>
        <p:txBody>
          <a:bodyPr>
            <a:normAutofit/>
          </a:bodyPr>
          <a:lstStyle/>
          <a:p>
            <a:pPr>
              <a:buFontTx/>
              <a:buChar char="-"/>
            </a:pPr>
            <a:r>
              <a:rPr lang="ko-KR" altLang="en-US" sz="1600" dirty="0"/>
              <a:t>나는 이걸 왜 하였는가</a:t>
            </a:r>
            <a:r>
              <a:rPr lang="en-US" altLang="ko-KR" sz="1600" dirty="0"/>
              <a:t>?:</a:t>
            </a:r>
          </a:p>
          <a:p>
            <a:pPr marL="0" indent="0">
              <a:buNone/>
            </a:pPr>
            <a:r>
              <a:rPr lang="ko-KR" altLang="en-US" sz="1600" dirty="0"/>
              <a:t>성능을 위해 </a:t>
            </a:r>
            <a:r>
              <a:rPr lang="en-US" altLang="ko-KR" sz="1600" dirty="0"/>
              <a:t>Concurrency Visualizer</a:t>
            </a:r>
            <a:r>
              <a:rPr lang="ko-KR" altLang="en-US" sz="1600" dirty="0"/>
              <a:t>로 프로파일링 해본 결과 </a:t>
            </a:r>
            <a:r>
              <a:rPr lang="en-US" altLang="ko-KR" sz="1600" dirty="0"/>
              <a:t>Move</a:t>
            </a:r>
            <a:r>
              <a:rPr lang="ko-KR" altLang="en-US" sz="1600" dirty="0"/>
              <a:t>패킷 전달 시 발생하는 </a:t>
            </a:r>
            <a:r>
              <a:rPr lang="en-US" altLang="ko-KR" sz="1600" dirty="0" err="1"/>
              <a:t>WSASend</a:t>
            </a:r>
            <a:r>
              <a:rPr lang="ko-KR" altLang="en-US" sz="1600" dirty="0"/>
              <a:t>의 오버헤드가 가장 문제라고 판단하였다</a:t>
            </a:r>
            <a:r>
              <a:rPr lang="en-US" altLang="ko-KR" sz="1600" dirty="0"/>
              <a:t>.</a:t>
            </a:r>
          </a:p>
          <a:p>
            <a:pPr marL="0" indent="0">
              <a:buNone/>
            </a:pPr>
            <a:r>
              <a:rPr lang="ko-KR" altLang="en-US" sz="1600" dirty="0"/>
              <a:t>하지만 </a:t>
            </a:r>
            <a:r>
              <a:rPr lang="en-US" altLang="ko-KR" sz="1600" dirty="0" err="1"/>
              <a:t>WSASend</a:t>
            </a:r>
            <a:r>
              <a:rPr lang="ko-KR" altLang="en-US" sz="1600" dirty="0"/>
              <a:t>함수는 내부 구현에 접근할 수 없어서 직접 최적화를 시도하는 것은 불가능하였다</a:t>
            </a:r>
            <a:r>
              <a:rPr lang="en-US" altLang="ko-KR" sz="1600" dirty="0"/>
              <a:t>.</a:t>
            </a:r>
          </a:p>
          <a:p>
            <a:pPr marL="0" indent="0">
              <a:buNone/>
            </a:pPr>
            <a:r>
              <a:rPr lang="ko-KR" altLang="en-US" sz="1600" dirty="0"/>
              <a:t>따라서 </a:t>
            </a:r>
            <a:r>
              <a:rPr lang="en-US" altLang="ko-KR" sz="1600" dirty="0" err="1"/>
              <a:t>WSASend</a:t>
            </a:r>
            <a:r>
              <a:rPr lang="ko-KR" altLang="en-US" sz="1600" dirty="0"/>
              <a:t>의 호출 횟수를 줄이는 방향으로 접근하였고</a:t>
            </a:r>
            <a:endParaRPr lang="en-US" altLang="ko-KR" sz="1600" dirty="0"/>
          </a:p>
          <a:p>
            <a:pPr marL="0" indent="0">
              <a:buNone/>
            </a:pPr>
            <a:r>
              <a:rPr lang="ko-KR" altLang="en-US" sz="1600" dirty="0"/>
              <a:t>각 </a:t>
            </a:r>
            <a:r>
              <a:rPr lang="en-US" altLang="ko-KR" sz="1600" dirty="0"/>
              <a:t>Player</a:t>
            </a:r>
            <a:r>
              <a:rPr lang="ko-KR" altLang="en-US" sz="1600" dirty="0"/>
              <a:t>마다 자신의 시야에 존재하는 오브젝트들을 관리하는 자료구조를 두어 이 자료구조에 존재하는 오브젝트에 대해서만 </a:t>
            </a:r>
            <a:r>
              <a:rPr lang="en-US" altLang="ko-KR" sz="1600" dirty="0" err="1"/>
              <a:t>WSASend</a:t>
            </a:r>
            <a:r>
              <a:rPr lang="ko-KR" altLang="en-US" sz="1600" dirty="0"/>
              <a:t>를 호출하도록 하였다</a:t>
            </a:r>
            <a:r>
              <a:rPr lang="en-US" altLang="ko-KR" sz="1600" dirty="0"/>
              <a:t>.</a:t>
            </a:r>
          </a:p>
          <a:p>
            <a:pPr marL="0" indent="0">
              <a:buNone/>
            </a:pPr>
            <a:r>
              <a:rPr lang="ko-KR" altLang="en-US" sz="1600" dirty="0"/>
              <a:t>이 자료구조를 업데이트 할 때 순회와 검색이 둘 다 많이 발생하여 </a:t>
            </a:r>
            <a:r>
              <a:rPr lang="en-US" altLang="ko-KR" sz="1600" dirty="0"/>
              <a:t>std::vector</a:t>
            </a:r>
            <a:r>
              <a:rPr lang="ko-KR" altLang="en-US" sz="1600" dirty="0"/>
              <a:t>와 </a:t>
            </a:r>
            <a:r>
              <a:rPr lang="en-US" altLang="ko-KR" sz="1600" dirty="0"/>
              <a:t>std::</a:t>
            </a:r>
            <a:r>
              <a:rPr lang="en-US" altLang="ko-KR" sz="1600" dirty="0" err="1"/>
              <a:t>unordered_map</a:t>
            </a:r>
            <a:r>
              <a:rPr lang="ko-KR" altLang="en-US" sz="1600" dirty="0"/>
              <a:t>을 조합한 커스텀 자료구조를 직접 제작하였다</a:t>
            </a:r>
            <a:r>
              <a:rPr lang="en-US" altLang="ko-KR" sz="1600" dirty="0"/>
              <a:t>.</a:t>
            </a:r>
          </a:p>
          <a:p>
            <a:pPr marL="0" indent="0">
              <a:buNone/>
            </a:pPr>
            <a:endParaRPr lang="en-US" altLang="ko-KR" sz="1600" dirty="0"/>
          </a:p>
          <a:p>
            <a:pPr marL="0" indent="0">
              <a:buNone/>
            </a:pPr>
            <a:endParaRPr lang="ko-KR" altLang="en-US" sz="1600" dirty="0"/>
          </a:p>
        </p:txBody>
      </p:sp>
      <p:sp>
        <p:nvSpPr>
          <p:cNvPr id="5" name="제목 1">
            <a:extLst>
              <a:ext uri="{FF2B5EF4-FFF2-40B4-BE49-F238E27FC236}">
                <a16:creationId xmlns:a16="http://schemas.microsoft.com/office/drawing/2014/main" id="{236A5B1F-0A80-26FF-DC97-ED088FC82685}"/>
              </a:ext>
            </a:extLst>
          </p:cNvPr>
          <p:cNvSpPr txBox="1">
            <a:spLocks/>
          </p:cNvSpPr>
          <p:nvPr/>
        </p:nvSpPr>
        <p:spPr>
          <a:xfrm>
            <a:off x="299213" y="203175"/>
            <a:ext cx="9071640" cy="249299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1800" dirty="0"/>
              <a:t>4.3 </a:t>
            </a:r>
            <a:r>
              <a:rPr lang="ko-KR" altLang="en-US" sz="1800" dirty="0"/>
              <a:t>졸작 </a:t>
            </a:r>
            <a:r>
              <a:rPr lang="en-US" altLang="ko-KR" sz="1800" dirty="0"/>
              <a:t>– </a:t>
            </a:r>
            <a:r>
              <a:rPr lang="ko-KR" altLang="en-US" sz="1800" dirty="0"/>
              <a:t>성능 향상을 위한 노력</a:t>
            </a:r>
          </a:p>
        </p:txBody>
      </p:sp>
    </p:spTree>
    <p:extLst>
      <p:ext uri="{BB962C8B-B14F-4D97-AF65-F5344CB8AC3E}">
        <p14:creationId xmlns:p14="http://schemas.microsoft.com/office/powerpoint/2010/main" val="344320003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FD7A45D-E3B7-5537-58DF-494AA1909C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9213" y="894663"/>
            <a:ext cx="9071640" cy="609398"/>
          </a:xfrm>
        </p:spPr>
        <p:txBody>
          <a:bodyPr/>
          <a:lstStyle/>
          <a:p>
            <a:r>
              <a:rPr lang="en-US" altLang="ko-KR" dirty="0"/>
              <a:t>- Send </a:t>
            </a:r>
            <a:r>
              <a:rPr lang="ko-KR" altLang="en-US" dirty="0"/>
              <a:t>프로파일링 결과</a:t>
            </a:r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38747F84-6D0B-5A0A-D647-0E2BBEC5BF56}"/>
              </a:ext>
            </a:extLst>
          </p:cNvPr>
          <p:cNvSpPr txBox="1">
            <a:spLocks/>
          </p:cNvSpPr>
          <p:nvPr/>
        </p:nvSpPr>
        <p:spPr>
          <a:xfrm>
            <a:off x="299213" y="203175"/>
            <a:ext cx="9071640" cy="249299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1800" dirty="0"/>
              <a:t>4.3 </a:t>
            </a:r>
            <a:r>
              <a:rPr lang="ko-KR" altLang="en-US" sz="1800" dirty="0"/>
              <a:t>졸작 </a:t>
            </a:r>
            <a:r>
              <a:rPr lang="en-US" altLang="ko-KR" sz="1800" dirty="0"/>
              <a:t>– </a:t>
            </a:r>
            <a:r>
              <a:rPr lang="ko-KR" altLang="en-US" sz="1800" dirty="0"/>
              <a:t>성능 향상을 위한 노력</a:t>
            </a:r>
          </a:p>
        </p:txBody>
      </p:sp>
    </p:spTree>
    <p:extLst>
      <p:ext uri="{BB962C8B-B14F-4D97-AF65-F5344CB8AC3E}">
        <p14:creationId xmlns:p14="http://schemas.microsoft.com/office/powerpoint/2010/main" val="249387491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66AA8B5-A1E6-DE1C-FA9C-3068556A64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142" y="682875"/>
            <a:ext cx="9071640" cy="166199"/>
          </a:xfrm>
        </p:spPr>
        <p:txBody>
          <a:bodyPr/>
          <a:lstStyle/>
          <a:p>
            <a:r>
              <a:rPr lang="en-US" altLang="ko-KR" sz="1200" dirty="0"/>
              <a:t>- </a:t>
            </a:r>
            <a:r>
              <a:rPr lang="ko-KR" altLang="en-US" sz="1200" dirty="0"/>
              <a:t>시야리스트의 업데이트 방법</a:t>
            </a:r>
          </a:p>
        </p:txBody>
      </p:sp>
      <p:sp>
        <p:nvSpPr>
          <p:cNvPr id="5" name="제목 1">
            <a:extLst>
              <a:ext uri="{FF2B5EF4-FFF2-40B4-BE49-F238E27FC236}">
                <a16:creationId xmlns:a16="http://schemas.microsoft.com/office/drawing/2014/main" id="{F42BD652-C4E1-36E2-F53E-78F7D6546A0A}"/>
              </a:ext>
            </a:extLst>
          </p:cNvPr>
          <p:cNvSpPr txBox="1">
            <a:spLocks/>
          </p:cNvSpPr>
          <p:nvPr/>
        </p:nvSpPr>
        <p:spPr>
          <a:xfrm>
            <a:off x="299213" y="203175"/>
            <a:ext cx="9071640" cy="249299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1800" dirty="0"/>
              <a:t>4.3 </a:t>
            </a:r>
            <a:r>
              <a:rPr lang="ko-KR" altLang="en-US" sz="1800" dirty="0"/>
              <a:t>졸작 </a:t>
            </a:r>
            <a:r>
              <a:rPr lang="en-US" altLang="ko-KR" sz="1800" dirty="0"/>
              <a:t>– </a:t>
            </a:r>
            <a:r>
              <a:rPr lang="ko-KR" altLang="en-US" sz="1800" dirty="0"/>
              <a:t>성능 향상을 위한 노력</a:t>
            </a:r>
          </a:p>
        </p:txBody>
      </p:sp>
    </p:spTree>
    <p:extLst>
      <p:ext uri="{BB962C8B-B14F-4D97-AF65-F5344CB8AC3E}">
        <p14:creationId xmlns:p14="http://schemas.microsoft.com/office/powerpoint/2010/main" val="185883690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D87873-BB95-064E-FEBC-8B546955B2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4.4 </a:t>
            </a:r>
            <a:r>
              <a:rPr lang="ko-KR" altLang="en-US" dirty="0"/>
              <a:t>졸작 </a:t>
            </a:r>
            <a:r>
              <a:rPr lang="en-US" altLang="ko-KR" dirty="0"/>
              <a:t>- </a:t>
            </a:r>
            <a:r>
              <a:rPr lang="ko-KR" altLang="en-US" dirty="0"/>
              <a:t>결과물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AABEB2E-DD30-CAF5-85D7-E74C9D691174}"/>
              </a:ext>
            </a:extLst>
          </p:cNvPr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ko-KR" dirty="0"/>
              <a:t>- </a:t>
            </a:r>
            <a:r>
              <a:rPr lang="ko-KR" altLang="en-US" dirty="0" err="1"/>
              <a:t>동접자</a:t>
            </a:r>
            <a:r>
              <a:rPr lang="ko-KR" altLang="en-US" dirty="0"/>
              <a:t> 수 측정결과첨부</a:t>
            </a:r>
          </a:p>
        </p:txBody>
      </p:sp>
    </p:spTree>
    <p:extLst>
      <p:ext uri="{BB962C8B-B14F-4D97-AF65-F5344CB8AC3E}">
        <p14:creationId xmlns:p14="http://schemas.microsoft.com/office/powerpoint/2010/main" val="52060223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31810A9-DA1E-D573-8727-39EC842F94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- </a:t>
            </a:r>
            <a:r>
              <a:rPr lang="ko-KR" altLang="en-US" dirty="0"/>
              <a:t>서버구조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BF23ACD-7118-A754-05B8-194393123B1A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442087" y="2835275"/>
            <a:ext cx="9071640" cy="946440"/>
          </a:xfrm>
        </p:spPr>
        <p:txBody>
          <a:bodyPr/>
          <a:lstStyle/>
          <a:p>
            <a:r>
              <a:rPr lang="en-US" altLang="ko-KR" dirty="0"/>
              <a:t>Task</a:t>
            </a:r>
            <a:r>
              <a:rPr lang="ko-KR" altLang="en-US" dirty="0"/>
              <a:t> </a:t>
            </a:r>
            <a:r>
              <a:rPr lang="en-US" altLang="ko-KR" dirty="0"/>
              <a:t>+</a:t>
            </a:r>
            <a:r>
              <a:rPr lang="ko-KR" altLang="en-US" dirty="0"/>
              <a:t> </a:t>
            </a:r>
            <a:r>
              <a:rPr lang="en-US" altLang="ko-KR" dirty="0"/>
              <a:t>Lock</a:t>
            </a:r>
            <a:r>
              <a:rPr lang="ko-KR" altLang="en-US" dirty="0"/>
              <a:t> </a:t>
            </a:r>
            <a:r>
              <a:rPr lang="en-US" altLang="ko-KR" dirty="0"/>
              <a:t>Free</a:t>
            </a:r>
            <a:r>
              <a:rPr lang="ko-KR" altLang="en-US" dirty="0"/>
              <a:t> </a:t>
            </a:r>
            <a:r>
              <a:rPr lang="en-US" altLang="ko-KR" dirty="0"/>
              <a:t>Executor</a:t>
            </a:r>
          </a:p>
          <a:p>
            <a:pPr marL="0" indent="0">
              <a:buNone/>
            </a:pPr>
            <a:r>
              <a:rPr lang="en-US" altLang="ko-KR" dirty="0"/>
              <a:t>Task </a:t>
            </a:r>
            <a:r>
              <a:rPr lang="ko-KR" altLang="en-US" dirty="0"/>
              <a:t>코드 </a:t>
            </a:r>
            <a:r>
              <a:rPr lang="en-US" altLang="ko-KR" dirty="0"/>
              <a:t>+ </a:t>
            </a:r>
          </a:p>
          <a:p>
            <a:pPr marL="0" indent="0">
              <a:buNone/>
            </a:pPr>
            <a:r>
              <a:rPr lang="en-US" altLang="ko-KR" dirty="0"/>
              <a:t>Cluster Task </a:t>
            </a:r>
            <a:r>
              <a:rPr lang="ko-KR" altLang="en-US" dirty="0"/>
              <a:t>코드 </a:t>
            </a:r>
            <a:r>
              <a:rPr lang="en-US" altLang="ko-KR" dirty="0"/>
              <a:t>(</a:t>
            </a:r>
            <a:r>
              <a:rPr lang="ko-KR" altLang="en-US" dirty="0"/>
              <a:t>레퍼런스 카운터</a:t>
            </a:r>
            <a:r>
              <a:rPr lang="en-US" altLang="ko-KR" dirty="0"/>
              <a:t> </a:t>
            </a:r>
            <a:r>
              <a:rPr lang="ko-KR" altLang="en-US" dirty="0"/>
              <a:t>언급 </a:t>
            </a:r>
            <a:r>
              <a:rPr lang="en-US" altLang="ko-KR" dirty="0"/>
              <a:t>+ </a:t>
            </a:r>
            <a:r>
              <a:rPr lang="ko-KR" altLang="en-US" dirty="0" err="1"/>
              <a:t>수제작</a:t>
            </a:r>
            <a:r>
              <a:rPr lang="ko-KR" altLang="en-US" dirty="0"/>
              <a:t> </a:t>
            </a:r>
            <a:r>
              <a:rPr lang="ko-KR" altLang="en-US" dirty="0" err="1"/>
              <a:t>쉐어드</a:t>
            </a:r>
            <a:r>
              <a:rPr lang="ko-KR" altLang="en-US" dirty="0"/>
              <a:t> 포인터 </a:t>
            </a:r>
            <a:r>
              <a:rPr lang="en-US" altLang="ko-KR" dirty="0"/>
              <a:t>shared from this </a:t>
            </a:r>
            <a:r>
              <a:rPr lang="ko-KR" altLang="en-US" dirty="0"/>
              <a:t>성능비교</a:t>
            </a:r>
            <a:r>
              <a:rPr lang="en-US" altLang="ko-KR" dirty="0"/>
              <a:t>)</a:t>
            </a:r>
          </a:p>
          <a:p>
            <a:pPr marL="0" indent="0">
              <a:buNone/>
            </a:pPr>
            <a:r>
              <a:rPr lang="en-US" altLang="ko-KR" dirty="0"/>
              <a:t>vs std::function </a:t>
            </a:r>
          </a:p>
          <a:p>
            <a:pPr marL="0" indent="0">
              <a:buNone/>
            </a:pPr>
            <a:r>
              <a:rPr lang="en-US" altLang="ko-KR" dirty="0"/>
              <a:t>Lock Free Executor</a:t>
            </a:r>
            <a:r>
              <a:rPr lang="ko-KR" altLang="en-US" dirty="0"/>
              <a:t>를 위한 </a:t>
            </a:r>
            <a:r>
              <a:rPr lang="en-US" altLang="ko-KR" dirty="0"/>
              <a:t>MPSC </a:t>
            </a:r>
            <a:r>
              <a:rPr lang="ko-KR" altLang="en-US" dirty="0"/>
              <a:t>큐 </a:t>
            </a:r>
            <a:r>
              <a:rPr lang="en-US" altLang="ko-KR" dirty="0"/>
              <a:t>+ </a:t>
            </a:r>
            <a:r>
              <a:rPr lang="ko-KR" altLang="en-US" dirty="0"/>
              <a:t>그림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25087692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B588CE1-72C8-44B5-D11D-1B1B8CB109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- </a:t>
            </a:r>
            <a:r>
              <a:rPr lang="ko-KR" altLang="en-US" dirty="0"/>
              <a:t>서버구조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C359804-61C2-971F-A101-C42FAA1D67D6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313500" y="1388130"/>
            <a:ext cx="9071640" cy="946440"/>
          </a:xfrm>
        </p:spPr>
        <p:txBody>
          <a:bodyPr/>
          <a:lstStyle/>
          <a:p>
            <a:r>
              <a:rPr lang="en-US" altLang="ko-KR" dirty="0"/>
              <a:t>MPSC </a:t>
            </a:r>
            <a:r>
              <a:rPr lang="ko-KR" altLang="en-US" dirty="0"/>
              <a:t>큐 성능 비교 분석 </a:t>
            </a:r>
            <a:r>
              <a:rPr lang="en-US" altLang="ko-KR" dirty="0"/>
              <a:t>+ </a:t>
            </a:r>
            <a:r>
              <a:rPr lang="ko-KR" altLang="en-US" dirty="0" err="1"/>
              <a:t>동접측정</a:t>
            </a:r>
            <a:endParaRPr lang="en-US" altLang="ko-KR" dirty="0"/>
          </a:p>
          <a:p>
            <a:r>
              <a:rPr lang="en-US" altLang="ko-KR" dirty="0"/>
              <a:t>+ Session </a:t>
            </a:r>
            <a:r>
              <a:rPr lang="en-US" altLang="ko-KR" dirty="0" err="1"/>
              <a:t>recv</a:t>
            </a:r>
            <a:r>
              <a:rPr lang="en-US" altLang="ko-KR" dirty="0"/>
              <a:t> / send </a:t>
            </a:r>
            <a:r>
              <a:rPr lang="ko-KR" altLang="en-US" dirty="0"/>
              <a:t>구조</a:t>
            </a:r>
          </a:p>
        </p:txBody>
      </p:sp>
    </p:spTree>
    <p:extLst>
      <p:ext uri="{BB962C8B-B14F-4D97-AF65-F5344CB8AC3E}">
        <p14:creationId xmlns:p14="http://schemas.microsoft.com/office/powerpoint/2010/main" val="120507793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4203474-3E2E-50C7-15E1-B335EF40B8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졸작 </a:t>
            </a:r>
            <a:r>
              <a:rPr lang="en-US" altLang="ko-KR" dirty="0"/>
              <a:t>- </a:t>
            </a:r>
            <a:r>
              <a:rPr lang="ko-KR" altLang="en-US" dirty="0"/>
              <a:t>서버구조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9E0250D-2782-017E-8E50-B045401E77C0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546863" y="1226205"/>
            <a:ext cx="9071640" cy="946440"/>
          </a:xfrm>
        </p:spPr>
        <p:txBody>
          <a:bodyPr/>
          <a:lstStyle/>
          <a:p>
            <a:pPr marL="0" indent="0">
              <a:buNone/>
            </a:pPr>
            <a:r>
              <a:rPr lang="ko-KR" altLang="en-US" dirty="0"/>
              <a:t>클러스터 업데이트 큐를 이용한 그림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+ </a:t>
            </a:r>
            <a:r>
              <a:rPr lang="ko-KR" altLang="en-US" dirty="0" err="1"/>
              <a:t>동접</a:t>
            </a:r>
            <a:r>
              <a:rPr lang="ko-KR" altLang="en-US" dirty="0"/>
              <a:t> </a:t>
            </a:r>
            <a:r>
              <a:rPr lang="en-US" altLang="ko-KR" dirty="0"/>
              <a:t>9</a:t>
            </a:r>
            <a:r>
              <a:rPr lang="ko-KR" altLang="en-US" dirty="0"/>
              <a:t>천 짤 제시</a:t>
            </a:r>
          </a:p>
        </p:txBody>
      </p:sp>
    </p:spTree>
    <p:extLst>
      <p:ext uri="{BB962C8B-B14F-4D97-AF65-F5344CB8AC3E}">
        <p14:creationId xmlns:p14="http://schemas.microsoft.com/office/powerpoint/2010/main" val="322314951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2EAB5F-5E66-C504-E872-6E530EDFF2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4.3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기술요소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E554613-DC40-892F-F3B8-5432B9A1742C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504000" y="1230968"/>
            <a:ext cx="9071640" cy="946440"/>
          </a:xfrm>
        </p:spPr>
        <p:txBody>
          <a:bodyPr/>
          <a:lstStyle/>
          <a:p>
            <a:r>
              <a:rPr lang="ko-KR" altLang="en-US" dirty="0" err="1"/>
              <a:t>제로바이트</a:t>
            </a:r>
            <a:r>
              <a:rPr lang="ko-KR" altLang="en-US" dirty="0"/>
              <a:t> 리시브 </a:t>
            </a:r>
            <a:r>
              <a:rPr lang="en-US" altLang="ko-KR" dirty="0"/>
              <a:t>( vs before after , </a:t>
            </a:r>
            <a:r>
              <a:rPr lang="ko-KR" altLang="en-US" dirty="0" err="1"/>
              <a:t>콘커런시</a:t>
            </a:r>
            <a:r>
              <a:rPr lang="ko-KR" altLang="en-US" dirty="0"/>
              <a:t> </a:t>
            </a:r>
            <a:r>
              <a:rPr lang="ko-KR" altLang="en-US" dirty="0" err="1"/>
              <a:t>비주얼라이저</a:t>
            </a:r>
            <a:r>
              <a:rPr lang="en-US" altLang="ko-KR" dirty="0"/>
              <a:t>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5061231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7793B23-368E-1800-A97C-D417D26BD0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4.3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기술요소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5DAF0E3-6C85-1D58-326C-7D817B657B1A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584963" y="1003999"/>
            <a:ext cx="9071640" cy="946440"/>
          </a:xfrm>
        </p:spPr>
        <p:txBody>
          <a:bodyPr/>
          <a:lstStyle/>
          <a:p>
            <a:r>
              <a:rPr lang="ko-KR" altLang="en-US" dirty="0" err="1"/>
              <a:t>행동트리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2458055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306B8E9-AB07-B3E3-4732-4364D058CA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4.3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기술요소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4A5F4CD-E379-B449-ACEE-1F0E16DA1196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418275" y="1888835"/>
            <a:ext cx="9071640" cy="946440"/>
          </a:xfrm>
        </p:spPr>
        <p:txBody>
          <a:bodyPr/>
          <a:lstStyle/>
          <a:p>
            <a:r>
              <a:rPr lang="ko-KR" altLang="en-US" dirty="0" err="1"/>
              <a:t>보간을</a:t>
            </a:r>
            <a:r>
              <a:rPr lang="ko-KR" altLang="en-US" dirty="0"/>
              <a:t> 이용해 패킷 동기화 주기를 </a:t>
            </a:r>
            <a:r>
              <a:rPr lang="en-US" altLang="ko-KR" dirty="0"/>
              <a:t>0.5</a:t>
            </a:r>
            <a:r>
              <a:rPr lang="ko-KR" altLang="en-US" dirty="0"/>
              <a:t>초로</a:t>
            </a:r>
            <a:endParaRPr lang="en-US" altLang="ko-KR" dirty="0"/>
          </a:p>
          <a:p>
            <a:r>
              <a:rPr lang="ko-KR" altLang="en-US" dirty="0" err="1"/>
              <a:t>인던같은</a:t>
            </a:r>
            <a:r>
              <a:rPr lang="ko-KR" altLang="en-US" dirty="0"/>
              <a:t> 곳은 </a:t>
            </a:r>
            <a:r>
              <a:rPr lang="en-US" altLang="ko-KR" dirty="0"/>
              <a:t>0.1</a:t>
            </a:r>
            <a:r>
              <a:rPr lang="ko-KR" altLang="en-US" dirty="0"/>
              <a:t>초로 유동적으로 조절 가능</a:t>
            </a:r>
          </a:p>
        </p:txBody>
      </p:sp>
    </p:spTree>
    <p:extLst>
      <p:ext uri="{BB962C8B-B14F-4D97-AF65-F5344CB8AC3E}">
        <p14:creationId xmlns:p14="http://schemas.microsoft.com/office/powerpoint/2010/main" val="222089922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A66AC24-CD5F-AAFB-6D78-00BA991169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4.3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기술요소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AB83B4A-F2F0-A5A2-9D32-2DA8727152D8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504000" y="1003999"/>
            <a:ext cx="9071640" cy="946440"/>
          </a:xfrm>
        </p:spPr>
        <p:txBody>
          <a:bodyPr/>
          <a:lstStyle/>
          <a:p>
            <a:r>
              <a:rPr lang="en-US" altLang="ko-KR" dirty="0"/>
              <a:t>Cluster </a:t>
            </a:r>
            <a:r>
              <a:rPr lang="ko-KR" altLang="en-US" dirty="0"/>
              <a:t>공간분할 </a:t>
            </a:r>
            <a:r>
              <a:rPr lang="en-US" altLang="ko-KR" dirty="0"/>
              <a:t>vs </a:t>
            </a:r>
            <a:r>
              <a:rPr lang="ko-KR" altLang="en-US" dirty="0" err="1"/>
              <a:t>안한거</a:t>
            </a:r>
            <a:r>
              <a:rPr lang="ko-KR" altLang="en-US" dirty="0"/>
              <a:t> 성능비교분석</a:t>
            </a:r>
          </a:p>
        </p:txBody>
      </p:sp>
    </p:spTree>
    <p:extLst>
      <p:ext uri="{BB962C8B-B14F-4D97-AF65-F5344CB8AC3E}">
        <p14:creationId xmlns:p14="http://schemas.microsoft.com/office/powerpoint/2010/main" val="243473814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F7751A6-21E4-DCA8-1649-A6670C167C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4.3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기술요소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1D58851-0B3B-4980-0188-3CE23EBDD974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504000" y="1116667"/>
            <a:ext cx="9071640" cy="946440"/>
          </a:xfrm>
        </p:spPr>
        <p:txBody>
          <a:bodyPr/>
          <a:lstStyle/>
          <a:p>
            <a:r>
              <a:rPr lang="en-US" altLang="ko-KR" dirty="0"/>
              <a:t>ECS </a:t>
            </a:r>
            <a:r>
              <a:rPr lang="ko-KR" altLang="en-US" dirty="0"/>
              <a:t>구조 및 컴파일타임 해시함수</a:t>
            </a:r>
          </a:p>
        </p:txBody>
      </p:sp>
    </p:spTree>
    <p:extLst>
      <p:ext uri="{BB962C8B-B14F-4D97-AF65-F5344CB8AC3E}">
        <p14:creationId xmlns:p14="http://schemas.microsoft.com/office/powerpoint/2010/main" val="336034207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030B946-D85D-BE2F-9C5B-712A9A53E7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0" y="394601"/>
            <a:ext cx="9071640" cy="609398"/>
          </a:xfrm>
        </p:spPr>
        <p:txBody>
          <a:bodyPr/>
          <a:lstStyle/>
          <a:p>
            <a:r>
              <a:rPr lang="en-US" altLang="ko-KR" dirty="0"/>
              <a:t>4.3 </a:t>
            </a:r>
            <a:r>
              <a:rPr lang="ko-KR" altLang="en-US" dirty="0"/>
              <a:t>졸작 </a:t>
            </a:r>
            <a:r>
              <a:rPr lang="en-US" altLang="ko-KR" dirty="0"/>
              <a:t>– </a:t>
            </a:r>
            <a:r>
              <a:rPr lang="ko-KR" altLang="en-US" dirty="0"/>
              <a:t>기술요소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D8B9B70-7439-D368-1591-50C012E5E336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589725" y="1673880"/>
            <a:ext cx="9071640" cy="946440"/>
          </a:xfrm>
        </p:spPr>
        <p:txBody>
          <a:bodyPr/>
          <a:lstStyle/>
          <a:p>
            <a:pPr marL="0" indent="0">
              <a:buNone/>
            </a:pPr>
            <a:r>
              <a:rPr lang="en-US" altLang="ko-KR" dirty="0"/>
              <a:t>Vector</a:t>
            </a:r>
            <a:r>
              <a:rPr lang="ko-KR" altLang="en-US" dirty="0"/>
              <a:t>의 선형탐색 성능 </a:t>
            </a:r>
            <a:r>
              <a:rPr lang="en-US" altLang="ko-KR" dirty="0"/>
              <a:t>+ </a:t>
            </a:r>
            <a:r>
              <a:rPr lang="en-US" altLang="ko-KR" dirty="0" err="1"/>
              <a:t>unordered_map</a:t>
            </a:r>
            <a:r>
              <a:rPr lang="ko-KR" altLang="en-US" dirty="0"/>
              <a:t>의 검색성능을 위한 커스텀 자료구조 성능비교</a:t>
            </a:r>
          </a:p>
        </p:txBody>
      </p:sp>
    </p:spTree>
    <p:extLst>
      <p:ext uri="{BB962C8B-B14F-4D97-AF65-F5344CB8AC3E}">
        <p14:creationId xmlns:p14="http://schemas.microsoft.com/office/powerpoint/2010/main" val="13086085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1837</TotalTime>
  <Words>5013</Words>
  <Application>Microsoft Office PowerPoint</Application>
  <PresentationFormat>사용자 지정</PresentationFormat>
  <Paragraphs>383</Paragraphs>
  <Slides>56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56</vt:i4>
      </vt:variant>
    </vt:vector>
  </HeadingPairs>
  <TitlesOfParts>
    <vt:vector size="62" baseType="lpstr">
      <vt:lpstr>굴림</vt:lpstr>
      <vt:lpstr>바탕</vt:lpstr>
      <vt:lpstr>Arial</vt:lpstr>
      <vt:lpstr>Symbol</vt:lpstr>
      <vt:lpstr>Wingdings</vt:lpstr>
      <vt:lpstr>Office Theme</vt:lpstr>
      <vt:lpstr>PowerPoint 프레젠테이션</vt:lpstr>
      <vt:lpstr>PowerPoint 프레젠테이션</vt:lpstr>
      <vt:lpstr>PowerPoint 프레젠테이션</vt:lpstr>
      <vt:lpstr>4.1 졸작 - 소개</vt:lpstr>
      <vt:lpstr>4.2 졸작 – 서버구조 개요</vt:lpstr>
      <vt:lpstr>4.2 졸작 - 서버구조</vt:lpstr>
      <vt:lpstr>4.2 졸작 – 서버구조(TLS + Cluster Update Queue)</vt:lpstr>
      <vt:lpstr>4.2 졸작 - 서버구조 (TLS + Cluster Update Queue)</vt:lpstr>
      <vt:lpstr>4.2 졸작 - 서버구조 (TLS + Cluster Update Queue)</vt:lpstr>
      <vt:lpstr>4.2 졸작 - 서버구조 (TLS + Cluster Update Queue)</vt:lpstr>
      <vt:lpstr>4.2 졸작 - 서버구조 (TLS + Cluster Update Queue)</vt:lpstr>
      <vt:lpstr>4.2 졸작 - 서버구조 (TLS + Cluster Update Queue)</vt:lpstr>
      <vt:lpstr>4.2 졸작 - 서버구조 (TLS + Cluster Update Queue)</vt:lpstr>
      <vt:lpstr>4.2 졸작 - 서버구조 (Lock Free Executor)</vt:lpstr>
      <vt:lpstr>4.2 졸작 - 서버구조 (Lock Free Executor)</vt:lpstr>
      <vt:lpstr>4.2 졸작 - 서버구조 (Lock Free Executor)</vt:lpstr>
      <vt:lpstr>4.2 졸작 - 서버구조 (Lock Free Executor)</vt:lpstr>
      <vt:lpstr>4.2 졸작 - 서버구조 (Lock Free Executor)</vt:lpstr>
      <vt:lpstr>4.2 졸작 - 서버구조 (Lock Free Executor)</vt:lpstr>
      <vt:lpstr>4.2 졸작 – 서버구조 (Lock Free Executor)</vt:lpstr>
      <vt:lpstr>4.2 졸작 – 서버구조 (컴포넌트 패턴)</vt:lpstr>
      <vt:lpstr>4.2 졸작 – 서버구조 (컴포넌트 패턴)</vt:lpstr>
      <vt:lpstr>4.2 졸작 – 서버구조 (컴포넌트 패턴)</vt:lpstr>
      <vt:lpstr>4.2 졸작 – 서버구조 (컴포넌트 패턴)</vt:lpstr>
      <vt:lpstr>4.2 졸작 – 서버구조 (컴포넌트 패턴)</vt:lpstr>
      <vt:lpstr>4.2 졸작 – 서버구조 (컴포넌트 패턴)</vt:lpstr>
      <vt:lpstr>4.2 졸작 – 서버구조 (패킷 핸들링)</vt:lpstr>
      <vt:lpstr>4.2 졸작 – 서버구조 (패킷 핸들링)</vt:lpstr>
      <vt:lpstr>4.2 졸작 – 서버구조 (패킷 핸들링)</vt:lpstr>
      <vt:lpstr>4.2 졸작 – 서버구조 (패킷 핸들링)</vt:lpstr>
      <vt:lpstr>4.2 졸작 – 서버구조 (패킷 핸들링)</vt:lpstr>
      <vt:lpstr>4.3 졸작 – 성능 향상을 위한 노력</vt:lpstr>
      <vt:lpstr>4.3 졸작 – 성능 향상을 위한 노력</vt:lpstr>
      <vt:lpstr>4.3 졸작 – 성능 향상을 위한 노력</vt:lpstr>
      <vt:lpstr>2. MPSQ 큐 (Multi Producer Single Consumer 큐)</vt:lpstr>
      <vt:lpstr>- tbb 큐 구현 vs MPSC 큐 구현</vt:lpstr>
      <vt:lpstr>- tbb 큐 성능 vs MPSC 큐 성능</vt:lpstr>
      <vt:lpstr>3. Custom shared_ptr 제작</vt:lpstr>
      <vt:lpstr>PowerPoint 프레젠테이션</vt:lpstr>
      <vt:lpstr>- Custom shared_ptr 제작으로 얻는 것: 1. 표준 shared_ptr에 비해 훨씬 더 적은 메모리로 구현 가능 2. 객체의 수명 보장을 위해 불필요한 shared_ptr의 복사가 여러 번 발생 하는 것을 한번에 레퍼런스 카운터를 1보다 더 큰 값을 증가시키는 것으로 대체 가능 3. 자기 자신에 대한 shared_ptr 생성(shared_from_this)에 발생했던 오버헤드를 크게 감소  </vt:lpstr>
      <vt:lpstr>4. Task vs std::function</vt:lpstr>
      <vt:lpstr>5. Cluster 공간분할</vt:lpstr>
      <vt:lpstr>- 공간분할 로직이 적용된 서버의 반응속도가 압도적으로 빠르다.</vt:lpstr>
      <vt:lpstr>6. view list + vector hash</vt:lpstr>
      <vt:lpstr>- Send 프로파일링 결과</vt:lpstr>
      <vt:lpstr>- 시야리스트의 업데이트 방법</vt:lpstr>
      <vt:lpstr>4.4 졸작 - 결과물</vt:lpstr>
      <vt:lpstr>4.2 졸작 - 서버구조</vt:lpstr>
      <vt:lpstr>4.2 졸작 - 서버구조</vt:lpstr>
      <vt:lpstr>4.2 졸작 - 서버구조</vt:lpstr>
      <vt:lpstr>4.3 졸작 – 기술요소</vt:lpstr>
      <vt:lpstr>4.3 졸작 – 기술요소</vt:lpstr>
      <vt:lpstr>4.3 졸작 – 기술요소</vt:lpstr>
      <vt:lpstr>4.3 졸작 – 기술요소</vt:lpstr>
      <vt:lpstr>4.3 졸작 – 기술요소</vt:lpstr>
      <vt:lpstr>4.3 졸작 – 기술요소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dc:description/>
  <cp:lastModifiedBy>최재혁 최재혁</cp:lastModifiedBy>
  <cp:revision>916</cp:revision>
  <dcterms:created xsi:type="dcterms:W3CDTF">2025-08-16T11:18:25Z</dcterms:created>
  <dcterms:modified xsi:type="dcterms:W3CDTF">2025-09-11T04:42:01Z</dcterms:modified>
  <dc:language>ko-KR</dc:language>
</cp:coreProperties>
</file>