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7" r:id="rId44"/>
    <p:sldId id="309" r:id="rId45"/>
    <p:sldId id="312" r:id="rId46"/>
    <p:sldId id="313" r:id="rId47"/>
    <p:sldId id="320" r:id="rId48"/>
    <p:sldId id="314" r:id="rId49"/>
    <p:sldId id="316" r:id="rId50"/>
    <p:sldId id="315" r:id="rId51"/>
    <p:sldId id="317" r:id="rId52"/>
    <p:sldId id="318" r:id="rId53"/>
    <p:sldId id="319" r:id="rId54"/>
    <p:sldId id="321" r:id="rId55"/>
    <p:sldId id="311" r:id="rId56"/>
    <p:sldId id="262" r:id="rId57"/>
    <p:sldId id="263" r:id="rId58"/>
    <p:sldId id="264" r:id="rId59"/>
    <p:sldId id="266" r:id="rId60"/>
    <p:sldId id="267" r:id="rId61"/>
    <p:sldId id="268" r:id="rId62"/>
    <p:sldId id="269" r:id="rId63"/>
    <p:sldId id="271" r:id="rId64"/>
    <p:sldId id="272" r:id="rId65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82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YUXPkwEod1Q" TargetMode="External"/><Relationship Id="rId2" Type="http://schemas.openxmlformats.org/officeDocument/2006/relationships/hyperlink" Target="https://github.com/hypernagox/FYP_Evergreen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3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5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jpg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jpg"/><Relationship Id="rId4" Type="http://schemas.openxmlformats.org/officeDocument/2006/relationships/image" Target="../media/image51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7" Type="http://schemas.openxmlformats.org/officeDocument/2006/relationships/image" Target="../media/image58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7.jpg"/><Relationship Id="rId5" Type="http://schemas.openxmlformats.org/officeDocument/2006/relationships/image" Target="../media/image56.jpg"/><Relationship Id="rId4" Type="http://schemas.openxmlformats.org/officeDocument/2006/relationships/image" Target="../media/image55.jp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2.jpg"/><Relationship Id="rId4" Type="http://schemas.openxmlformats.org/officeDocument/2006/relationships/image" Target="../media/image61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0.jpg"/><Relationship Id="rId5" Type="http://schemas.openxmlformats.org/officeDocument/2006/relationships/image" Target="../media/image69.jpg"/><Relationship Id="rId4" Type="http://schemas.openxmlformats.org/officeDocument/2006/relationships/image" Target="../media/image68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g"/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9.jpg"/><Relationship Id="rId5" Type="http://schemas.openxmlformats.org/officeDocument/2006/relationships/image" Target="../media/image78.jpg"/><Relationship Id="rId4" Type="http://schemas.openxmlformats.org/officeDocument/2006/relationships/image" Target="../media/image77.jp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40c647a121b80019b76c5ce137b0375?v=10fc4f4363444003ae3252645a791d0d&amp;source=copy_link" TargetMode="External"/><Relationship Id="rId2" Type="http://schemas.openxmlformats.org/officeDocument/2006/relationships/hyperlink" Target="https://github.com/hypernagox/NetworkGameProgramming-TermProject2024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hyperlink" Target="https://www.youtube.com/watch?v=fNS8UQee1eE" TargetMode="Externa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jp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g"/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lovely-nasturtium-c18.notion.site/147c647a121b80c2aa17f348888ef722?pvs=25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lovely-nasturtium-c18.notion.site/14cc647a121b80a6b676de48ace74437" TargetMode="External"/><Relationship Id="rId2" Type="http://schemas.openxmlformats.org/officeDocument/2006/relationships/hyperlink" Target="https://lovely-nasturtium-c18.notion.site/147c647a121b80c2aa17f348888ef722?pvs=25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lovely-nasturtium-c18.notion.site/14dc647a121b804f9785c0138bd66545?pvs=25" TargetMode="External"/><Relationship Id="rId4" Type="http://schemas.openxmlformats.org/officeDocument/2006/relationships/image" Target="../media/image8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lovely-nasturtium-c18.notion.site/14ec647a121b80a3b5eccf4a4073e93a" TargetMode="External"/><Relationship Id="rId4" Type="http://schemas.openxmlformats.org/officeDocument/2006/relationships/hyperlink" Target="https://lovely-nasturtium-c18.notion.site/14ec647a121b80df8c0dd7fd73d9b2f7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_183wB4UNio" TargetMode="External"/><Relationship Id="rId2" Type="http://schemas.openxmlformats.org/officeDocument/2006/relationships/hyperlink" Target="https://github.com/hypernagox/TermProjectGameFrameWork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hypernagox/TUKGameServerTermProject" TargetMode="Externa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1. </a:t>
            </a:r>
            <a:r>
              <a:rPr lang="en-US" sz="4400" b="0" strike="noStrike" spc="-1" dirty="0" err="1">
                <a:latin typeface="굴림"/>
              </a:rPr>
              <a:t>자기소개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들어갈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자리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신상정보</a:t>
            </a:r>
            <a:endParaRPr lang="en-US" sz="3200" b="0" strike="noStrike" spc="-1" dirty="0">
              <a:latin typeface="굴림"/>
            </a:endParaRPr>
          </a:p>
          <a:p>
            <a:pPr algn="ctr"/>
            <a:r>
              <a:rPr lang="en-US" sz="3200" b="0" strike="noStrike" spc="-1" dirty="0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 dirty="0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ko-KR" altLang="en-US" sz="1400" b="0" strike="noStrike" spc="-1" dirty="0">
                <a:latin typeface="굴림"/>
              </a:rPr>
              <a:t>서버구조</a:t>
            </a:r>
            <a:endParaRPr lang="en-US" altLang="ko-KR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0989459"/>
              </p:ext>
            </p:extLst>
          </p:nvPr>
        </p:nvGraphicFramePr>
        <p:xfrm>
          <a:off x="4400550" y="71348"/>
          <a:ext cx="5520592" cy="67513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14796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105796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Evergreen (</a:t>
                      </a:r>
                      <a:r>
                        <a:rPr lang="ko-KR" altLang="en-US" sz="1600" dirty="0" err="1"/>
                        <a:t>에버그린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21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253045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1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1100" dirty="0"/>
                        <a:t>   컴포넌트 패턴 기반의 서버프레임 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파티 퀘스트 컨텐츠 및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제작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클라이언트 사이드에서 다른 유저의 위치 정보 보간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클라이언트 사이드에서 서버로부터 전달되는 유저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몬스터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각종 컨텐츠 정보를 동기화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100" dirty="0" err="1"/>
                        <a:t>FlatBuffers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라이브러리를 이용한 프로토콜 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패킷 정의 및 자동화 툴 제작</a:t>
                      </a:r>
                      <a:endParaRPr lang="en-US" altLang="ko-KR" sz="1100" dirty="0"/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1100" dirty="0"/>
                        <a:t>DB Query Server </a:t>
                      </a:r>
                      <a:r>
                        <a:rPr lang="ko-KR" altLang="en-US" sz="1100" dirty="0"/>
                        <a:t>제작 및 </a:t>
                      </a:r>
                      <a:r>
                        <a:rPr lang="en-US" altLang="ko-KR" sz="1100" dirty="0"/>
                        <a:t>DB</a:t>
                      </a:r>
                      <a:r>
                        <a:rPr lang="ko-KR" altLang="en-US" sz="1100" dirty="0"/>
                        <a:t>를 사용한 사용자 정보 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hlinkClick r:id="rId2"/>
                        </a:rPr>
                        <a:t>https://github.com/hypernagox/FYP_Evergreen</a:t>
                      </a:r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7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hlinkClick r:id="rId3"/>
                        </a:rPr>
                        <a:t>https://www.youtube.com/watch?v=YUXPkwEod1Q</a:t>
                      </a:r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0325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한국공학대전 </a:t>
                      </a:r>
                      <a:r>
                        <a:rPr lang="ko-KR" altLang="en-US" sz="1200" dirty="0" err="1"/>
                        <a:t>한국산업기술기획평가원</a:t>
                      </a:r>
                      <a:r>
                        <a:rPr lang="ko-KR" altLang="en-US" sz="1200" dirty="0"/>
                        <a:t> </a:t>
                      </a:r>
                      <a:r>
                        <a:rPr lang="ko-KR" altLang="en-US" sz="1200" dirty="0" err="1"/>
                        <a:t>원장상</a:t>
                      </a:r>
                      <a:r>
                        <a:rPr lang="ko-KR" altLang="en-US" sz="1200" dirty="0"/>
                        <a:t> 수상</a:t>
                      </a:r>
                      <a:endParaRPr lang="en-US" altLang="ko-KR" sz="12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한국공학대학교 게임공학과 최우수 졸업작품 선정</a:t>
                      </a:r>
                      <a:endParaRPr lang="en-US" altLang="ko-KR" sz="12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SW</a:t>
                      </a:r>
                      <a:r>
                        <a:rPr lang="ko-KR" altLang="en-US" sz="1200" dirty="0"/>
                        <a:t>중심대학 우수작품 경진대회 학교 대표 선정</a:t>
                      </a:r>
                      <a:endParaRPr lang="en-US" altLang="ko-KR" sz="1200" dirty="0"/>
                    </a:p>
                    <a:p>
                      <a:pPr latinLnBrk="1"/>
                      <a:r>
                        <a:rPr lang="ko-KR" altLang="en-US" sz="1200" dirty="0"/>
                        <a:t>한국공학대전 체육관 오프라인 전시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304A468A-B298-89A3-B938-2BF929D854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9950"/>
            <a:ext cx="4285881" cy="5291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모든 스레드가 전체 공간에 대한 자료구조를 복사해 가지고 있게 하고</a:t>
            </a:r>
            <a:r>
              <a:rPr lang="en-US" altLang="ko-KR" dirty="0"/>
              <a:t>,</a:t>
            </a:r>
            <a:r>
              <a:rPr lang="ko-KR" altLang="en-US" dirty="0"/>
              <a:t> 특정 공간에 이벤트 발생 시  큐를 이용하여 해당 사실을 모든 스레드에게 알리고 각자 자신의 복사된 자료구조에 해당 사실을 업데이트 하게 한다</a:t>
            </a:r>
            <a:r>
              <a:rPr lang="en-US" altLang="ko-KR" dirty="0"/>
              <a:t>. (</a:t>
            </a:r>
            <a:r>
              <a:rPr lang="ko-KR" altLang="en-US" dirty="0"/>
              <a:t>모든 복사된 자료구조는 같은 값을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 시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있다</a:t>
            </a:r>
            <a:r>
              <a:rPr lang="en-US" altLang="ko-KR" dirty="0"/>
              <a:t>. </a:t>
            </a:r>
            <a:r>
              <a:rPr lang="ko-KR" altLang="en-US" dirty="0"/>
              <a:t>따라서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 플레이어에게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감소하며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가능하다</a:t>
            </a:r>
            <a:r>
              <a:rPr lang="en-US" altLang="ko-KR" dirty="0"/>
              <a:t>. </a:t>
            </a:r>
            <a:r>
              <a:rPr lang="ko-KR" altLang="en-US" dirty="0"/>
              <a:t>그리고</a:t>
            </a:r>
            <a:r>
              <a:rPr lang="en-US" altLang="ko-KR" dirty="0"/>
              <a:t>,</a:t>
            </a:r>
            <a:r>
              <a:rPr lang="ko-KR" altLang="en-US" dirty="0"/>
              <a:t>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</a:t>
            </a:r>
            <a:r>
              <a:rPr lang="en-US" altLang="ko-KR" dirty="0"/>
              <a:t>Object ID</a:t>
            </a:r>
            <a:r>
              <a:rPr lang="ko-KR" altLang="en-US" dirty="0"/>
              <a:t>를 통한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 fontScale="92500"/>
          </a:bodyPr>
          <a:lstStyle/>
          <a:p>
            <a:pPr>
              <a:buFontTx/>
              <a:buChar char="-"/>
            </a:pPr>
            <a:r>
              <a:rPr lang="ko-KR" altLang="en-US" sz="1400" b="1" dirty="0"/>
              <a:t> 적용 전 </a:t>
            </a:r>
            <a:r>
              <a:rPr lang="en-US" altLang="ko-KR" sz="1400" dirty="0"/>
              <a:t>: </a:t>
            </a:r>
            <a:r>
              <a:rPr lang="ko-KR" altLang="en-US" sz="1400" dirty="0"/>
              <a:t>가장 많이 하는 작업 인데도 불구하고 매우 비효율적으로 했어야 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532701"/>
            <a:ext cx="9072562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한다</a:t>
            </a:r>
            <a:r>
              <a:rPr lang="en-US" altLang="ko-KR" sz="1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 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Lock-Free</a:t>
            </a:r>
            <a:r>
              <a:rPr lang="ko-KR" altLang="en-US" sz="1400" dirty="0"/>
              <a:t> 큐는 여러 곳에서 제작한 자료구조가 이미 존재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신경 쓰지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Lock-Free</a:t>
            </a:r>
            <a:r>
              <a:rPr lang="ko-KR" altLang="en-US" sz="1400" dirty="0"/>
              <a:t>큐는 찾아서 나오지 않았다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BEA9E6-602C-E029-AFFF-F89A0F9C7DC8}"/>
              </a:ext>
            </a:extLst>
          </p:cNvPr>
          <p:cNvSpPr txBox="1"/>
          <p:nvPr/>
        </p:nvSpPr>
        <p:spPr>
          <a:xfrm>
            <a:off x="6300787" y="3206413"/>
            <a:ext cx="3667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dynamic_cast</a:t>
            </a:r>
            <a:r>
              <a:rPr lang="ko-KR" altLang="en-US" dirty="0"/>
              <a:t>를 이용했다면 이렇게 컴포넌트 검색을 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03087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2549" y="895711"/>
            <a:ext cx="9071640" cy="1585551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 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또한</a:t>
            </a:r>
            <a:r>
              <a:rPr lang="en-US" altLang="ko-KR" sz="1300" dirty="0"/>
              <a:t> </a:t>
            </a:r>
            <a:r>
              <a:rPr lang="ko-KR" altLang="en-US" sz="1300" dirty="0"/>
              <a:t>비주얼 스튜디오 기준</a:t>
            </a:r>
            <a:r>
              <a:rPr lang="en-US" altLang="ko-KR" sz="1300" dirty="0"/>
              <a:t>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은 </a:t>
            </a:r>
            <a:r>
              <a:rPr lang="en-US" altLang="ko-KR" sz="1300" dirty="0"/>
              <a:t>64</a:t>
            </a:r>
            <a:r>
              <a:rPr lang="ko-KR" altLang="en-US" sz="1300" dirty="0"/>
              <a:t>바이트</a:t>
            </a:r>
            <a:r>
              <a:rPr lang="en-US" altLang="ko-KR" sz="1300" dirty="0"/>
              <a:t>, std::vector</a:t>
            </a:r>
            <a:r>
              <a:rPr lang="ko-KR" altLang="en-US" sz="1300" dirty="0"/>
              <a:t>는 </a:t>
            </a:r>
            <a:r>
              <a:rPr lang="en-US" altLang="ko-KR" sz="1300" dirty="0"/>
              <a:t>24</a:t>
            </a:r>
            <a:r>
              <a:rPr lang="ko-KR" altLang="en-US" sz="1300" dirty="0"/>
              <a:t>바이트이기 때문에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가 더 적은 용량을 차지하고 </a:t>
            </a:r>
            <a:r>
              <a:rPr lang="en-US" altLang="ko-KR" sz="1300" dirty="0"/>
              <a:t>std::map</a:t>
            </a:r>
            <a:r>
              <a:rPr lang="ko-KR" altLang="en-US" sz="1300" dirty="0"/>
              <a:t>은 </a:t>
            </a:r>
            <a:r>
              <a:rPr lang="en-US" altLang="ko-KR" sz="1300" dirty="0"/>
              <a:t>16</a:t>
            </a:r>
            <a:r>
              <a:rPr lang="ko-KR" altLang="en-US" sz="1300" dirty="0"/>
              <a:t>바이트이지만 </a:t>
            </a:r>
            <a:r>
              <a:rPr lang="en-US" altLang="ko-KR" sz="1300" dirty="0"/>
              <a:t>vector</a:t>
            </a:r>
            <a:r>
              <a:rPr lang="ko-KR" altLang="en-US" sz="1300" dirty="0"/>
              <a:t>는 메모리에서 연속적인 자료구조이기 때문에 더 좋은 캐시히트를</a:t>
            </a:r>
            <a:r>
              <a:rPr lang="en-US" altLang="ko-KR" sz="1300" dirty="0"/>
              <a:t> </a:t>
            </a:r>
            <a:r>
              <a:rPr lang="ko-KR" altLang="en-US" sz="1300" dirty="0"/>
              <a:t>기대할 수 있어서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를 사용하기로 결정하였다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95" y="1383445"/>
            <a:ext cx="7146193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358795" y="4127942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컨텐츠 부분에서 특정 패킷에 대응되는 이벤트들을 정의하고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배열에 </a:t>
            </a:r>
            <a:r>
              <a:rPr lang="ko-KR" altLang="en-US" sz="1400" dirty="0" err="1"/>
              <a:t>함수포인터로서</a:t>
            </a:r>
            <a:r>
              <a:rPr lang="ko-KR" altLang="en-US" sz="1400" dirty="0"/>
              <a:t> 등록한다</a:t>
            </a:r>
            <a:r>
              <a:rPr lang="en-US" altLang="ko-KR" sz="1400" dirty="0"/>
              <a:t>. 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해당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시작주소를 </a:t>
            </a:r>
            <a:r>
              <a:rPr lang="en-US" altLang="ko-KR" sz="1400" dirty="0"/>
              <a:t>Session</a:t>
            </a:r>
            <a:r>
              <a:rPr lang="ko-KR" altLang="en-US" sz="1400" dirty="0"/>
              <a:t>의 </a:t>
            </a:r>
            <a:r>
              <a:rPr lang="en-US" altLang="ko-KR" sz="1400" dirty="0"/>
              <a:t>static </a:t>
            </a:r>
            <a:r>
              <a:rPr lang="ko-KR" altLang="en-US" sz="1400" dirty="0"/>
              <a:t>멤버변수로서 가지고 있게 한다</a:t>
            </a:r>
            <a:r>
              <a:rPr lang="en-US" altLang="ko-KR" sz="1400" dirty="0"/>
              <a:t>.</a:t>
            </a:r>
          </a:p>
          <a:p>
            <a:pPr>
              <a:lnSpc>
                <a:spcPct val="270000"/>
              </a:lnSpc>
              <a:buAutoNum type="arabicPeriod"/>
            </a:pPr>
            <a:r>
              <a:rPr lang="ko-KR" altLang="en-US" sz="1400" dirty="0"/>
              <a:t>패킷은 해당 패킷을 핸들링 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인덱스와 이 패킷의 크기정보로 구성된 </a:t>
            </a:r>
            <a:r>
              <a:rPr lang="en-US" altLang="ko-KR" sz="1400" dirty="0" err="1"/>
              <a:t>PacketHeader</a:t>
            </a:r>
            <a:r>
              <a:rPr lang="en-US" altLang="ko-KR" sz="1400" dirty="0"/>
              <a:t> </a:t>
            </a:r>
            <a:r>
              <a:rPr lang="ko-KR" altLang="en-US" sz="1400" dirty="0"/>
              <a:t>구조체 그리고</a:t>
            </a:r>
            <a:r>
              <a:rPr lang="en-US" altLang="ko-KR" sz="1400" dirty="0"/>
              <a:t> </a:t>
            </a:r>
            <a:r>
              <a:rPr lang="en-US" altLang="ko-KR" sz="1400" dirty="0" err="1"/>
              <a:t>FlatBuffers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라이브러리를 이용한 패킷의 본체로 구성하였다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패킷 하나를 만들고 보낼 때 마다 </a:t>
            </a:r>
            <a:r>
              <a:rPr lang="en-US" altLang="ko-KR" sz="1400" dirty="0" err="1"/>
              <a:t>memcpy</a:t>
            </a:r>
            <a:r>
              <a:rPr lang="ko-KR" altLang="en-US" sz="1400" dirty="0"/>
              <a:t>로 복사하는 오버헤드를 피하기 위해 하나의 패킷을 </a:t>
            </a:r>
            <a:r>
              <a:rPr lang="en-US" altLang="ko-KR" sz="1400" dirty="0" err="1"/>
              <a:t>shared_ptr</a:t>
            </a:r>
            <a:r>
              <a:rPr lang="ko-KR" altLang="en-US" sz="1400" dirty="0"/>
              <a:t>로 할당하고 이 포인터를 주고받는 방식을 선택하였다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이렇게 만들어진 패킷이 </a:t>
            </a:r>
            <a:r>
              <a:rPr lang="en-US" altLang="ko-KR" sz="1400" dirty="0" err="1"/>
              <a:t>Recv</a:t>
            </a:r>
            <a:r>
              <a:rPr lang="ko-KR" altLang="en-US" sz="1400" dirty="0"/>
              <a:t>에서 도착했을 경우 </a:t>
            </a:r>
            <a:r>
              <a:rPr lang="en-US" altLang="ko-KR" sz="1400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5 - 1. </a:t>
            </a:r>
            <a:r>
              <a:rPr lang="ko-KR" altLang="en-US" sz="1400" dirty="0"/>
              <a:t>수신된 데이터의 크기가 적어도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를 파싱 할 수는 있는지를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5 - 2.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의 크기 이상이라면 데이터를 </a:t>
            </a:r>
            <a:r>
              <a:rPr lang="ko-KR" altLang="en-US" sz="1400" dirty="0" err="1"/>
              <a:t>수신받은</a:t>
            </a:r>
            <a:r>
              <a:rPr lang="ko-KR" altLang="en-US" sz="1400" dirty="0"/>
              <a:t> 버퍼의 시작주소를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로 재해석 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5 - 3.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이상인지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5 - 4.</a:t>
            </a:r>
            <a:r>
              <a:rPr lang="ko-KR" altLang="en-US" sz="1400" dirty="0"/>
              <a:t> 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이상이라면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인덱스를 참조하여 해당 </a:t>
            </a:r>
            <a:r>
              <a:rPr lang="ko-KR" altLang="en-US" sz="1400" dirty="0" err="1"/>
              <a:t>함수포인터에</a:t>
            </a:r>
            <a:r>
              <a:rPr lang="ko-KR" altLang="en-US" sz="1400" dirty="0"/>
              <a:t> 이 세션의 포인터와 패킷을 매개변수로 하여 호출한다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5 - 5. </a:t>
            </a:r>
            <a:r>
              <a:rPr lang="ko-KR" altLang="en-US" sz="1400" dirty="0"/>
              <a:t>등록된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내부에서 패킷에 유효하지 않은 값 </a:t>
            </a:r>
            <a:r>
              <a:rPr lang="en-US" altLang="ko-KR" sz="1400" dirty="0"/>
              <a:t>(</a:t>
            </a:r>
            <a:r>
              <a:rPr lang="ko-KR" altLang="en-US" sz="1400" dirty="0"/>
              <a:t>배열의 인덱스를 넘어가거나 갈 수 없는 지역의 좌표 등</a:t>
            </a:r>
            <a:r>
              <a:rPr lang="en-US" altLang="ko-KR" sz="1400" dirty="0"/>
              <a:t>…)</a:t>
            </a:r>
            <a:r>
              <a:rPr lang="ko-KR" altLang="en-US" sz="1400" dirty="0"/>
              <a:t>이 있다면 </a:t>
            </a:r>
            <a:r>
              <a:rPr lang="en-US" altLang="ko-KR" sz="1400" dirty="0"/>
              <a:t>false </a:t>
            </a:r>
            <a:r>
              <a:rPr lang="ko-KR" altLang="en-US" sz="1400" dirty="0"/>
              <a:t>값을 </a:t>
            </a:r>
            <a:r>
              <a:rPr lang="ko-KR" altLang="en-US" sz="1400" dirty="0" err="1"/>
              <a:t>리턴하여</a:t>
            </a:r>
            <a:r>
              <a:rPr lang="ko-KR" altLang="en-US" sz="1400" dirty="0"/>
              <a:t> 문제가 있음을 알린다</a:t>
            </a:r>
            <a:r>
              <a:rPr lang="en-US" altLang="ko-KR" sz="1400" dirty="0"/>
              <a:t>. (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사이즈와 핸들링 할 패킷의 사이즈가 같은 지의 여부도 확인한다</a:t>
            </a:r>
            <a:r>
              <a:rPr lang="en-US" altLang="ko-KR" sz="1400" dirty="0"/>
              <a:t>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6. </a:t>
            </a:r>
            <a:r>
              <a:rPr lang="ko-KR" altLang="en-US" sz="1400" dirty="0"/>
              <a:t>해당 패킷에 대한 이벤트를 처리 후 아직도 처리할 데이터가 남았다면 </a:t>
            </a:r>
            <a:r>
              <a:rPr lang="en-US" altLang="ko-KR" sz="1400" dirty="0"/>
              <a:t>1</a:t>
            </a:r>
            <a:r>
              <a:rPr lang="ko-KR" altLang="en-US" sz="1400" dirty="0"/>
              <a:t>로 돌아가 위의 과정을 반복한다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위의 방식은 클라이언트의 네트워크 관련 로직에도 거의 동일하게 적용하였다</a:t>
            </a:r>
            <a:r>
              <a:rPr lang="en-US" altLang="ko-KR" sz="1400" dirty="0"/>
              <a:t>.)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785611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lnSpc>
                <a:spcPct val="160000"/>
              </a:lnSpc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86749"/>
            <a:ext cx="37433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오버랩드</a:t>
            </a:r>
            <a:r>
              <a:rPr lang="ko-KR" altLang="en-US" dirty="0"/>
              <a:t> 구조체를 넘긴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682074"/>
            <a:ext cx="9071640" cy="1368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3269480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 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실제 패킷보다 크건 작건 다음 패킷 처리 시 문제 발생 </a:t>
            </a:r>
            <a:r>
              <a:rPr lang="en-US" altLang="ko-KR" sz="1200" dirty="0"/>
              <a:t>(</a:t>
            </a:r>
            <a:r>
              <a:rPr lang="ko-KR" altLang="en-US" sz="1200" dirty="0"/>
              <a:t>버퍼의 엉뚱한 주소를 가리키게 됨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같은 지 먼저 검증하도록 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D0FD656-6C9F-7044-DED6-BE00004C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2439987"/>
            <a:ext cx="2990850" cy="7905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BA15746-097D-A29F-7D14-02DF6DF7D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43089"/>
            <a:ext cx="7943850" cy="6858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A230A09-65C9-1C4D-E997-172A88B867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2" y="4245886"/>
            <a:ext cx="7642223" cy="121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7C6AF0-2C72-2D83-2A88-02E149C34654}"/>
              </a:ext>
            </a:extLst>
          </p:cNvPr>
          <p:cNvSpPr txBox="1"/>
          <p:nvPr/>
        </p:nvSpPr>
        <p:spPr>
          <a:xfrm>
            <a:off x="7705725" y="4813945"/>
            <a:ext cx="1750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라이브러리에서 지원하는 패킷 유효성 검사 함수를 사용하였다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2DF09-823D-445A-532B-204DD641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0FC4EA-121E-9AF9-5FF5-5C0260DF7A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7082"/>
            <a:ext cx="9071640" cy="3656386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1. 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ko-KR" altLang="en-US" dirty="0"/>
              <a:t> </a:t>
            </a:r>
          </a:p>
          <a:p>
            <a:pPr marL="0" indent="0">
              <a:buNone/>
            </a:pPr>
            <a:r>
              <a:rPr lang="en-US" altLang="ko-KR" dirty="0"/>
              <a:t>4. Task vs std::function</a:t>
            </a:r>
          </a:p>
          <a:p>
            <a:pPr marL="0" indent="0">
              <a:buNone/>
            </a:pPr>
            <a:r>
              <a:rPr lang="en-US" altLang="ko-KR" dirty="0"/>
              <a:t>5. Cluster </a:t>
            </a:r>
            <a:r>
              <a:rPr lang="ko-KR" altLang="en-US" dirty="0"/>
              <a:t>공간분할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6. view list (</a:t>
            </a:r>
            <a:r>
              <a:rPr lang="ko-KR" altLang="en-US" dirty="0"/>
              <a:t>시야처리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0174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AAE4B-A298-113E-439A-3B1C927C4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203175"/>
            <a:ext cx="9071640" cy="249299"/>
          </a:xfrm>
        </p:spPr>
        <p:txBody>
          <a:bodyPr/>
          <a:lstStyle/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9FA6-3407-CFB7-9B20-5DF17CAD84C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5388" y="559837"/>
            <a:ext cx="9071640" cy="2316713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sz="1200" dirty="0"/>
              <a:t>나는 이걸 왜 하였는가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 err="1"/>
              <a:t>오버랩드</a:t>
            </a:r>
            <a:r>
              <a:rPr lang="ko-KR" altLang="en-US" sz="1200" dirty="0"/>
              <a:t> 구조체를 넘긴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 호출</a:t>
            </a:r>
            <a:r>
              <a:rPr lang="en-US" altLang="ko-KR" sz="1200" dirty="0"/>
              <a:t>(</a:t>
            </a:r>
            <a:r>
              <a:rPr lang="ko-KR" altLang="en-US" sz="1200" dirty="0"/>
              <a:t>비동기 작업 요청</a:t>
            </a:r>
            <a:r>
              <a:rPr lang="en-US" altLang="ko-KR" sz="1200" dirty="0"/>
              <a:t>)</a:t>
            </a:r>
            <a:r>
              <a:rPr lang="ko-KR" altLang="en-US" sz="1200" dirty="0"/>
              <a:t>시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WSARecv</a:t>
            </a:r>
            <a:r>
              <a:rPr lang="en-US" altLang="ko-KR" sz="1200" dirty="0"/>
              <a:t> </a:t>
            </a:r>
            <a:r>
              <a:rPr lang="ko-KR" altLang="en-US" sz="1200" dirty="0"/>
              <a:t>호출 시 버퍼 사이즈를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 제공하면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걸지 않게 된다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0 </a:t>
            </a:r>
            <a:r>
              <a:rPr lang="ko-KR" altLang="en-US" sz="1200" dirty="0"/>
              <a:t>바이트의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의 비동기 작업 완료 시 곧 바로 제대로 된 버퍼 크기를 제공하여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를 이용하여 바로 데이터를 수신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200" dirty="0"/>
              <a:t>얻는 것</a:t>
            </a:r>
            <a:r>
              <a:rPr lang="en-US" altLang="ko-KR" sz="1200" dirty="0"/>
              <a:t>: </a:t>
            </a:r>
          </a:p>
          <a:p>
            <a:pPr marL="0" indent="0">
              <a:buNone/>
            </a:pPr>
            <a:r>
              <a:rPr lang="en-US" altLang="ko-KR" sz="1200" dirty="0"/>
              <a:t>      </a:t>
            </a:r>
            <a:r>
              <a:rPr lang="ko-KR" altLang="en-US" sz="1200" dirty="0"/>
              <a:t>아직 </a:t>
            </a:r>
            <a:r>
              <a:rPr lang="en-US" altLang="ko-KR" sz="1200" dirty="0" err="1"/>
              <a:t>Recv</a:t>
            </a:r>
            <a:r>
              <a:rPr lang="en-US" altLang="ko-KR" sz="1200" dirty="0"/>
              <a:t> </a:t>
            </a:r>
            <a:r>
              <a:rPr lang="ko-KR" altLang="en-US" sz="1200" dirty="0"/>
              <a:t>받은 게 없는 세션에 대해서 </a:t>
            </a:r>
            <a:r>
              <a:rPr lang="en-US" altLang="ko-KR" sz="1200" dirty="0"/>
              <a:t>non – paged pool</a:t>
            </a:r>
            <a:r>
              <a:rPr lang="ko-KR" altLang="en-US" sz="1200" dirty="0"/>
              <a:t>의 낭비 및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의 빈도 수를 줄일 수 있게 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1AB82DF-E959-CF74-7660-EA197A8D7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70" y="2919413"/>
            <a:ext cx="3846243" cy="109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15D4DFC-4475-1AD0-1665-034CDF2FE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249" y="2876550"/>
            <a:ext cx="4297679" cy="106743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A0FF1-0883-2E48-0217-AB24007278B6}"/>
              </a:ext>
            </a:extLst>
          </p:cNvPr>
          <p:cNvSpPr txBox="1"/>
          <p:nvPr/>
        </p:nvSpPr>
        <p:spPr>
          <a:xfrm>
            <a:off x="4233863" y="3204607"/>
            <a:ext cx="63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ㅡ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1932-29CC-447D-C9F0-9E53D349A5F4}"/>
              </a:ext>
            </a:extLst>
          </p:cNvPr>
          <p:cNvSpPr txBox="1"/>
          <p:nvPr/>
        </p:nvSpPr>
        <p:spPr>
          <a:xfrm>
            <a:off x="858345" y="4272042"/>
            <a:ext cx="770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비주얼 스튜디오의 </a:t>
            </a:r>
            <a:r>
              <a:rPr lang="en-US" altLang="ko-KR" dirty="0"/>
              <a:t>Concurrency Visualizer</a:t>
            </a:r>
            <a:r>
              <a:rPr lang="ko-KR" altLang="en-US" dirty="0"/>
              <a:t>를 이용해 프로파일링 한 결과 </a:t>
            </a:r>
            <a:r>
              <a:rPr lang="en-US" altLang="ko-KR" dirty="0" err="1"/>
              <a:t>Recv</a:t>
            </a:r>
            <a:r>
              <a:rPr lang="ko-KR" altLang="en-US" dirty="0"/>
              <a:t>의 오버헤드가 크게 감소함을 확인 할 수 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4962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C7DE0F-231A-5AF6-0AD2-90FA0C78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5" y="1494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4.3 </a:t>
            </a:r>
            <a:r>
              <a:rPr lang="ko-KR" altLang="en-US" sz="1200" dirty="0"/>
              <a:t>졸작 </a:t>
            </a:r>
            <a:r>
              <a:rPr lang="en-US" altLang="ko-KR" sz="1200" dirty="0"/>
              <a:t>– </a:t>
            </a:r>
            <a:r>
              <a:rPr lang="ko-KR" altLang="en-US" sz="12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E4D14-0EA4-D06F-C072-632987AD5A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7325" y="502687"/>
            <a:ext cx="9071640" cy="3288240"/>
          </a:xfrm>
        </p:spPr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F31934-E162-D0D7-1738-8213124A5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650" y="232574"/>
            <a:ext cx="4807150" cy="41298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756FADC-D40B-12FD-1FE3-8E3B13FF9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15674"/>
            <a:ext cx="4986337" cy="40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2EFC-D38D-6116-A54E-E810D80E8DD8}"/>
              </a:ext>
            </a:extLst>
          </p:cNvPr>
          <p:cNvSpPr txBox="1"/>
          <p:nvPr/>
        </p:nvSpPr>
        <p:spPr>
          <a:xfrm>
            <a:off x="823913" y="4604855"/>
            <a:ext cx="798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 딜레이가 </a:t>
            </a:r>
            <a:r>
              <a:rPr lang="en-US" altLang="ko-KR" dirty="0"/>
              <a:t>490ms -&gt; 138ms </a:t>
            </a:r>
            <a:r>
              <a:rPr lang="ko-KR" altLang="en-US" dirty="0"/>
              <a:t>로 엄청난 성능 향상이 가능하였다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789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F6075-BC46-FABC-3A71-806184DE4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75" y="419010"/>
            <a:ext cx="9071640" cy="609398"/>
          </a:xfrm>
        </p:spPr>
        <p:txBody>
          <a:bodyPr/>
          <a:lstStyle/>
          <a:p>
            <a:r>
              <a:rPr lang="en-US" altLang="ko-KR" dirty="0"/>
              <a:t>2. MPSQ </a:t>
            </a:r>
            <a:r>
              <a:rPr lang="ko-KR" altLang="en-US" dirty="0"/>
              <a:t>큐 </a:t>
            </a:r>
            <a:r>
              <a:rPr lang="en-US" altLang="ko-KR" sz="2000" dirty="0"/>
              <a:t>(Multi Producer Single Consumer </a:t>
            </a:r>
            <a:r>
              <a:rPr lang="ko-KR" altLang="en-US" sz="2000" dirty="0"/>
              <a:t>큐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6D382B-EFE2-E945-2470-7D32BED9927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42075" y="1105301"/>
            <a:ext cx="9071640" cy="179796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앞서 언급된 </a:t>
            </a:r>
            <a:r>
              <a:rPr lang="en-US" altLang="ko-KR" sz="1200" dirty="0"/>
              <a:t>Lock Free Executor</a:t>
            </a:r>
            <a:r>
              <a:rPr lang="ko-KR" altLang="en-US" sz="1200" dirty="0"/>
              <a:t>의 작동 방식이 </a:t>
            </a:r>
            <a:r>
              <a:rPr lang="en-US" altLang="ko-KR" sz="1200" dirty="0"/>
              <a:t>Pop (Flush)</a:t>
            </a:r>
            <a:r>
              <a:rPr lang="ko-KR" altLang="en-US" sz="1200" dirty="0"/>
              <a:t>할 때 반드시 </a:t>
            </a:r>
            <a:r>
              <a:rPr lang="ko-KR" altLang="en-US" sz="1200" dirty="0" err="1"/>
              <a:t>싱글스레드로</a:t>
            </a:r>
            <a:r>
              <a:rPr lang="ko-KR" altLang="en-US" sz="1200" dirty="0"/>
              <a:t> 동작함이 보장되기에 </a:t>
            </a:r>
            <a:r>
              <a:rPr lang="en-US" altLang="ko-KR" sz="1200" dirty="0"/>
              <a:t>ABA </a:t>
            </a:r>
            <a:r>
              <a:rPr lang="ko-KR" altLang="en-US" sz="1200" dirty="0"/>
              <a:t>문제 해결을 위한 오버헤드를 없앨 수 있고 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일반적인 </a:t>
            </a:r>
            <a:r>
              <a:rPr lang="en-US" altLang="ko-KR" sz="1200" dirty="0"/>
              <a:t>Lock-Free</a:t>
            </a:r>
            <a:r>
              <a:rPr lang="ko-KR" altLang="en-US" sz="1200" dirty="0"/>
              <a:t>큐의 </a:t>
            </a:r>
            <a:r>
              <a:rPr lang="en-US" altLang="ko-KR" sz="1200" dirty="0"/>
              <a:t>Push / Pop </a:t>
            </a:r>
            <a:r>
              <a:rPr lang="ko-KR" altLang="en-US" sz="1200" dirty="0"/>
              <a:t>로직 구현에 필요한 루프 </a:t>
            </a:r>
            <a:r>
              <a:rPr lang="en-US" altLang="ko-KR" sz="1200" dirty="0"/>
              <a:t>+ CAS</a:t>
            </a:r>
            <a:r>
              <a:rPr lang="ko-KR" altLang="en-US" sz="1200" dirty="0"/>
              <a:t> 구조에서 루프를 제거하고 </a:t>
            </a:r>
            <a:r>
              <a:rPr lang="en-US" altLang="ko-KR" sz="1200" dirty="0"/>
              <a:t>CAS</a:t>
            </a:r>
            <a:r>
              <a:rPr lang="ko-KR" altLang="en-US" sz="1200" dirty="0"/>
              <a:t>연산을 더 가벼운 </a:t>
            </a:r>
            <a:r>
              <a:rPr lang="en-US" altLang="ko-KR" sz="1200" dirty="0"/>
              <a:t>atomic </a:t>
            </a:r>
            <a:r>
              <a:rPr lang="ko-KR" altLang="en-US" sz="1200" dirty="0"/>
              <a:t>연산으로 바꿀 수 있기에 큰 성능 향상을 기대할 수 있다고 생각하였다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또한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</a:t>
            </a:r>
            <a:r>
              <a:rPr lang="ko-KR" altLang="en-US" sz="1200" dirty="0"/>
              <a:t> 로직도 앞서 언급한 방식과 매우 유사하게 작동하기 때문에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 </a:t>
            </a:r>
            <a:r>
              <a:rPr lang="ko-KR" altLang="en-US" sz="1200" dirty="0"/>
              <a:t>큐에도 </a:t>
            </a:r>
            <a:r>
              <a:rPr lang="en-US" altLang="ko-KR" sz="1200" dirty="0"/>
              <a:t>MPSC </a:t>
            </a:r>
            <a:r>
              <a:rPr lang="ko-KR" altLang="en-US" sz="1200" dirty="0"/>
              <a:t>큐를 사용한다면 이 부분에서도 마찬가지로 큰 성능 향상을 기대할 수 있다고 생각하였다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88253B-74D0-F331-8258-3BEC8A3F5DDC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9896731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F84516-38F7-2627-60E8-91BDC7B7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612750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구현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구현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4138F20B-97A9-6B4D-45C8-A27EE8CF8E08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A4F38D-DEB8-035E-E079-DCC7149A78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83" y="2895600"/>
            <a:ext cx="4238133" cy="214153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D08252-6F0E-8A39-7816-496DAC687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898524"/>
            <a:ext cx="4819157" cy="186372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B9F7432-F31D-AD58-6D69-584D21593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3" y="931862"/>
            <a:ext cx="4253515" cy="19034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29545C4-4D23-0A65-7ED2-E09A04B9AE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2835275"/>
            <a:ext cx="4862020" cy="21415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C7AE39-DA26-54F8-749B-78467716AB53}"/>
              </a:ext>
            </a:extLst>
          </p:cNvPr>
          <p:cNvSpPr txBox="1"/>
          <p:nvPr/>
        </p:nvSpPr>
        <p:spPr>
          <a:xfrm>
            <a:off x="4485180" y="1719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99FF6-AB6C-7AC3-7035-5DB1F33730A9}"/>
              </a:ext>
            </a:extLst>
          </p:cNvPr>
          <p:cNvSpPr txBox="1"/>
          <p:nvPr/>
        </p:nvSpPr>
        <p:spPr>
          <a:xfrm>
            <a:off x="4466375" y="3551088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FFEFD1-9D9B-FD26-44F5-64284A2E7B65}"/>
              </a:ext>
            </a:extLst>
          </p:cNvPr>
          <p:cNvSpPr txBox="1"/>
          <p:nvPr/>
        </p:nvSpPr>
        <p:spPr>
          <a:xfrm>
            <a:off x="1257300" y="5059657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좌측이 </a:t>
            </a:r>
            <a:r>
              <a:rPr lang="en-US" altLang="ko-KR" dirty="0" err="1"/>
              <a:t>tbb</a:t>
            </a:r>
            <a:r>
              <a:rPr lang="ko-KR" altLang="en-US" dirty="0"/>
              <a:t>의 </a:t>
            </a:r>
            <a:r>
              <a:rPr lang="en-US" altLang="ko-KR" dirty="0" err="1"/>
              <a:t>concurrent_queue</a:t>
            </a:r>
            <a:r>
              <a:rPr lang="en-US" altLang="ko-KR" dirty="0"/>
              <a:t> / </a:t>
            </a:r>
            <a:r>
              <a:rPr lang="ko-KR" altLang="en-US" dirty="0"/>
              <a:t>우측이 직접 제작한 </a:t>
            </a:r>
            <a:r>
              <a:rPr lang="en-US" altLang="ko-KR" dirty="0"/>
              <a:t>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MPSC </a:t>
            </a:r>
            <a:r>
              <a:rPr lang="ko-KR" altLang="en-US" dirty="0"/>
              <a:t>큐에서는 루프가 사라지고 </a:t>
            </a:r>
            <a:r>
              <a:rPr lang="en-US" altLang="ko-KR" dirty="0"/>
              <a:t>CAS</a:t>
            </a:r>
            <a:r>
              <a:rPr lang="ko-KR" altLang="en-US" dirty="0"/>
              <a:t>가 다른 </a:t>
            </a:r>
            <a:r>
              <a:rPr lang="en-US" altLang="ko-KR" dirty="0"/>
              <a:t>atomic </a:t>
            </a:r>
            <a:r>
              <a:rPr lang="ko-KR" altLang="en-US" dirty="0"/>
              <a:t>연산으로 대체되었다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40537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86529-81D4-3067-087D-3E9196C3E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52474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성능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성능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42F1482-9A7A-9943-2777-8A3FFB66F675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8F22EE-A5C2-48BA-766B-5C65A85F7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5699"/>
            <a:ext cx="3313113" cy="239182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0AAC39B-293E-347F-92F9-B336F32D0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57525"/>
            <a:ext cx="3313113" cy="25177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BB89178-7475-7B21-EDAE-CDAFA6F859BD}"/>
              </a:ext>
            </a:extLst>
          </p:cNvPr>
          <p:cNvSpPr txBox="1"/>
          <p:nvPr/>
        </p:nvSpPr>
        <p:spPr>
          <a:xfrm>
            <a:off x="3228975" y="620967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29D4CB6-A90A-E457-ED35-78EE25360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49" y="667583"/>
            <a:ext cx="3838574" cy="81915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B5313D9-B2D0-8BF0-3B40-5AAC56184C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49" y="1474005"/>
            <a:ext cx="3838575" cy="88582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AF91EB-6D20-9642-4339-B18EBB73D21D}"/>
              </a:ext>
            </a:extLst>
          </p:cNvPr>
          <p:cNvSpPr txBox="1"/>
          <p:nvPr/>
        </p:nvSpPr>
        <p:spPr>
          <a:xfrm>
            <a:off x="7616823" y="1630894"/>
            <a:ext cx="233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12</a:t>
            </a:r>
            <a:r>
              <a:rPr lang="ko-KR" altLang="en-US" sz="800" dirty="0"/>
              <a:t>스레드</a:t>
            </a:r>
            <a:r>
              <a:rPr lang="en-US" altLang="ko-KR" sz="800" dirty="0"/>
              <a:t>(</a:t>
            </a:r>
            <a:r>
              <a:rPr lang="ko-KR" altLang="en-US" sz="800" dirty="0"/>
              <a:t>생산자</a:t>
            </a:r>
            <a:r>
              <a:rPr lang="en-US" altLang="ko-KR" sz="800" dirty="0"/>
              <a:t>)</a:t>
            </a:r>
            <a:r>
              <a:rPr lang="ko-KR" altLang="en-US" sz="800" dirty="0"/>
              <a:t>가 각각 </a:t>
            </a:r>
            <a:r>
              <a:rPr lang="en-US" altLang="ko-KR" sz="800" dirty="0"/>
              <a:t>1</a:t>
            </a:r>
            <a:r>
              <a:rPr lang="ko-KR" altLang="en-US" sz="800" dirty="0" err="1"/>
              <a:t>억개의</a:t>
            </a:r>
            <a:r>
              <a:rPr lang="ko-KR" altLang="en-US" sz="800" dirty="0"/>
              <a:t> 정수를 </a:t>
            </a:r>
            <a:r>
              <a:rPr lang="en-US" altLang="ko-KR" sz="800" dirty="0"/>
              <a:t>push</a:t>
            </a:r>
            <a:r>
              <a:rPr lang="ko-KR" altLang="en-US" sz="800" dirty="0"/>
              <a:t>하며 단일 소비자가 전부 </a:t>
            </a:r>
            <a:r>
              <a:rPr lang="en-US" altLang="ko-KR" sz="800" dirty="0"/>
              <a:t>pop </a:t>
            </a:r>
            <a:r>
              <a:rPr lang="ko-KR" altLang="en-US" sz="800" dirty="0" err="1"/>
              <a:t>했을때의</a:t>
            </a:r>
            <a:r>
              <a:rPr lang="ko-KR" altLang="en-US" sz="800" dirty="0"/>
              <a:t> 벤치마크 결과</a:t>
            </a:r>
            <a:endParaRPr lang="en-US" altLang="ko-KR" sz="800" dirty="0"/>
          </a:p>
          <a:p>
            <a:r>
              <a:rPr lang="ko-KR" altLang="en-US" sz="800" dirty="0"/>
              <a:t>약 </a:t>
            </a:r>
            <a:r>
              <a:rPr lang="en-US" altLang="ko-KR" sz="800" dirty="0"/>
              <a:t>3050ms </a:t>
            </a:r>
            <a:r>
              <a:rPr lang="ko-KR" altLang="en-US" sz="800" dirty="0"/>
              <a:t>성능 향상을 보여준다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6E5980-39C4-E624-8B76-B41A22C87E7E}"/>
              </a:ext>
            </a:extLst>
          </p:cNvPr>
          <p:cNvSpPr txBox="1"/>
          <p:nvPr/>
        </p:nvSpPr>
        <p:spPr>
          <a:xfrm>
            <a:off x="7616823" y="711233"/>
            <a:ext cx="24638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12</a:t>
            </a:r>
            <a:r>
              <a:rPr lang="ko-KR" altLang="en-US" sz="800" dirty="0"/>
              <a:t>스레드</a:t>
            </a:r>
            <a:r>
              <a:rPr lang="en-US" altLang="ko-KR" sz="800" dirty="0"/>
              <a:t>(</a:t>
            </a:r>
            <a:r>
              <a:rPr lang="ko-KR" altLang="en-US" sz="800" dirty="0"/>
              <a:t>생산자</a:t>
            </a:r>
            <a:r>
              <a:rPr lang="en-US" altLang="ko-KR" sz="800" dirty="0"/>
              <a:t>)</a:t>
            </a:r>
            <a:r>
              <a:rPr lang="ko-KR" altLang="en-US" sz="800" dirty="0"/>
              <a:t>가 각각 천만개의 정수를 </a:t>
            </a:r>
            <a:r>
              <a:rPr lang="en-US" altLang="ko-KR" sz="800" dirty="0"/>
              <a:t>push</a:t>
            </a:r>
            <a:r>
              <a:rPr lang="ko-KR" altLang="en-US" sz="800" dirty="0"/>
              <a:t>하며 단일 소비자가 전부 </a:t>
            </a:r>
            <a:r>
              <a:rPr lang="en-US" altLang="ko-KR" sz="800" dirty="0"/>
              <a:t>pop </a:t>
            </a:r>
            <a:r>
              <a:rPr lang="ko-KR" altLang="en-US" sz="800" dirty="0" err="1"/>
              <a:t>했을때의</a:t>
            </a:r>
            <a:r>
              <a:rPr lang="ko-KR" altLang="en-US" sz="800" dirty="0"/>
              <a:t> 벤치마크 결과</a:t>
            </a:r>
            <a:endParaRPr lang="en-US" altLang="ko-KR" sz="800" dirty="0"/>
          </a:p>
          <a:p>
            <a:r>
              <a:rPr lang="ko-KR" altLang="en-US" sz="800" dirty="0"/>
              <a:t>약 </a:t>
            </a:r>
            <a:r>
              <a:rPr lang="en-US" altLang="ko-KR" sz="800" dirty="0"/>
              <a:t>1350ms </a:t>
            </a:r>
            <a:r>
              <a:rPr lang="ko-KR" altLang="en-US" sz="800" dirty="0"/>
              <a:t>성능 향상을 보여준다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692F7C5-0773-50C7-3D7B-1DD219E0C8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0" y="3730345"/>
            <a:ext cx="2989264" cy="18002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138F247-754F-C77B-4193-2A6FDCE3FB1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486" y="3730345"/>
            <a:ext cx="3259139" cy="18002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FFCB30-BB8B-FA85-9033-84D3DC2B639E}"/>
              </a:ext>
            </a:extLst>
          </p:cNvPr>
          <p:cNvSpPr txBox="1"/>
          <p:nvPr/>
        </p:nvSpPr>
        <p:spPr>
          <a:xfrm>
            <a:off x="3778249" y="3361013"/>
            <a:ext cx="4560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자료구조 작성 시 고민했던 문제들</a:t>
            </a:r>
            <a:r>
              <a:rPr lang="en-US" altLang="ko-KR" dirty="0"/>
              <a:t>….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39770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5EE45-EB94-8FB4-9534-9472AEC4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18638"/>
            <a:ext cx="9071640" cy="609398"/>
          </a:xfrm>
        </p:spPr>
        <p:txBody>
          <a:bodyPr/>
          <a:lstStyle/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en-US" altLang="ko-KR" dirty="0"/>
              <a:t> </a:t>
            </a:r>
            <a:r>
              <a:rPr lang="ko-KR" altLang="en-US" dirty="0"/>
              <a:t>제작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13C6F2-FADB-D150-8D57-442663E5A89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1064660"/>
            <a:ext cx="9071640" cy="2854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- </a:t>
            </a: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shared_ptr</a:t>
            </a:r>
            <a:r>
              <a:rPr lang="ko-KR" altLang="en-US" sz="1600" dirty="0"/>
              <a:t>을 이용하고 있다면 </a:t>
            </a:r>
            <a:r>
              <a:rPr lang="en-US" altLang="ko-KR" sz="1600" dirty="0"/>
              <a:t>this</a:t>
            </a:r>
            <a:r>
              <a:rPr lang="ko-KR" altLang="en-US" sz="1600" dirty="0"/>
              <a:t>포인터를 전달할 필요가 있을 때 반드시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를 상속받아서 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()</a:t>
            </a:r>
            <a:r>
              <a:rPr lang="ko-KR" altLang="en-US" sz="1600" dirty="0"/>
              <a:t>를 호출하여 생성하여야 한다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는 자기자신의 </a:t>
            </a:r>
            <a:r>
              <a:rPr lang="en-US" altLang="ko-KR" sz="1600" dirty="0" err="1"/>
              <a:t>weak_ptr</a:t>
            </a:r>
            <a:r>
              <a:rPr lang="ko-KR" altLang="en-US" sz="1600" dirty="0"/>
              <a:t>을 멤버변수로 가지고 이를 매개변수로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생성자를 이용하여 반환하도록 구현되어 있다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shared_from_this</a:t>
            </a:r>
            <a:r>
              <a:rPr lang="ko-KR" altLang="en-US" sz="1600" dirty="0"/>
              <a:t>는 매우 자주 호출될 함수인데 내부 구현이 루프 </a:t>
            </a:r>
            <a:r>
              <a:rPr lang="en-US" altLang="ko-KR" sz="1600" dirty="0"/>
              <a:t>+ CAS</a:t>
            </a:r>
            <a:r>
              <a:rPr lang="ko-KR" altLang="en-US" sz="1600" dirty="0"/>
              <a:t>로 되어있어 큰 오버헤드가 예상되고 직접 구현하면 </a:t>
            </a:r>
            <a:r>
              <a:rPr lang="en-US" altLang="ko-KR" sz="1600" dirty="0" err="1"/>
              <a:t>InterlockedIncrement</a:t>
            </a:r>
            <a:r>
              <a:rPr lang="ko-KR" altLang="en-US" sz="1600" dirty="0"/>
              <a:t>를 한번만 호출하는 것으로 성능 개선 가능성이 보인다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크기가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바이트인데 직접 제작한다면 이를 </a:t>
            </a:r>
            <a:r>
              <a:rPr lang="en-US" altLang="ko-KR" sz="1600" dirty="0"/>
              <a:t>8</a:t>
            </a:r>
            <a:r>
              <a:rPr lang="ko-KR" altLang="en-US" sz="1600" dirty="0"/>
              <a:t>바이트로 줄일 수 있고 제어블록 대신 정수 값 하나만을 이용하여 더 적은 메모리로 구현할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>
              <a:buFontTx/>
              <a:buChar char="-"/>
            </a:pPr>
            <a:endParaRPr lang="en-US" altLang="ko-KR" sz="16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1CF5EFB4-FDAF-8E90-7922-381BE8B526E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365534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C897C25-3C39-23BA-7011-5855BA5B49A7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59EA543-EEF6-061D-2F10-8493B08A3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7111"/>
            <a:ext cx="3538538" cy="209065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210CCC9-A89C-EA7F-9EF7-C47DDD1B27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460599"/>
            <a:ext cx="3538539" cy="2619375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F1FAFB09-DA64-2FF9-DC87-8EA358840603}"/>
              </a:ext>
            </a:extLst>
          </p:cNvPr>
          <p:cNvSpPr txBox="1">
            <a:spLocks/>
          </p:cNvSpPr>
          <p:nvPr/>
        </p:nvSpPr>
        <p:spPr>
          <a:xfrm>
            <a:off x="-1" y="5160926"/>
            <a:ext cx="3469783" cy="249299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 </a:t>
            </a:r>
            <a:r>
              <a:rPr lang="ko-KR" altLang="en-US" sz="1200" dirty="0"/>
              <a:t>표준 </a:t>
            </a:r>
            <a:r>
              <a:rPr lang="en-US" altLang="ko-KR" sz="1200" dirty="0" err="1"/>
              <a:t>shared_from_this</a:t>
            </a:r>
            <a:r>
              <a:rPr lang="en-US" altLang="ko-KR" sz="1200" dirty="0"/>
              <a:t>()</a:t>
            </a:r>
            <a:r>
              <a:rPr lang="ko-KR" altLang="en-US" sz="1200" dirty="0"/>
              <a:t>의 내부 구현 </a:t>
            </a:r>
            <a:r>
              <a:rPr lang="en-US" altLang="ko-KR" sz="1200" dirty="0"/>
              <a:t>(MSVC </a:t>
            </a:r>
            <a:r>
              <a:rPr lang="ko-KR" altLang="en-US" sz="1200" dirty="0"/>
              <a:t>기준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6897DB-BCDE-3537-5ED2-61A80A5D6419}"/>
              </a:ext>
            </a:extLst>
          </p:cNvPr>
          <p:cNvSpPr txBox="1"/>
          <p:nvPr/>
        </p:nvSpPr>
        <p:spPr>
          <a:xfrm>
            <a:off x="3538538" y="252008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1910359-8159-1D23-6F42-D35E1FEFEE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72185"/>
            <a:ext cx="5880100" cy="227572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128EB6A-2B17-D5B4-3F1E-570A87E99E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2347913"/>
            <a:ext cx="5880099" cy="27320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3985B1B-4367-6FFD-B0AA-93FD23686594}"/>
              </a:ext>
            </a:extLst>
          </p:cNvPr>
          <p:cNvSpPr txBox="1"/>
          <p:nvPr/>
        </p:nvSpPr>
        <p:spPr>
          <a:xfrm>
            <a:off x="4200525" y="5147330"/>
            <a:ext cx="583614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루프와 </a:t>
            </a:r>
            <a:r>
              <a:rPr lang="en-US" altLang="ko-KR" sz="1000" dirty="0"/>
              <a:t>CAS</a:t>
            </a:r>
            <a:r>
              <a:rPr lang="ko-KR" altLang="en-US" sz="1000" dirty="0"/>
              <a:t>를 없애고 </a:t>
            </a:r>
            <a:r>
              <a:rPr lang="en-US" altLang="ko-KR" sz="1000" dirty="0" err="1"/>
              <a:t>InterlockedIncrement</a:t>
            </a:r>
            <a:r>
              <a:rPr lang="en-US" altLang="ko-KR" sz="1000" dirty="0"/>
              <a:t> </a:t>
            </a:r>
            <a:r>
              <a:rPr lang="ko-KR" altLang="en-US" sz="1000" dirty="0"/>
              <a:t>호출 한번으로 간단하게 </a:t>
            </a:r>
            <a:r>
              <a:rPr lang="en-US" altLang="ko-KR" sz="1000" dirty="0" err="1"/>
              <a:t>shared_from_this</a:t>
            </a:r>
            <a:r>
              <a:rPr lang="ko-KR" altLang="en-US" sz="1000" dirty="0"/>
              <a:t>를 구현 가능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 전문은 </a:t>
            </a:r>
            <a:r>
              <a:rPr lang="en-US" altLang="ko-KR" sz="1000" dirty="0" err="1"/>
              <a:t>RefCountable.h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80673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11A4E-97B2-4B55-F1CF-D275BCE53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22286"/>
            <a:ext cx="9071640" cy="2473314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Custom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제작으로 얻는 것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en-US" altLang="ko-KR" sz="1600" dirty="0"/>
              <a:t>1. </a:t>
            </a:r>
            <a:r>
              <a:rPr lang="ko-KR" altLang="en-US" sz="1600" dirty="0"/>
              <a:t>표준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에 비해 훨씬 더 적은 메모리로 구현 가능</a:t>
            </a:r>
            <a:br>
              <a:rPr lang="en-US" altLang="ko-KR" sz="1600" dirty="0"/>
            </a:br>
            <a:r>
              <a:rPr lang="en-US" altLang="ko-KR" sz="1600" dirty="0"/>
              <a:t>2. </a:t>
            </a:r>
            <a:r>
              <a:rPr lang="ko-KR" altLang="en-US" sz="1600" dirty="0"/>
              <a:t>객체의 수명 보장을 위해 불필요한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복사가 여러 번 발생 하는 것을 한번에 레퍼런스 카운터를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큰 값을 증가시키는 것으로 대체 가능</a:t>
            </a:r>
            <a:br>
              <a:rPr lang="en-US" altLang="ko-KR" sz="1600" dirty="0"/>
            </a:br>
            <a:r>
              <a:rPr lang="en-US" altLang="ko-KR" sz="1600" dirty="0"/>
              <a:t>3. </a:t>
            </a:r>
            <a:r>
              <a:rPr lang="ko-KR" altLang="en-US" sz="1600" dirty="0"/>
              <a:t>자기 자신에 대한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생성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)</a:t>
            </a:r>
            <a:r>
              <a:rPr lang="ko-KR" altLang="en-US" sz="1600" dirty="0"/>
              <a:t>에 발생했던 오버헤드를 크게 감소</a:t>
            </a:r>
            <a:br>
              <a:rPr lang="en-US" altLang="ko-KR" sz="1600" dirty="0"/>
            </a:br>
            <a:br>
              <a:rPr lang="en-US" altLang="ko-KR" sz="1600" dirty="0"/>
            </a:br>
            <a:endParaRPr lang="ko-KR" altLang="en-US" sz="16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24AF3C29-58EC-372F-EE46-2C269210400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2D015B0-DE39-780A-0142-73170003D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0033" y="2691605"/>
            <a:ext cx="1562100" cy="19796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BF82CD0-8018-83E9-E996-285A1119E7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450" y="2691605"/>
            <a:ext cx="2634583" cy="197961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708C56-CD97-6E9E-E222-A406593D16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62" y="2232025"/>
            <a:ext cx="3810000" cy="34020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43F319-0C3F-3B9C-38D7-E37E58D2120B}"/>
              </a:ext>
            </a:extLst>
          </p:cNvPr>
          <p:cNvSpPr txBox="1"/>
          <p:nvPr/>
        </p:nvSpPr>
        <p:spPr>
          <a:xfrm>
            <a:off x="4453351" y="353292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AF0887-AD97-C5EB-0FF9-26C8F43EDF22}"/>
              </a:ext>
            </a:extLst>
          </p:cNvPr>
          <p:cNvSpPr txBox="1"/>
          <p:nvPr/>
        </p:nvSpPr>
        <p:spPr>
          <a:xfrm>
            <a:off x="5348288" y="4733925"/>
            <a:ext cx="4643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직접만든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과 표준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shared_from_this</a:t>
            </a:r>
            <a:r>
              <a:rPr lang="ko-KR" altLang="en-US" sz="1200" dirty="0"/>
              <a:t>를 각각 </a:t>
            </a:r>
            <a:r>
              <a:rPr lang="en-US" altLang="ko-KR" sz="1200" dirty="0"/>
              <a:t>1</a:t>
            </a:r>
            <a:r>
              <a:rPr lang="ko-KR" altLang="en-US" sz="1200" dirty="0" err="1"/>
              <a:t>억번씩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호출하였을때</a:t>
            </a:r>
            <a:r>
              <a:rPr lang="ko-KR" altLang="en-US" sz="1200" dirty="0"/>
              <a:t> 약 </a:t>
            </a:r>
            <a:r>
              <a:rPr lang="en-US" altLang="ko-KR" sz="1200" dirty="0"/>
              <a:t>500ms</a:t>
            </a:r>
            <a:r>
              <a:rPr lang="ko-KR" altLang="en-US" sz="1200" dirty="0"/>
              <a:t> 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89503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1AD9E9-408C-F7C0-596E-CEDFA3432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27951"/>
            <a:ext cx="9071640" cy="609398"/>
          </a:xfrm>
        </p:spPr>
        <p:txBody>
          <a:bodyPr/>
          <a:lstStyle/>
          <a:p>
            <a:r>
              <a:rPr lang="en-US" altLang="ko-KR" dirty="0"/>
              <a:t>4. Task vs std::function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C7FCD62-A7B8-49E3-6862-59550A3B3F3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1371873"/>
            <a:ext cx="9071640" cy="137315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en-US" altLang="ko-KR" sz="1600" dirty="0"/>
              <a:t>- std::function</a:t>
            </a:r>
            <a:r>
              <a:rPr lang="ko-KR" altLang="en-US" sz="1600" dirty="0"/>
              <a:t>을 람다 캡처로 만들 시 발생하는 동적 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오버헤드를 고성능 커스텀 메모리 풀을 이용하여 개선할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- x64 </a:t>
            </a:r>
            <a:r>
              <a:rPr lang="ko-KR" altLang="en-US" sz="1600" dirty="0"/>
              <a:t>기준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 크기</a:t>
            </a:r>
            <a:r>
              <a:rPr lang="en-US" altLang="ko-KR" sz="1600" dirty="0"/>
              <a:t>(</a:t>
            </a:r>
            <a:r>
              <a:rPr lang="ko-KR" altLang="en-US" sz="1600" dirty="0"/>
              <a:t>포인터 두개</a:t>
            </a:r>
            <a:r>
              <a:rPr lang="en-US" altLang="ko-KR" sz="1600" dirty="0"/>
              <a:t>)</a:t>
            </a:r>
            <a:r>
              <a:rPr lang="ko-KR" altLang="en-US" sz="1600" dirty="0"/>
              <a:t>로 제작이 가능하여 </a:t>
            </a:r>
            <a:r>
              <a:rPr lang="en-US" altLang="ko-KR" sz="1600" dirty="0"/>
              <a:t>64</a:t>
            </a:r>
            <a:r>
              <a:rPr lang="ko-KR" altLang="en-US" sz="1600" dirty="0"/>
              <a:t>바이트인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에 비해 훨씬 더 적은 메모리를 이용하여 구현 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CD6DD7A-8A65-ABBC-74CD-3ACFA2B80EA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46C9DA-7059-88A3-6835-99BA38DF6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9788" y="2218631"/>
            <a:ext cx="2271712" cy="2795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3639A8D-F0AB-958D-FC7D-6C29D3AE85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7" y="2218631"/>
            <a:ext cx="2088201" cy="2795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F139E8-606F-429F-EF9A-9CC0A4EC1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5812" y="3619057"/>
            <a:ext cx="1447800" cy="139781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35EA786-765E-C3CA-6BDB-743A7643C0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574" y="2218631"/>
            <a:ext cx="1438275" cy="139781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E6679C0-6709-DAD7-B3C3-0D62F8DB17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724" y="2218631"/>
            <a:ext cx="2219325" cy="27956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92A3BE-3F48-1721-2660-217F5AA524A8}"/>
              </a:ext>
            </a:extLst>
          </p:cNvPr>
          <p:cNvSpPr txBox="1"/>
          <p:nvPr/>
        </p:nvSpPr>
        <p:spPr>
          <a:xfrm>
            <a:off x="4815708" y="345010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07DF41-8C60-43A6-22A3-4541609D6F66}"/>
              </a:ext>
            </a:extLst>
          </p:cNvPr>
          <p:cNvSpPr txBox="1"/>
          <p:nvPr/>
        </p:nvSpPr>
        <p:spPr>
          <a:xfrm>
            <a:off x="595312" y="5057775"/>
            <a:ext cx="90011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직접 만든 </a:t>
            </a:r>
            <a:r>
              <a:rPr lang="en-US" altLang="ko-KR" sz="1200" dirty="0"/>
              <a:t>Task</a:t>
            </a:r>
            <a:r>
              <a:rPr lang="ko-KR" altLang="en-US" sz="1200" dirty="0"/>
              <a:t>와 </a:t>
            </a:r>
            <a:r>
              <a:rPr lang="en-US" altLang="ko-KR" sz="1200" dirty="0"/>
              <a:t>std::function</a:t>
            </a:r>
            <a:r>
              <a:rPr lang="ko-KR" altLang="en-US" sz="1200" dirty="0"/>
              <a:t>을 동일한 멤버함수 포인터와 매개변수를 캡처하여 생성 및 각각 천만번 씩 호출했을 때 </a:t>
            </a:r>
            <a:r>
              <a:rPr lang="en-US" altLang="ko-KR" sz="1200" dirty="0"/>
              <a:t>Task </a:t>
            </a:r>
            <a:r>
              <a:rPr lang="ko-KR" altLang="en-US" sz="1200" dirty="0"/>
              <a:t>클래스가 약 </a:t>
            </a:r>
            <a:r>
              <a:rPr lang="en-US" altLang="ko-KR" sz="1200" dirty="0"/>
              <a:t>250ms </a:t>
            </a:r>
            <a:r>
              <a:rPr lang="ko-KR" altLang="en-US" sz="1200" dirty="0"/>
              <a:t>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32902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AB8C-B198-B473-65EB-EBFE7540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888" y="507854"/>
            <a:ext cx="9071640" cy="276999"/>
          </a:xfrm>
        </p:spPr>
        <p:txBody>
          <a:bodyPr/>
          <a:lstStyle/>
          <a:p>
            <a:r>
              <a:rPr lang="en-US" altLang="ko-KR" sz="2000" dirty="0"/>
              <a:t>5. Cluster </a:t>
            </a:r>
            <a:r>
              <a:rPr lang="ko-KR" altLang="en-US" sz="2000" dirty="0"/>
              <a:t>공간분할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F5DE2D-7A76-CE85-628A-73A0138DF39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500148"/>
            <a:ext cx="9071640" cy="2619832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600" dirty="0"/>
              <a:t>패킷 전달</a:t>
            </a:r>
            <a:r>
              <a:rPr lang="en-US" altLang="ko-KR" sz="1600" dirty="0"/>
              <a:t>, </a:t>
            </a:r>
            <a:r>
              <a:rPr lang="ko-KR" altLang="en-US" sz="1600" dirty="0"/>
              <a:t>충돌검사</a:t>
            </a:r>
            <a:r>
              <a:rPr lang="en-US" altLang="ko-KR" sz="1600" dirty="0"/>
              <a:t> </a:t>
            </a:r>
            <a:r>
              <a:rPr lang="ko-KR" altLang="en-US" sz="1600" dirty="0"/>
              <a:t>등 순회 및 특정 조건에 맞는 오브젝트를 찾아내기 위해 선형탐색을 진행할 때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en-US" sz="1600" dirty="0"/>
              <a:t>매번 월드전체의 오브젝트를 검색하기엔 탐색공간이 너무나도 크다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월드를 격자판으로 쪼개서 자신이 속한 격자판과 그 근처의 격자판만 검색한다면 탐색공간을 크게 줄일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게임서버의 많은 알고리즘들이 대부분 </a:t>
            </a:r>
            <a:r>
              <a:rPr lang="ko-KR" altLang="en-US" sz="1600" dirty="0" err="1"/>
              <a:t>시간복잡도가</a:t>
            </a:r>
            <a:r>
              <a:rPr lang="ko-KR" altLang="en-US" sz="1600" dirty="0"/>
              <a:t> </a:t>
            </a:r>
            <a:r>
              <a:rPr lang="en-US" altLang="ko-KR" sz="1600" dirty="0"/>
              <a:t>O(N^2) </a:t>
            </a:r>
            <a:r>
              <a:rPr lang="ko-KR" altLang="en-US" sz="1600" dirty="0"/>
              <a:t>수준이기 때문에 반드시 이 </a:t>
            </a:r>
            <a:r>
              <a:rPr lang="en-US" altLang="ko-KR" sz="1600" dirty="0"/>
              <a:t>N</a:t>
            </a:r>
            <a:r>
              <a:rPr lang="ko-KR" altLang="en-US" sz="1600" dirty="0"/>
              <a:t>을 줄여야만 한다고 생각하였다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(</a:t>
            </a:r>
            <a:r>
              <a:rPr lang="ko-KR" altLang="en-US" sz="1200" dirty="0"/>
              <a:t>이 프로젝트에서 </a:t>
            </a:r>
            <a:r>
              <a:rPr lang="ko-KR" altLang="en-US" sz="1200" dirty="0" err="1"/>
              <a:t>격자판</a:t>
            </a:r>
            <a:r>
              <a:rPr lang="ko-KR" altLang="en-US" sz="1200" dirty="0"/>
              <a:t> 하나를 </a:t>
            </a:r>
            <a:r>
              <a:rPr lang="en-US" altLang="ko-KR" sz="1200" dirty="0"/>
              <a:t>Cluster</a:t>
            </a:r>
            <a:r>
              <a:rPr lang="ko-KR" altLang="en-US" sz="1200" dirty="0"/>
              <a:t>라고 부르며</a:t>
            </a:r>
            <a:r>
              <a:rPr lang="en-US" altLang="ko-KR" sz="1200" dirty="0"/>
              <a:t>,</a:t>
            </a:r>
            <a:r>
              <a:rPr lang="ko-KR" altLang="en-US" sz="1200" dirty="0"/>
              <a:t> </a:t>
            </a:r>
            <a:r>
              <a:rPr lang="en-US" altLang="ko-KR" sz="1200" dirty="0"/>
              <a:t>Cluster [ x</a:t>
            </a:r>
            <a:r>
              <a:rPr lang="ko-KR" altLang="en-US" sz="1200" dirty="0"/>
              <a:t> </a:t>
            </a:r>
            <a:r>
              <a:rPr lang="en-US" altLang="ko-KR" sz="1200" dirty="0"/>
              <a:t>/ </a:t>
            </a:r>
            <a:r>
              <a:rPr lang="en-US" altLang="ko-KR" sz="1200" dirty="0" err="1"/>
              <a:t>cluster_x_scale</a:t>
            </a:r>
            <a:r>
              <a:rPr lang="en-US" altLang="ko-KR" sz="1200" dirty="0"/>
              <a:t> ][ z / </a:t>
            </a:r>
            <a:r>
              <a:rPr lang="en-US" altLang="ko-KR" sz="1200" dirty="0" err="1"/>
              <a:t>cluster_z_scale</a:t>
            </a:r>
            <a:r>
              <a:rPr lang="en-US" altLang="ko-KR" sz="1200" dirty="0"/>
              <a:t> ]</a:t>
            </a:r>
            <a:r>
              <a:rPr lang="ko-KR" altLang="en-US" sz="1200" dirty="0"/>
              <a:t>와 같은 방식으로 자신이 속한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 접근할 수 있도록 하였다</a:t>
            </a:r>
            <a:r>
              <a:rPr lang="en-US" altLang="ko-KR" sz="1200" dirty="0"/>
              <a:t>.)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01297D4-FA82-625C-4406-DBADA7E5E622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BF3793-4307-4A39-591B-9E8ABF10CD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3" y="2670188"/>
            <a:ext cx="3648487" cy="23256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A702473-ACFE-8C9B-8454-3B05D96E8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213" y="2670188"/>
            <a:ext cx="3951287" cy="23256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B5F1F3-060B-F75F-8757-15B6FE820E55}"/>
              </a:ext>
            </a:extLst>
          </p:cNvPr>
          <p:cNvSpPr txBox="1"/>
          <p:nvPr/>
        </p:nvSpPr>
        <p:spPr>
          <a:xfrm>
            <a:off x="3654878" y="363297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F3E69D-4442-3C38-E045-A9111F616426}"/>
              </a:ext>
            </a:extLst>
          </p:cNvPr>
          <p:cNvSpPr txBox="1"/>
          <p:nvPr/>
        </p:nvSpPr>
        <p:spPr>
          <a:xfrm>
            <a:off x="8161020" y="2670188"/>
            <a:ext cx="181737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더미 클라이언트를 이용한 동시접속자 </a:t>
            </a:r>
            <a:r>
              <a:rPr lang="en-US" altLang="ko-KR" sz="1000" dirty="0"/>
              <a:t>2000</a:t>
            </a:r>
            <a:r>
              <a:rPr lang="ko-KR" altLang="en-US" sz="1000" dirty="0"/>
              <a:t>명 시뮬레이션 결과 </a:t>
            </a:r>
            <a:endParaRPr lang="en-US" altLang="ko-KR" sz="1000" dirty="0"/>
          </a:p>
          <a:p>
            <a:r>
              <a:rPr lang="ko-KR" altLang="en-US" sz="1000" dirty="0"/>
              <a:t>공간분할 유무에 따른 엄청난 성능차이가 발생한다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특히 공간분할 적용 후의 서버의 </a:t>
            </a:r>
            <a:r>
              <a:rPr lang="en-US" altLang="ko-KR" sz="1000" dirty="0"/>
              <a:t>CPU</a:t>
            </a:r>
            <a:r>
              <a:rPr lang="ko-KR" altLang="en-US" sz="1000" dirty="0"/>
              <a:t>는 아직도 여유가 있는 상태</a:t>
            </a:r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000" dirty="0"/>
          </a:p>
          <a:p>
            <a:r>
              <a:rPr lang="en-US" altLang="ko-KR" sz="800" dirty="0"/>
              <a:t>(</a:t>
            </a:r>
            <a:r>
              <a:rPr lang="ko-KR" altLang="en-US" sz="800" dirty="0"/>
              <a:t>자세한 코드는 </a:t>
            </a:r>
            <a:r>
              <a:rPr lang="en-US" altLang="ko-KR" sz="800" dirty="0" err="1"/>
              <a:t>ClusterInfoHelper.h</a:t>
            </a:r>
            <a:r>
              <a:rPr lang="en-US" altLang="ko-KR" sz="800" dirty="0"/>
              <a:t> / </a:t>
            </a:r>
            <a:r>
              <a:rPr lang="en-US" altLang="ko-KR" sz="800" dirty="0" err="1"/>
              <a:t>cpp</a:t>
            </a:r>
            <a:r>
              <a:rPr lang="ko-KR" altLang="en-US" sz="800" dirty="0"/>
              <a:t> 및</a:t>
            </a:r>
            <a:endParaRPr lang="en-US" altLang="ko-KR" sz="800" dirty="0"/>
          </a:p>
          <a:p>
            <a:r>
              <a:rPr lang="en-US" altLang="ko-KR" sz="800" dirty="0"/>
              <a:t>main.cpp </a:t>
            </a:r>
            <a:r>
              <a:rPr lang="ko-KR" altLang="en-US" sz="800" dirty="0"/>
              <a:t>의 </a:t>
            </a:r>
            <a:r>
              <a:rPr lang="en-US" altLang="ko-KR" sz="800" dirty="0"/>
              <a:t>main </a:t>
            </a:r>
            <a:r>
              <a:rPr lang="ko-KR" altLang="en-US" sz="800" dirty="0"/>
              <a:t>함수 밑 </a:t>
            </a:r>
            <a:endParaRPr lang="en-US" altLang="ko-KR" sz="800" dirty="0"/>
          </a:p>
          <a:p>
            <a:r>
              <a:rPr lang="en-US" altLang="ko-KR" sz="800" dirty="0" err="1"/>
              <a:t>GlobalClusterFilter</a:t>
            </a:r>
            <a:r>
              <a:rPr lang="en-US" altLang="ko-KR" sz="800" dirty="0"/>
              <a:t> </a:t>
            </a:r>
            <a:r>
              <a:rPr lang="ko-KR" altLang="en-US" sz="800" dirty="0"/>
              <a:t>참조</a:t>
            </a:r>
            <a:endParaRPr lang="en-US" altLang="ko-KR" sz="800" dirty="0"/>
          </a:p>
          <a:p>
            <a:r>
              <a:rPr lang="ko-KR" altLang="en-US" sz="800" dirty="0"/>
              <a:t>컨텐츠 단에서 어디에서 누구를 어떻게 쪼개고 필터링 할 것인가에 대한 </a:t>
            </a:r>
            <a:r>
              <a:rPr lang="ko-KR" altLang="en-US" sz="800" dirty="0" err="1"/>
              <a:t>함수포인터를</a:t>
            </a:r>
            <a:r>
              <a:rPr lang="ko-KR" altLang="en-US" sz="800" dirty="0"/>
              <a:t> </a:t>
            </a:r>
            <a:r>
              <a:rPr lang="ko-KR" altLang="en-US" sz="800" dirty="0" err="1"/>
              <a:t>서버엔진쪽에</a:t>
            </a:r>
            <a:r>
              <a:rPr lang="ko-KR" altLang="en-US" sz="800" dirty="0"/>
              <a:t> 전달하는 식으로 동작한다</a:t>
            </a:r>
            <a:r>
              <a:rPr lang="en-US" altLang="ko-KR" sz="800" dirty="0"/>
              <a:t>.)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31F36A-642E-9414-9C14-E93E95F9A1DB}"/>
              </a:ext>
            </a:extLst>
          </p:cNvPr>
          <p:cNvSpPr txBox="1"/>
          <p:nvPr/>
        </p:nvSpPr>
        <p:spPr>
          <a:xfrm>
            <a:off x="741362" y="5098043"/>
            <a:ext cx="241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공간분할 </a:t>
            </a:r>
            <a:r>
              <a:rPr lang="en-US" altLang="ko-KR" sz="1000" dirty="0"/>
              <a:t>X</a:t>
            </a:r>
          </a:p>
          <a:p>
            <a:r>
              <a:rPr lang="ko-KR" altLang="en-US" sz="1000" dirty="0"/>
              <a:t>딜레이 약 </a:t>
            </a:r>
            <a:r>
              <a:rPr lang="en-US" altLang="ko-KR" sz="1000" dirty="0"/>
              <a:t>2000ms , CPU </a:t>
            </a:r>
            <a:r>
              <a:rPr lang="ko-KR" altLang="en-US" sz="1000" dirty="0"/>
              <a:t>사용량 </a:t>
            </a:r>
            <a:r>
              <a:rPr lang="en-US" altLang="ko-KR" sz="1000" dirty="0"/>
              <a:t>93%</a:t>
            </a:r>
            <a:endParaRPr lang="ko-KR" altLang="en-US" sz="1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1AA8F-0AB2-65A1-2C23-BCA9D39ED458}"/>
              </a:ext>
            </a:extLst>
          </p:cNvPr>
          <p:cNvSpPr txBox="1"/>
          <p:nvPr/>
        </p:nvSpPr>
        <p:spPr>
          <a:xfrm>
            <a:off x="4901708" y="5124713"/>
            <a:ext cx="24133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공간분할 </a:t>
            </a:r>
            <a:r>
              <a:rPr lang="en-US" altLang="ko-KR" sz="1000" dirty="0"/>
              <a:t>O</a:t>
            </a:r>
          </a:p>
          <a:p>
            <a:r>
              <a:rPr lang="ko-KR" altLang="en-US" sz="1000" dirty="0"/>
              <a:t>딜레이 약 </a:t>
            </a:r>
            <a:r>
              <a:rPr lang="en-US" altLang="ko-KR" sz="1000" dirty="0"/>
              <a:t>10ms , CPU </a:t>
            </a:r>
            <a:r>
              <a:rPr lang="ko-KR" altLang="en-US" sz="1000" dirty="0"/>
              <a:t>사용량 </a:t>
            </a:r>
            <a:r>
              <a:rPr lang="en-US" altLang="ko-KR" sz="1000" dirty="0"/>
              <a:t>63%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60947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2F2B9-6051-9998-F4F4-3DED651EB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312396"/>
            <a:ext cx="9071640" cy="609398"/>
          </a:xfrm>
        </p:spPr>
        <p:txBody>
          <a:bodyPr/>
          <a:lstStyle/>
          <a:p>
            <a:r>
              <a:rPr lang="en-US" altLang="ko-KR" dirty="0"/>
              <a:t>6. view list (</a:t>
            </a:r>
            <a:r>
              <a:rPr lang="ko-KR" altLang="en-US" dirty="0"/>
              <a:t>시야처리</a:t>
            </a:r>
            <a:r>
              <a:rPr lang="en-US" altLang="ko-KR" dirty="0"/>
              <a:t>)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D563F3-3A85-8524-D4C3-162CA9591D8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574983"/>
            <a:ext cx="9071640" cy="262627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성능을 위해 </a:t>
            </a:r>
            <a:r>
              <a:rPr lang="en-US" altLang="ko-KR" sz="1200" dirty="0"/>
              <a:t>Concurrency Visualizer</a:t>
            </a:r>
            <a:r>
              <a:rPr lang="ko-KR" altLang="en-US" sz="1200" dirty="0"/>
              <a:t>로 프로파일링 해본 결과 </a:t>
            </a:r>
            <a:r>
              <a:rPr lang="en-US" altLang="ko-KR" sz="1200" dirty="0"/>
              <a:t>Move</a:t>
            </a:r>
            <a:r>
              <a:rPr lang="ko-KR" altLang="en-US" sz="1200" dirty="0"/>
              <a:t>패킷 전달 시 발생하는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의 오버헤드가 가장 문제라고 판단하였다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하지만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함수는 내부 구현에 접근할 수 없어서 직접 최적화를 시도하는 것은 불가능하였다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따라서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의 호출 횟수를 줄이는 방향으로 접근하였고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각 </a:t>
            </a:r>
            <a:r>
              <a:rPr lang="en-US" altLang="ko-KR" sz="1200" dirty="0"/>
              <a:t>Player</a:t>
            </a:r>
            <a:r>
              <a:rPr lang="ko-KR" altLang="en-US" sz="1200" dirty="0"/>
              <a:t>마다 자신의 시야에 존재하는 오브젝트들을 관리하는 자료구조를 두어 이 자료구조에 존재하는 오브젝트에 대해서만 </a:t>
            </a:r>
            <a:r>
              <a:rPr lang="en-US" altLang="ko-KR" sz="1200" dirty="0" err="1"/>
              <a:t>WSASend</a:t>
            </a:r>
            <a:r>
              <a:rPr lang="ko-KR" altLang="en-US" sz="1200" dirty="0"/>
              <a:t>를 호출하도록 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이 자료구조를 업데이트 할 때 순회와 검색이 둘 다 많이 발생하여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와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조합해 메모리에서 연속적인 구조를 유지하면서도 검색</a:t>
            </a:r>
            <a:r>
              <a:rPr lang="en-US" altLang="ko-KR" sz="1200" dirty="0"/>
              <a:t>/</a:t>
            </a:r>
            <a:r>
              <a:rPr lang="ko-KR" altLang="en-US" sz="1200" dirty="0"/>
              <a:t>삽입</a:t>
            </a:r>
            <a:r>
              <a:rPr lang="en-US" altLang="ko-KR" sz="1200" dirty="0"/>
              <a:t>/</a:t>
            </a:r>
            <a:r>
              <a:rPr lang="ko-KR" altLang="en-US" sz="1200" dirty="0"/>
              <a:t>삭제에 </a:t>
            </a:r>
            <a:r>
              <a:rPr lang="en-US" altLang="ko-KR" sz="1200" dirty="0"/>
              <a:t>O(1) </a:t>
            </a:r>
            <a:r>
              <a:rPr lang="ko-KR" altLang="en-US" sz="1200" dirty="0" err="1"/>
              <a:t>시간복잡도를</a:t>
            </a:r>
            <a:r>
              <a:rPr lang="ko-KR" altLang="en-US" sz="1200" dirty="0"/>
              <a:t> 가진 자료구조를 제작하였다</a:t>
            </a:r>
            <a:r>
              <a:rPr lang="en-US" altLang="ko-KR" sz="1200" dirty="0"/>
              <a:t>.</a:t>
            </a:r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코드는 </a:t>
            </a:r>
            <a:r>
              <a:rPr lang="en-US" altLang="ko-KR" sz="1000" dirty="0" err="1"/>
              <a:t>MoveBroadcaster.h</a:t>
            </a:r>
            <a:r>
              <a:rPr lang="en-US" altLang="ko-KR" sz="1000" dirty="0"/>
              <a:t> /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/>
              <a:t>VectorHash.hpp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236A5B1F-0A80-26FF-DC97-ED088FC82685}"/>
              </a:ext>
            </a:extLst>
          </p:cNvPr>
          <p:cNvSpPr txBox="1">
            <a:spLocks/>
          </p:cNvSpPr>
          <p:nvPr/>
        </p:nvSpPr>
        <p:spPr>
          <a:xfrm>
            <a:off x="299213" y="115484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6122EC0-99C6-5230-431D-160C2E8E1E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25" y="2873620"/>
            <a:ext cx="4596637" cy="23508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F91431-4069-D442-E87B-82B76392C398}"/>
              </a:ext>
            </a:extLst>
          </p:cNvPr>
          <p:cNvSpPr txBox="1"/>
          <p:nvPr/>
        </p:nvSpPr>
        <p:spPr>
          <a:xfrm>
            <a:off x="94425" y="5270440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Concurrency Visualizer</a:t>
            </a:r>
            <a:r>
              <a:rPr lang="ko-KR" altLang="en-US" sz="1000" dirty="0"/>
              <a:t>를 이용한 </a:t>
            </a:r>
            <a:r>
              <a:rPr lang="en-US" altLang="ko-KR" sz="1000" dirty="0" err="1"/>
              <a:t>view_list</a:t>
            </a:r>
            <a:r>
              <a:rPr lang="en-US" altLang="ko-KR" sz="1000" dirty="0"/>
              <a:t> </a:t>
            </a:r>
            <a:r>
              <a:rPr lang="ko-KR" altLang="en-US" sz="1000" dirty="0"/>
              <a:t>적용 전 성능분석 결과</a:t>
            </a:r>
            <a:endParaRPr lang="en-US" altLang="ko-KR" sz="1000" dirty="0"/>
          </a:p>
          <a:p>
            <a:r>
              <a:rPr lang="en-US" altLang="ko-KR" sz="1000" dirty="0"/>
              <a:t>Send</a:t>
            </a:r>
            <a:r>
              <a:rPr lang="ko-KR" altLang="en-US" sz="1000" dirty="0"/>
              <a:t>관련 함수의 오버헤드가 가장 높게 측정되었다</a:t>
            </a:r>
            <a:r>
              <a:rPr lang="en-US" altLang="ko-KR" sz="1000" dirty="0"/>
              <a:t>. (</a:t>
            </a:r>
            <a:r>
              <a:rPr lang="ko-KR" altLang="en-US" sz="1000" dirty="0"/>
              <a:t>약 </a:t>
            </a:r>
            <a:r>
              <a:rPr lang="en-US" altLang="ko-KR" sz="1000" dirty="0"/>
              <a:t>40%</a:t>
            </a:r>
            <a:r>
              <a:rPr lang="ko-KR" altLang="en-US" sz="1000" dirty="0"/>
              <a:t>의 지분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9176921-1FE4-9E8C-2555-72E4266C66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850" y="2854447"/>
            <a:ext cx="4475988" cy="238918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753236-5A66-9E05-8E08-69B7498490A4}"/>
              </a:ext>
            </a:extLst>
          </p:cNvPr>
          <p:cNvSpPr txBox="1"/>
          <p:nvPr/>
        </p:nvSpPr>
        <p:spPr>
          <a:xfrm>
            <a:off x="4895850" y="5280668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시야처리 전 </a:t>
            </a:r>
            <a:r>
              <a:rPr lang="en-US" altLang="ko-KR" sz="1000" dirty="0"/>
              <a:t>2</a:t>
            </a:r>
            <a:r>
              <a:rPr lang="ko-KR" altLang="en-US" sz="1000" dirty="0"/>
              <a:t>천명의 더미 클라이언트 부하테스트 결과</a:t>
            </a:r>
            <a:endParaRPr lang="en-US" altLang="ko-KR" sz="1000" dirty="0"/>
          </a:p>
          <a:p>
            <a:r>
              <a:rPr lang="ko-KR" altLang="en-US" sz="1000" dirty="0"/>
              <a:t>약 </a:t>
            </a:r>
            <a:r>
              <a:rPr lang="en-US" altLang="ko-KR" sz="1000" dirty="0"/>
              <a:t>160ms</a:t>
            </a:r>
            <a:r>
              <a:rPr lang="ko-KR" altLang="en-US" sz="1000" dirty="0"/>
              <a:t>의 딜레이와 </a:t>
            </a:r>
            <a:r>
              <a:rPr lang="en-US" altLang="ko-KR" sz="1000" dirty="0"/>
              <a:t>92%</a:t>
            </a:r>
            <a:r>
              <a:rPr lang="ko-KR" altLang="en-US" sz="1000" dirty="0"/>
              <a:t>의 </a:t>
            </a:r>
            <a:r>
              <a:rPr lang="en-US" altLang="ko-KR" sz="1000" dirty="0"/>
              <a:t>CPU </a:t>
            </a:r>
            <a:r>
              <a:rPr lang="ko-KR" altLang="en-US" sz="1000" dirty="0"/>
              <a:t>사용량</a:t>
            </a:r>
          </a:p>
        </p:txBody>
      </p:sp>
    </p:spTree>
    <p:extLst>
      <p:ext uri="{BB962C8B-B14F-4D97-AF65-F5344CB8AC3E}">
        <p14:creationId xmlns:p14="http://schemas.microsoft.com/office/powerpoint/2010/main" val="34432000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8747F84-6D0B-5A0A-D647-0E2BBEC5BF5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B961FE-EE1F-CC8E-4912-64C73AAE27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9" y="483479"/>
            <a:ext cx="4559299" cy="237227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82D56A9-3924-B275-6AF6-7EEAC7CE1B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793" y="3051177"/>
            <a:ext cx="4610100" cy="2120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6096858-7852-8323-2059-C16831A6BC58}"/>
              </a:ext>
            </a:extLst>
          </p:cNvPr>
          <p:cNvSpPr txBox="1"/>
          <p:nvPr/>
        </p:nvSpPr>
        <p:spPr>
          <a:xfrm>
            <a:off x="5211793" y="5171217"/>
            <a:ext cx="42719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시야리스트 업데이트 알고리즘의 수도코드</a:t>
            </a:r>
            <a:endParaRPr lang="en-US" altLang="ko-KR" sz="1000" dirty="0"/>
          </a:p>
          <a:p>
            <a:r>
              <a:rPr lang="ko-KR" altLang="en-US" sz="1000" dirty="0"/>
              <a:t>상세한 코드는 </a:t>
            </a:r>
            <a:r>
              <a:rPr lang="en-US" altLang="ko-KR" sz="1000" dirty="0"/>
              <a:t>MoveBroadcaster.cpp</a:t>
            </a:r>
            <a:r>
              <a:rPr lang="ko-KR" altLang="en-US" sz="1000" dirty="0"/>
              <a:t> 참조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A00D2D-4E52-60D0-0D10-9EE4708E6C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2700" y="99223"/>
            <a:ext cx="4848286" cy="25201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82D61F-9F8B-E4E5-ABEC-5E174BFDDA0C}"/>
              </a:ext>
            </a:extLst>
          </p:cNvPr>
          <p:cNvSpPr txBox="1"/>
          <p:nvPr/>
        </p:nvSpPr>
        <p:spPr>
          <a:xfrm>
            <a:off x="119859" y="2835275"/>
            <a:ext cx="42719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시야처리 적용 후 개선된 프로파일링 결과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24459A-9739-4909-A951-BDD24A50E197}"/>
              </a:ext>
            </a:extLst>
          </p:cNvPr>
          <p:cNvSpPr txBox="1"/>
          <p:nvPr/>
        </p:nvSpPr>
        <p:spPr>
          <a:xfrm>
            <a:off x="5597494" y="2651067"/>
            <a:ext cx="42719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더미클라이언트</a:t>
            </a:r>
            <a:r>
              <a:rPr lang="ko-KR" altLang="en-US" sz="1000" dirty="0"/>
              <a:t> </a:t>
            </a:r>
            <a:r>
              <a:rPr lang="en-US" altLang="ko-KR" sz="1000" dirty="0"/>
              <a:t>5</a:t>
            </a:r>
            <a:r>
              <a:rPr lang="ko-KR" altLang="en-US" sz="1000" dirty="0"/>
              <a:t>천명 수준에서 </a:t>
            </a:r>
            <a:r>
              <a:rPr lang="en-US" altLang="ko-KR" sz="1000" dirty="0"/>
              <a:t>10ms </a:t>
            </a:r>
            <a:r>
              <a:rPr lang="ko-KR" altLang="en-US" sz="1000" dirty="0"/>
              <a:t>딜레이와 </a:t>
            </a:r>
            <a:r>
              <a:rPr lang="en-US" altLang="ko-KR" sz="1000" dirty="0"/>
              <a:t>41%</a:t>
            </a:r>
            <a:r>
              <a:rPr lang="ko-KR" altLang="en-US" sz="1000" dirty="0"/>
              <a:t>의 </a:t>
            </a:r>
            <a:r>
              <a:rPr lang="en-US" altLang="ko-KR" sz="1000" dirty="0"/>
              <a:t>CPU </a:t>
            </a:r>
            <a:r>
              <a:rPr lang="ko-KR" altLang="en-US" sz="1000" dirty="0"/>
              <a:t>사용량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7DC54C8-2093-4710-421A-96E06413C9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48150"/>
            <a:ext cx="4491038" cy="110347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1BB91BA-9F42-97AB-4E64-26E2F9DD82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20039"/>
            <a:ext cx="4491037" cy="122811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4F27B04-CF3D-AD6F-871A-4738C6B8478B}"/>
              </a:ext>
            </a:extLst>
          </p:cNvPr>
          <p:cNvSpPr txBox="1"/>
          <p:nvPr/>
        </p:nvSpPr>
        <p:spPr>
          <a:xfrm>
            <a:off x="-68262" y="5351621"/>
            <a:ext cx="5230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vector</a:t>
            </a:r>
            <a:r>
              <a:rPr lang="ko-KR" altLang="en-US" sz="1000" dirty="0"/>
              <a:t>와 해시테이블을 같이 이용하여 메모리에서 연속적인 구조를 유지하면서 검색</a:t>
            </a:r>
            <a:r>
              <a:rPr lang="en-US" altLang="ko-KR" sz="1000" dirty="0"/>
              <a:t>/</a:t>
            </a:r>
            <a:r>
              <a:rPr lang="ko-KR" altLang="en-US" sz="1000" dirty="0"/>
              <a:t>삽입</a:t>
            </a:r>
            <a:r>
              <a:rPr lang="en-US" altLang="ko-KR" sz="1000" dirty="0"/>
              <a:t>/</a:t>
            </a:r>
            <a:r>
              <a:rPr lang="ko-KR" altLang="en-US" sz="1000" dirty="0"/>
              <a:t>삭제에 </a:t>
            </a:r>
            <a:r>
              <a:rPr lang="en-US" altLang="ko-KR" sz="1000" dirty="0"/>
              <a:t>O(1) </a:t>
            </a:r>
            <a:r>
              <a:rPr lang="ko-KR" altLang="en-US" sz="1000" dirty="0" err="1"/>
              <a:t>시간복잡도를</a:t>
            </a:r>
            <a:r>
              <a:rPr lang="ko-KR" altLang="en-US" sz="1000" dirty="0"/>
              <a:t> 가진 커스텀 자료구조 </a:t>
            </a:r>
            <a:r>
              <a:rPr lang="en-US" altLang="ko-KR" sz="1000" dirty="0"/>
              <a:t>(VectorHash.hpp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  <a:r>
              <a:rPr lang="ko-KR" alt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938749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04F694-6EB7-0B18-DC21-2ACA7E39E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166" y="108851"/>
            <a:ext cx="9071640" cy="524562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기타 구현 내용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73FF06-3B31-ECEA-32CD-CD78FBB3BF6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0166" y="547001"/>
            <a:ext cx="9071640" cy="477996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ko-KR" sz="4800" dirty="0"/>
              <a:t>1. DB</a:t>
            </a:r>
            <a:r>
              <a:rPr lang="ko-KR" altLang="en-US" sz="4800" dirty="0"/>
              <a:t> 쿼리서버</a:t>
            </a:r>
            <a:endParaRPr lang="en-US" altLang="ko-KR" sz="4800" dirty="0"/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en-US" altLang="ko-KR" sz="4800" dirty="0"/>
              <a:t>DB</a:t>
            </a:r>
            <a:r>
              <a:rPr lang="ko-KR" altLang="en-US" sz="4800" dirty="0"/>
              <a:t>관련 로직을 수행하는 서버를 따로 제작하여 메인 서버는 해당 서버의 소켓으로 관련 요청만 보내게 함으로써 메인 서버의 부하를 감소시켰다</a:t>
            </a:r>
            <a:r>
              <a:rPr lang="en-US" altLang="ko-KR" sz="4800" dirty="0"/>
              <a:t>. (</a:t>
            </a:r>
            <a:r>
              <a:rPr lang="ko-KR" altLang="en-US" sz="4800" dirty="0"/>
              <a:t>첨부된 </a:t>
            </a:r>
            <a:r>
              <a:rPr lang="en-US" altLang="ko-KR" sz="4800" dirty="0"/>
              <a:t>Git</a:t>
            </a:r>
            <a:r>
              <a:rPr lang="ko-KR" altLang="en-US" sz="4800" dirty="0"/>
              <a:t>의 </a:t>
            </a:r>
            <a:r>
              <a:rPr lang="en-US" altLang="ko-KR" sz="4800" dirty="0" err="1"/>
              <a:t>DBQueryServer</a:t>
            </a:r>
            <a:r>
              <a:rPr lang="en-US" altLang="ko-KR" sz="4800" dirty="0"/>
              <a:t> </a:t>
            </a:r>
            <a:r>
              <a:rPr lang="ko-KR" altLang="en-US" sz="4800" dirty="0"/>
              <a:t>솔루션 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2. </a:t>
            </a:r>
            <a:r>
              <a:rPr lang="ko-KR" altLang="en-US" sz="4800" dirty="0" err="1"/>
              <a:t>행동트리</a:t>
            </a:r>
            <a:r>
              <a:rPr lang="ko-KR" altLang="en-US" sz="4800" dirty="0"/>
              <a:t> 및 </a:t>
            </a:r>
            <a:r>
              <a:rPr lang="en-US" altLang="ko-KR" sz="4800" dirty="0"/>
              <a:t>FSM</a:t>
            </a:r>
            <a:r>
              <a:rPr lang="ko-KR" altLang="en-US" sz="4800" dirty="0"/>
              <a:t>을 이용한 몬스터 </a:t>
            </a:r>
            <a:r>
              <a:rPr lang="en-US" altLang="ko-KR" sz="4800" dirty="0"/>
              <a:t>AI</a:t>
            </a: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sz="4800" dirty="0" err="1"/>
              <a:t>행동트리</a:t>
            </a:r>
            <a:r>
              <a:rPr lang="ko-KR" altLang="en-US" sz="4800" dirty="0"/>
              <a:t> 프레임워크를 직접 제작하여 보스와 같은 복잡한 몬스터는 </a:t>
            </a:r>
            <a:r>
              <a:rPr lang="ko-KR" altLang="en-US" sz="4800" dirty="0" err="1"/>
              <a:t>행동트리를</a:t>
            </a:r>
            <a:r>
              <a:rPr lang="en-US" altLang="ko-KR" sz="4800" dirty="0"/>
              <a:t>, </a:t>
            </a:r>
            <a:r>
              <a:rPr lang="ko-KR" altLang="en-US" sz="4800" dirty="0"/>
              <a:t>간단한 일반 몬스터의 경우 </a:t>
            </a:r>
            <a:r>
              <a:rPr lang="en-US" altLang="ko-KR" sz="4800" dirty="0"/>
              <a:t>FSM</a:t>
            </a:r>
            <a:r>
              <a:rPr lang="ko-KR" altLang="en-US" sz="4800" dirty="0"/>
              <a:t>을 이용한 몬스터 </a:t>
            </a:r>
            <a:r>
              <a:rPr lang="en-US" altLang="ko-KR" sz="4800" dirty="0"/>
              <a:t>AI</a:t>
            </a:r>
            <a:r>
              <a:rPr lang="ko-KR" altLang="en-US" sz="4800" dirty="0"/>
              <a:t>를 구현하였다</a:t>
            </a:r>
            <a:r>
              <a:rPr lang="en-US" altLang="ko-KR" sz="4800" dirty="0"/>
              <a:t>. ( </a:t>
            </a:r>
            <a:r>
              <a:rPr lang="en-US" altLang="ko-KR" sz="4800" dirty="0" err="1"/>
              <a:t>TickTimer.h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BehaviorTree.hpp , </a:t>
            </a:r>
            <a:r>
              <a:rPr lang="en-US" altLang="ko-KR" sz="4800" dirty="0" err="1"/>
              <a:t>ContentsBehaviorNode.h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BossBehaviorNode.h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3. </a:t>
            </a:r>
            <a:r>
              <a:rPr lang="ko-KR" altLang="en-US" sz="4800" dirty="0"/>
              <a:t>채널 및 인스턴스 던전 구조</a:t>
            </a:r>
            <a:endParaRPr lang="en-US" altLang="ko-KR" sz="4800" dirty="0"/>
          </a:p>
          <a:p>
            <a:pPr>
              <a:lnSpc>
                <a:spcPct val="17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유저를 분산시키기 위한 채널 및 파티 퀘스트 수행을 위한 인스턴스 던전을 구현하였다</a:t>
            </a:r>
            <a:r>
              <a:rPr lang="en-US" altLang="ko-KR" sz="4800" dirty="0"/>
              <a:t>. (</a:t>
            </a:r>
            <a:r>
              <a:rPr lang="en-US" altLang="ko-KR" sz="4800" dirty="0" err="1"/>
              <a:t>PartyQuestSystem.h</a:t>
            </a:r>
            <a:r>
              <a:rPr lang="en-US" altLang="ko-KR" sz="4800" dirty="0"/>
              <a:t>  / </a:t>
            </a:r>
            <a:r>
              <a:rPr lang="en-US" altLang="ko-KR" sz="4800" dirty="0" err="1"/>
              <a:t>cpp</a:t>
            </a:r>
            <a:r>
              <a:rPr lang="ko-KR" altLang="en-US" sz="4800" dirty="0"/>
              <a:t> </a:t>
            </a:r>
            <a:r>
              <a:rPr lang="en-US" altLang="ko-KR" sz="4800" dirty="0"/>
              <a:t>, </a:t>
            </a:r>
            <a:r>
              <a:rPr lang="en-US" altLang="ko-KR" sz="4800" dirty="0" err="1"/>
              <a:t>FieldMgr.h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4. </a:t>
            </a:r>
            <a:r>
              <a:rPr lang="ko-KR" altLang="en-US" sz="4800" dirty="0"/>
              <a:t>파티 퀘스트 컨텐츠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인스턴스 던전에서 수행할 파티 퀘스트 컨텐츠들을 구현하였다</a:t>
            </a:r>
            <a:r>
              <a:rPr lang="en-US" altLang="ko-KR" sz="4800" dirty="0"/>
              <a:t>. (NPC</a:t>
            </a:r>
            <a:r>
              <a:rPr lang="ko-KR" altLang="en-US" sz="4800" dirty="0"/>
              <a:t> </a:t>
            </a:r>
            <a:r>
              <a:rPr lang="ko-KR" altLang="en-US" sz="4800" dirty="0" err="1"/>
              <a:t>호위퀘스트</a:t>
            </a:r>
            <a:r>
              <a:rPr lang="en-US" altLang="ko-KR" sz="4800" dirty="0"/>
              <a:t>, </a:t>
            </a:r>
            <a:r>
              <a:rPr lang="ko-KR" altLang="en-US" sz="4800" dirty="0"/>
              <a:t>사냥 퀘스트</a:t>
            </a:r>
            <a:r>
              <a:rPr lang="en-US" altLang="ko-KR" sz="4800" dirty="0"/>
              <a:t>, </a:t>
            </a:r>
            <a:r>
              <a:rPr lang="ko-KR" altLang="en-US" sz="4800" dirty="0"/>
              <a:t>침투 퀘스트</a:t>
            </a:r>
            <a:r>
              <a:rPr lang="en-US" altLang="ko-KR" sz="4800" dirty="0"/>
              <a:t>) (</a:t>
            </a:r>
            <a:r>
              <a:rPr lang="en-US" altLang="ko-KR" sz="4800" dirty="0" err="1"/>
              <a:t>QuestRoom.h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 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5. </a:t>
            </a:r>
            <a:r>
              <a:rPr lang="ko-KR" altLang="en-US" sz="4800" dirty="0"/>
              <a:t>파티시스템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수락 </a:t>
            </a:r>
            <a:r>
              <a:rPr lang="en-US" altLang="ko-KR" sz="4800" dirty="0"/>
              <a:t>, </a:t>
            </a:r>
            <a:r>
              <a:rPr lang="ko-KR" altLang="en-US" sz="4800" dirty="0"/>
              <a:t>거절이 가능하며 파티 퀘스트 수행 도중 파티장이 나간다면 그 다음 유저가 자동으로 파티장이 되는 파티 시스템을 구현하였다</a:t>
            </a:r>
            <a:r>
              <a:rPr lang="en-US" altLang="ko-KR" sz="4800" dirty="0"/>
              <a:t>. (</a:t>
            </a:r>
            <a:r>
              <a:rPr lang="en-US" altLang="ko-KR" sz="4800" dirty="0" err="1"/>
              <a:t>PartyQuestSystem.h</a:t>
            </a:r>
            <a:r>
              <a:rPr lang="en-US" altLang="ko-KR" sz="4800" dirty="0"/>
              <a:t>  / </a:t>
            </a:r>
            <a:r>
              <a:rPr lang="en-US" altLang="ko-KR" sz="4800" dirty="0" err="1"/>
              <a:t>cpp</a:t>
            </a:r>
            <a:r>
              <a:rPr lang="ko-KR" altLang="en-US" sz="4800" dirty="0"/>
              <a:t> 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6. </a:t>
            </a:r>
            <a:r>
              <a:rPr lang="ko-KR" altLang="en-US" sz="4800" dirty="0"/>
              <a:t>움직임 보간 시스템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ko-KR" altLang="en-US" sz="4800" dirty="0"/>
              <a:t>클라이언트 사이드에서 다른 유저의 위치 동기화를 </a:t>
            </a:r>
            <a:r>
              <a:rPr lang="en-US" altLang="ko-KR" sz="4800" dirty="0"/>
              <a:t>0.1</a:t>
            </a:r>
            <a:r>
              <a:rPr lang="ko-KR" altLang="en-US" sz="4800" dirty="0"/>
              <a:t>초 </a:t>
            </a:r>
            <a:r>
              <a:rPr lang="en-US" altLang="ko-KR" sz="4800" dirty="0"/>
              <a:t>~ 0.5</a:t>
            </a:r>
            <a:r>
              <a:rPr lang="ko-KR" altLang="en-US" sz="4800" dirty="0"/>
              <a:t>초에 한번만 해도 자연스럽게 보이도록 보간 시스템을 구현하였다</a:t>
            </a:r>
            <a:r>
              <a:rPr lang="en-US" altLang="ko-KR" sz="4800" dirty="0"/>
              <a:t>. (</a:t>
            </a:r>
            <a:r>
              <a:rPr lang="ko-KR" altLang="en-US" sz="4800" dirty="0"/>
              <a:t>서버 부하 감소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 (</a:t>
            </a:r>
            <a:r>
              <a:rPr lang="ko-KR" altLang="en-US" sz="4800" dirty="0"/>
              <a:t>클라이언트 쪽 솔루션의 </a:t>
            </a:r>
            <a:r>
              <a:rPr lang="en-US" altLang="ko-KR" sz="4800" dirty="0" err="1"/>
              <a:t>MovePacketSender.h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MoveInterpolator.h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Interpolator.hpp </a:t>
            </a:r>
            <a:r>
              <a:rPr lang="ko-KR" altLang="en-US" sz="4800" dirty="0"/>
              <a:t>참조</a:t>
            </a:r>
            <a:r>
              <a:rPr lang="en-US" altLang="ko-KR" sz="4800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7. </a:t>
            </a:r>
            <a:r>
              <a:rPr lang="ko-KR" altLang="en-US" sz="4800" dirty="0"/>
              <a:t>클라이언트 사이드에서의 네트워크 관련 로직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 - </a:t>
            </a:r>
            <a:r>
              <a:rPr lang="ko-KR" altLang="en-US" sz="4800" dirty="0"/>
              <a:t>클라이언트 사이드에서 연결 및 패킷 송수신 로직을 구현하고</a:t>
            </a:r>
            <a:r>
              <a:rPr lang="en-US" altLang="ko-KR" sz="4800" dirty="0"/>
              <a:t>, </a:t>
            </a:r>
            <a:r>
              <a:rPr lang="ko-KR" altLang="en-US" sz="4800" dirty="0"/>
              <a:t>서버로부터 전달되는 유저</a:t>
            </a:r>
            <a:r>
              <a:rPr lang="en-US" altLang="ko-KR" sz="4800" dirty="0"/>
              <a:t>·</a:t>
            </a:r>
            <a:r>
              <a:rPr lang="ko-KR" altLang="en-US" sz="4800" dirty="0"/>
              <a:t>몬스터</a:t>
            </a:r>
            <a:r>
              <a:rPr lang="en-US" altLang="ko-KR" sz="4800" dirty="0"/>
              <a:t>·</a:t>
            </a:r>
            <a:r>
              <a:rPr lang="ko-KR" altLang="en-US" sz="4800" dirty="0"/>
              <a:t>각종 컨텐츠 정보들을 동기화하였다</a:t>
            </a:r>
            <a:r>
              <a:rPr lang="en-US" altLang="ko-KR" sz="4800" dirty="0"/>
              <a:t>.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(</a:t>
            </a:r>
            <a:r>
              <a:rPr lang="en-US" altLang="ko-KR" sz="4800" dirty="0" err="1"/>
              <a:t>ServerObjectMgr.h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ServerObject.h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, </a:t>
            </a:r>
            <a:r>
              <a:rPr lang="en-US" altLang="ko-KR" sz="4800" dirty="0" err="1"/>
              <a:t>ServerComponent.h</a:t>
            </a:r>
            <a:r>
              <a:rPr lang="en-US" altLang="ko-KR" sz="4800" dirty="0"/>
              <a:t> / </a:t>
            </a:r>
            <a:r>
              <a:rPr lang="en-US" altLang="ko-KR" sz="4800" dirty="0" err="1"/>
              <a:t>cpp</a:t>
            </a:r>
            <a:r>
              <a:rPr lang="en-US" altLang="ko-KR" sz="4800" dirty="0"/>
              <a:t> </a:t>
            </a:r>
            <a:r>
              <a:rPr lang="ko-KR" altLang="en-US" sz="4800" dirty="0"/>
              <a:t>참조</a:t>
            </a:r>
            <a:r>
              <a:rPr lang="en-US" altLang="ko-KR" sz="4800" dirty="0"/>
              <a:t>) </a:t>
            </a:r>
          </a:p>
          <a:p>
            <a:pPr>
              <a:lnSpc>
                <a:spcPct val="120000"/>
              </a:lnSpc>
            </a:pPr>
            <a:r>
              <a:rPr lang="en-US" altLang="ko-KR" sz="4800" dirty="0"/>
              <a:t>8. </a:t>
            </a:r>
            <a:r>
              <a:rPr lang="en-US" altLang="ko-KR" sz="4800" dirty="0" err="1"/>
              <a:t>FlatBuffers</a:t>
            </a:r>
            <a:r>
              <a:rPr lang="en-US" altLang="ko-KR" sz="4800" dirty="0"/>
              <a:t> </a:t>
            </a:r>
            <a:r>
              <a:rPr lang="ko-KR" altLang="en-US" sz="4800" dirty="0"/>
              <a:t>라이브러리 및 자동화 툴 제작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sz="4800" dirty="0"/>
              <a:t>- </a:t>
            </a:r>
            <a:r>
              <a:rPr lang="en-US" altLang="ko-KR" sz="4800" dirty="0" err="1"/>
              <a:t>FlatBuffers</a:t>
            </a:r>
            <a:r>
              <a:rPr lang="en-US" altLang="ko-KR" sz="4800" dirty="0"/>
              <a:t> </a:t>
            </a:r>
            <a:r>
              <a:rPr lang="ko-KR" altLang="en-US" sz="4800" dirty="0"/>
              <a:t>라이브러리를 이용하여 프로토콜 및 패킷을 정의하였고 이를 간편하게 사용하기 위해 </a:t>
            </a:r>
            <a:r>
              <a:rPr lang="ko-KR" altLang="en-US" sz="4800" dirty="0" err="1"/>
              <a:t>파이썬과</a:t>
            </a:r>
            <a:r>
              <a:rPr lang="ko-KR" altLang="en-US" sz="4800" dirty="0"/>
              <a:t> </a:t>
            </a:r>
            <a:r>
              <a:rPr lang="en-US" altLang="ko-KR" sz="4800" dirty="0"/>
              <a:t>Jinja2 </a:t>
            </a:r>
            <a:r>
              <a:rPr lang="ko-KR" altLang="en-US" sz="4800" dirty="0"/>
              <a:t>라이브러리를 이용한 툴을 제작해 프로토콜 및 패킷 작성을 자동화하였다</a:t>
            </a:r>
            <a:r>
              <a:rPr lang="en-US" altLang="ko-KR" sz="4800" dirty="0"/>
              <a:t>.</a:t>
            </a:r>
            <a:r>
              <a:rPr lang="ko-KR" altLang="en-US" sz="4800" dirty="0"/>
              <a:t> </a:t>
            </a:r>
            <a:endParaRPr lang="en-US" altLang="ko-KR" sz="4800" dirty="0"/>
          </a:p>
          <a:p>
            <a:pPr>
              <a:lnSpc>
                <a:spcPct val="120000"/>
              </a:lnSpc>
            </a:pPr>
            <a:r>
              <a:rPr lang="en-US" altLang="ko-KR" dirty="0"/>
              <a:t>9. </a:t>
            </a:r>
            <a:r>
              <a:rPr lang="ko-KR" altLang="en-US" dirty="0"/>
              <a:t>더미 클라이언트를 이용한 부하 테스트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- </a:t>
            </a:r>
            <a:r>
              <a:rPr lang="ko-KR" altLang="en-US" dirty="0"/>
              <a:t>단순한 랜덤 움직임이 아닌 가까운 채집물들 중 </a:t>
            </a:r>
            <a:r>
              <a:rPr lang="en-US" altLang="ko-KR" dirty="0"/>
              <a:t>k</a:t>
            </a:r>
            <a:r>
              <a:rPr lang="ko-KR" altLang="en-US" dirty="0"/>
              <a:t>번째로 가까운 채집물을 향해 채집을 시도하고</a:t>
            </a:r>
            <a:r>
              <a:rPr lang="en-US" altLang="ko-KR" dirty="0"/>
              <a:t>, </a:t>
            </a:r>
            <a:r>
              <a:rPr lang="ko-KR" altLang="en-US" dirty="0"/>
              <a:t>공격 및 스킬을 사용하여 간단한 전투가 가능한 </a:t>
            </a:r>
            <a:r>
              <a:rPr lang="ko-KR" altLang="en-US" dirty="0" err="1"/>
              <a:t>더미클라이언트를</a:t>
            </a:r>
            <a:r>
              <a:rPr lang="ko-KR" altLang="en-US" dirty="0"/>
              <a:t> 이용해 서버의 안정성 테스트 및 성능 측정이 가능하도록 하였다</a:t>
            </a:r>
            <a:r>
              <a:rPr lang="en-US" altLang="ko-KR" dirty="0"/>
              <a:t>. (</a:t>
            </a:r>
            <a:r>
              <a:rPr lang="en-US" altLang="ko-KR" dirty="0" err="1"/>
              <a:t>StressTest</a:t>
            </a:r>
            <a:r>
              <a:rPr lang="en-US" altLang="ko-KR" dirty="0"/>
              <a:t> </a:t>
            </a:r>
            <a:r>
              <a:rPr lang="ko-KR" altLang="en-US" dirty="0"/>
              <a:t>솔루션 참조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03311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6C747C9-643B-D887-A6DA-E2819B12E8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051841"/>
              </p:ext>
            </p:extLst>
          </p:nvPr>
        </p:nvGraphicFramePr>
        <p:xfrm>
          <a:off x="4400550" y="71349"/>
          <a:ext cx="5520592" cy="660587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14796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105796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33137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Cave Game (</a:t>
                      </a:r>
                      <a:r>
                        <a:rPr lang="ko-KR" altLang="en-US" sz="1600" dirty="0"/>
                        <a:t>마인크래프트 모작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36150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인칭 어드벤처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샌드박스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게임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33137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2024.10 ~ 2024.12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33137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</a:t>
                      </a:r>
                      <a:r>
                        <a:rPr lang="ko-KR" altLang="en-US" sz="1600" dirty="0"/>
                        <a:t>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0822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OpenGL, </a:t>
                      </a:r>
                      <a:r>
                        <a:rPr lang="en-US" altLang="ko-KR" sz="1600" dirty="0" err="1"/>
                        <a:t>WSAPoll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250100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OpenGL </a:t>
                      </a:r>
                      <a:r>
                        <a:rPr lang="ko-KR" altLang="en-US" sz="1100" dirty="0"/>
                        <a:t>기반 클라이언트 프레임워크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 err="1"/>
                        <a:t>WSAPoll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기반 서버 프레임워크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클라이언트 사이드에서 연결 및 패킷 송수신 로직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서버로부터 전달되는 유저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몬스터</a:t>
                      </a:r>
                      <a:r>
                        <a:rPr lang="en-US" altLang="ko-KR" sz="1100" dirty="0"/>
                        <a:t>·</a:t>
                      </a:r>
                      <a:r>
                        <a:rPr lang="ko-KR" altLang="en-US" sz="1100" dirty="0"/>
                        <a:t>각종 컨텐츠 정보를 동기화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프로토콜 및 패킷 설계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FSM</a:t>
                      </a:r>
                      <a:r>
                        <a:rPr lang="ko-KR" altLang="en-US" sz="1100" dirty="0"/>
                        <a:t> 기반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차원 배열을 이용한 </a:t>
                      </a:r>
                      <a:r>
                        <a:rPr lang="en-US" altLang="ko-KR" sz="1100" dirty="0"/>
                        <a:t>A* </a:t>
                      </a:r>
                      <a:r>
                        <a:rPr lang="ko-KR" altLang="en-US" sz="1100" dirty="0"/>
                        <a:t>길 찾기 알고리즘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보스 몬스터 패턴 및 </a:t>
                      </a:r>
                      <a:r>
                        <a:rPr lang="ko-KR" altLang="en-US" sz="1100" dirty="0" err="1"/>
                        <a:t>베지어</a:t>
                      </a:r>
                      <a:r>
                        <a:rPr lang="ko-KR" altLang="en-US" sz="1100" dirty="0"/>
                        <a:t> 곡선을 이용한 이동 로직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유저간 입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퇴장 및 이동 동기화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투사체 로직 및 충돌검사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아이템 드랍 및 획득 로직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57238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hlinkClick r:id="rId2"/>
                        </a:rPr>
                        <a:t>https://github.com/hypernagox/NetworkGameProgramming-TermProject2024</a:t>
                      </a:r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33137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노션링크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hlinkClick r:id="rId3"/>
                        </a:rPr>
                        <a:t>https://www.notion.so/140c647a121b80019b76c5ce137b0375?v=10fc4f4363444003ae3252645a791d0d&amp;source=copy_link</a:t>
                      </a:r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69506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스탠드 얼론 게임으로 제작되었던 컴퓨터 그래픽스 과목 </a:t>
                      </a:r>
                      <a:r>
                        <a:rPr lang="ko-KR" altLang="en-US" sz="1200" dirty="0" err="1"/>
                        <a:t>텀</a:t>
                      </a:r>
                      <a:r>
                        <a:rPr lang="ko-KR" altLang="en-US" sz="1200" dirty="0"/>
                        <a:t> 프로젝트를 멀티플레이를 지원하도록 확장한 프로젝트</a:t>
                      </a:r>
                      <a:endParaRPr lang="en-US" altLang="ko-KR" sz="1200" dirty="0"/>
                    </a:p>
                    <a:p>
                      <a:pPr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멀티플레이 연동 전 시연 영상</a:t>
                      </a:r>
                      <a:r>
                        <a:rPr lang="en-US" altLang="ko-KR" sz="1200" dirty="0"/>
                        <a:t>: </a:t>
                      </a:r>
                      <a:r>
                        <a:rPr lang="en-US" altLang="ko-KR" sz="1200" dirty="0">
                          <a:hlinkClick r:id="rId4"/>
                        </a:rPr>
                        <a:t>https://www.youtube.com/watch?v=fNS8UQee1eE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2681FF4-1E9A-34CB-966D-2F9A24474C91}"/>
              </a:ext>
            </a:extLst>
          </p:cNvPr>
          <p:cNvSpPr txBox="1"/>
          <p:nvPr/>
        </p:nvSpPr>
        <p:spPr>
          <a:xfrm>
            <a:off x="0" y="71349"/>
            <a:ext cx="43052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5.1 </a:t>
            </a:r>
            <a:r>
              <a:rPr lang="ko-KR" altLang="en-US" sz="1600" dirty="0"/>
              <a:t>네트워크 게임 프로그래밍 </a:t>
            </a:r>
            <a:r>
              <a:rPr lang="ko-KR" altLang="en-US" sz="1600" dirty="0" err="1"/>
              <a:t>텀</a:t>
            </a:r>
            <a:r>
              <a:rPr lang="ko-KR" altLang="en-US" sz="1600" dirty="0"/>
              <a:t> 프로젝트</a:t>
            </a:r>
            <a:r>
              <a:rPr lang="en-US" altLang="ko-KR" sz="1600" dirty="0"/>
              <a:t>- </a:t>
            </a:r>
            <a:r>
              <a:rPr lang="ko-KR" altLang="en-US" sz="1600" dirty="0"/>
              <a:t>소개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B4E5F39-9497-EBC4-8A61-655BCDBFB9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98802"/>
            <a:ext cx="4305300" cy="314967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6340A58-33C9-C245-6411-B05004994A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2920"/>
            <a:ext cx="4305299" cy="262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522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0A3FDE-1D9F-E0DA-650C-D2BE2248D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492" y="219341"/>
            <a:ext cx="9071640" cy="609398"/>
          </a:xfrm>
        </p:spPr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서버구조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2249F48-98B1-BBA4-E87A-5DF2930797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9140"/>
            <a:ext cx="4480560" cy="41026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BECB05-B4E4-BCB5-1DCE-4D3CB0F1C738}"/>
              </a:ext>
            </a:extLst>
          </p:cNvPr>
          <p:cNvSpPr txBox="1"/>
          <p:nvPr/>
        </p:nvSpPr>
        <p:spPr>
          <a:xfrm>
            <a:off x="4480560" y="828739"/>
            <a:ext cx="475488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IO </a:t>
            </a:r>
            <a:r>
              <a:rPr lang="ko-KR" altLang="en-US" dirty="0"/>
              <a:t>작업을 전담하는 </a:t>
            </a:r>
            <a:r>
              <a:rPr lang="en-US" altLang="ko-KR" dirty="0"/>
              <a:t>IO </a:t>
            </a:r>
            <a:r>
              <a:rPr lang="ko-KR" altLang="en-US" dirty="0"/>
              <a:t>스레드와 게임 월드를 </a:t>
            </a:r>
            <a:r>
              <a:rPr lang="ko-KR" altLang="en-US" dirty="0" err="1"/>
              <a:t>시뮬레이션하는</a:t>
            </a:r>
            <a:r>
              <a:rPr lang="ko-KR" altLang="en-US" dirty="0"/>
              <a:t> 월드 스레드로 분리하여 서버 구조를 설계하였다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IO</a:t>
            </a:r>
            <a:r>
              <a:rPr lang="ko-KR" altLang="en-US" dirty="0"/>
              <a:t>작업에 의해 게임월드의 변화가 발생한 경우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유저의 입</a:t>
            </a:r>
            <a:r>
              <a:rPr lang="en-US" altLang="ko-KR" dirty="0"/>
              <a:t>/</a:t>
            </a:r>
            <a:r>
              <a:rPr lang="ko-KR" altLang="en-US" dirty="0"/>
              <a:t>퇴장</a:t>
            </a:r>
            <a:r>
              <a:rPr lang="en-US" altLang="ko-KR" dirty="0"/>
              <a:t>) </a:t>
            </a:r>
            <a:r>
              <a:rPr lang="ko-KR" altLang="en-US" dirty="0"/>
              <a:t>월드 스레드의 이벤트 큐로 해당 내용을 전달하게 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게임 월드에서 유저에게 </a:t>
            </a:r>
            <a:r>
              <a:rPr lang="en-US" altLang="ko-KR" dirty="0"/>
              <a:t>Send</a:t>
            </a:r>
            <a:r>
              <a:rPr lang="ko-KR" altLang="en-US" dirty="0"/>
              <a:t>를 해야 할 경우 바로 </a:t>
            </a:r>
            <a:r>
              <a:rPr lang="en-US" altLang="ko-KR" dirty="0"/>
              <a:t>Send</a:t>
            </a:r>
            <a:r>
              <a:rPr lang="ko-KR" altLang="en-US" dirty="0"/>
              <a:t>하지 않고 해당 루프에서 </a:t>
            </a:r>
            <a:r>
              <a:rPr lang="en-US" altLang="ko-KR" dirty="0"/>
              <a:t>Send</a:t>
            </a:r>
            <a:r>
              <a:rPr lang="ko-KR" altLang="en-US" dirty="0"/>
              <a:t>해야 할 모든 패킷을 하나의 큰 버퍼에 전부 이어 붙여서 루프 마지막에 </a:t>
            </a:r>
            <a:r>
              <a:rPr lang="en-US" altLang="ko-KR" dirty="0"/>
              <a:t>IO</a:t>
            </a:r>
            <a:r>
              <a:rPr lang="ko-KR" altLang="en-US" dirty="0"/>
              <a:t>스레드의 </a:t>
            </a:r>
            <a:r>
              <a:rPr lang="ko-KR" altLang="en-US" dirty="0" err="1"/>
              <a:t>이벤트큐로</a:t>
            </a:r>
            <a:r>
              <a:rPr lang="ko-KR" altLang="en-US" dirty="0"/>
              <a:t> 전달만 하도록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1852A2-A7E9-340F-2BA8-AE0A57070369}"/>
              </a:ext>
            </a:extLst>
          </p:cNvPr>
          <p:cNvSpPr txBox="1"/>
          <p:nvPr/>
        </p:nvSpPr>
        <p:spPr>
          <a:xfrm>
            <a:off x="4563276" y="4409261"/>
            <a:ext cx="493014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Server\\main.cpp</a:t>
            </a:r>
          </a:p>
          <a:p>
            <a:r>
              <a:rPr lang="en-US" altLang="ko-KR" sz="1200" dirty="0"/>
              <a:t>Server\\</a:t>
            </a:r>
            <a:r>
              <a:rPr lang="en-US" altLang="ko-KR" sz="1200" dirty="0" err="1"/>
              <a:t>IOExecutor.h</a:t>
            </a:r>
            <a:endParaRPr lang="en-US" altLang="ko-KR" sz="1200" dirty="0"/>
          </a:p>
          <a:p>
            <a:r>
              <a:rPr lang="en-US" altLang="ko-KR" sz="1200" dirty="0"/>
              <a:t>Server\\IOExecutor.cpp</a:t>
            </a:r>
          </a:p>
          <a:p>
            <a:r>
              <a:rPr lang="en-US" altLang="ko-KR" sz="1200" dirty="0"/>
              <a:t>Server\\</a:t>
            </a:r>
            <a:r>
              <a:rPr lang="en-US" altLang="ko-KR" sz="1200" dirty="0" err="1"/>
              <a:t>MCWorld.h</a:t>
            </a:r>
            <a:endParaRPr lang="en-US" altLang="ko-KR" sz="1200" dirty="0"/>
          </a:p>
          <a:p>
            <a:r>
              <a:rPr lang="en-US" altLang="ko-KR" sz="1200" dirty="0"/>
              <a:t>Server\\MCWorld.cpp</a:t>
            </a:r>
          </a:p>
          <a:p>
            <a:r>
              <a:rPr lang="ko-KR" altLang="en-US" sz="1200" dirty="0"/>
              <a:t>참조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F43409-6F2A-873C-F24A-80AEECB8E88A}"/>
              </a:ext>
            </a:extLst>
          </p:cNvPr>
          <p:cNvSpPr txBox="1"/>
          <p:nvPr/>
        </p:nvSpPr>
        <p:spPr>
          <a:xfrm>
            <a:off x="243204" y="4992278"/>
            <a:ext cx="3284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클라이언트 및 서버의 흐름도</a:t>
            </a:r>
          </a:p>
        </p:txBody>
      </p:sp>
    </p:spTree>
    <p:extLst>
      <p:ext uri="{BB962C8B-B14F-4D97-AF65-F5344CB8AC3E}">
        <p14:creationId xmlns:p14="http://schemas.microsoft.com/office/powerpoint/2010/main" val="29954222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D826752-7A7D-4095-63C6-AC1FF1956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18" y="944880"/>
            <a:ext cx="4254691" cy="42291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FDBAC5C-A62B-7750-DCD2-FAA7FF6CC598}"/>
              </a:ext>
            </a:extLst>
          </p:cNvPr>
          <p:cNvSpPr txBox="1"/>
          <p:nvPr/>
        </p:nvSpPr>
        <p:spPr>
          <a:xfrm>
            <a:off x="536892" y="5302817"/>
            <a:ext cx="2247900" cy="367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주요 클래스 및 기능</a:t>
            </a:r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583E492C-4967-FFA2-FEBD-9D443FC98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172" y="107483"/>
            <a:ext cx="9071640" cy="609398"/>
          </a:xfrm>
        </p:spPr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서버구조</a:t>
            </a:r>
          </a:p>
        </p:txBody>
      </p:sp>
    </p:spTree>
    <p:extLst>
      <p:ext uri="{BB962C8B-B14F-4D97-AF65-F5344CB8AC3E}">
        <p14:creationId xmlns:p14="http://schemas.microsoft.com/office/powerpoint/2010/main" val="16994500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1DD2CB0-51BD-3934-E151-9FD8A5D29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70" y="670286"/>
            <a:ext cx="3740340" cy="26967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4B81E6-98A8-9614-4C71-BB88F85E09FC}"/>
              </a:ext>
            </a:extLst>
          </p:cNvPr>
          <p:cNvSpPr txBox="1"/>
          <p:nvPr/>
        </p:nvSpPr>
        <p:spPr>
          <a:xfrm>
            <a:off x="237300" y="3528060"/>
            <a:ext cx="4022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매크로를 이용한 프로토콜 생성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7948B7-3CC0-089D-B74E-42BF06168675}"/>
              </a:ext>
            </a:extLst>
          </p:cNvPr>
          <p:cNvSpPr txBox="1"/>
          <p:nvPr/>
        </p:nvSpPr>
        <p:spPr>
          <a:xfrm>
            <a:off x="114300" y="153191"/>
            <a:ext cx="479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5.3 </a:t>
            </a:r>
            <a:r>
              <a:rPr lang="ko-KR" altLang="en-US" dirty="0"/>
              <a:t>프로토콜 설계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55CD10-B882-C57E-C49C-7F2DFFEB74D5}"/>
              </a:ext>
            </a:extLst>
          </p:cNvPr>
          <p:cNvSpPr txBox="1"/>
          <p:nvPr/>
        </p:nvSpPr>
        <p:spPr>
          <a:xfrm>
            <a:off x="4038600" y="740135"/>
            <a:ext cx="50520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packet_define.h</a:t>
            </a:r>
            <a:endParaRPr lang="en-US" altLang="ko-KR" dirty="0"/>
          </a:p>
          <a:p>
            <a:r>
              <a:rPr lang="en-US" altLang="ko-KR" dirty="0"/>
              <a:t>PacketBase.hpp</a:t>
            </a:r>
          </a:p>
          <a:p>
            <a:r>
              <a:rPr lang="en-US" altLang="ko-KR" dirty="0"/>
              <a:t>Client\\</a:t>
            </a:r>
            <a:r>
              <a:rPr lang="en-US" altLang="ko-KR" dirty="0" err="1"/>
              <a:t>CaveGame</a:t>
            </a:r>
            <a:r>
              <a:rPr lang="en-US" altLang="ko-KR" dirty="0"/>
              <a:t>\\PacketBase.cpp</a:t>
            </a:r>
          </a:p>
          <a:p>
            <a:r>
              <a:rPr lang="en-US" altLang="ko-KR" dirty="0"/>
              <a:t>Server\\PacketBase.cpp</a:t>
            </a:r>
            <a:endParaRPr lang="ko-KR" altLang="en-US" dirty="0"/>
          </a:p>
          <a:p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21246577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C6985-49A2-EC04-257C-613A67673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2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구현내용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30E8418-3274-864D-57B2-DFB095253D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8921" y="1021970"/>
            <a:ext cx="4140359" cy="391002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DED538F-67EA-1ECF-5936-FD5375933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1970"/>
            <a:ext cx="2828925" cy="39100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FC75BF6-F665-7475-6478-2C75BCF8AE20}"/>
              </a:ext>
            </a:extLst>
          </p:cNvPr>
          <p:cNvSpPr txBox="1"/>
          <p:nvPr/>
        </p:nvSpPr>
        <p:spPr>
          <a:xfrm>
            <a:off x="289559" y="652638"/>
            <a:ext cx="4140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- 3</a:t>
            </a:r>
            <a:r>
              <a:rPr lang="ko-KR" altLang="en-US" dirty="0"/>
              <a:t>차원 공간에서의 </a:t>
            </a:r>
            <a:r>
              <a:rPr lang="en-US" altLang="ko-KR" dirty="0"/>
              <a:t>A* </a:t>
            </a:r>
            <a:r>
              <a:rPr lang="ko-KR" altLang="en-US" dirty="0"/>
              <a:t>알고리즘 구현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2D2F4-3FBE-1D36-B789-737ECE22ED9D}"/>
              </a:ext>
            </a:extLst>
          </p:cNvPr>
          <p:cNvSpPr txBox="1"/>
          <p:nvPr/>
        </p:nvSpPr>
        <p:spPr>
          <a:xfrm>
            <a:off x="7094220" y="2363063"/>
            <a:ext cx="19785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hlinkClick r:id="rId4"/>
            </a:endParaRPr>
          </a:p>
          <a:p>
            <a:r>
              <a:rPr lang="en-US" altLang="ko-KR" dirty="0">
                <a:hlinkClick r:id="rId4"/>
              </a:rPr>
              <a:t>https://lovely-nasturtium-c18.notion.site/147c647a121b80c2aa17f348888ef722?pvs=25</a:t>
            </a:r>
            <a:endParaRPr lang="en-US" altLang="ko-K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25E678-3738-6605-0DB1-3859FBE93577}"/>
              </a:ext>
            </a:extLst>
          </p:cNvPr>
          <p:cNvSpPr txBox="1"/>
          <p:nvPr/>
        </p:nvSpPr>
        <p:spPr>
          <a:xfrm>
            <a:off x="7094220" y="1268542"/>
            <a:ext cx="18135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알고리즘이 실제로 적용되어 몬스터가 움직이는 동영상 </a:t>
            </a:r>
            <a:r>
              <a:rPr lang="ko-KR" altLang="en-US" dirty="0" err="1"/>
              <a:t>노션</a:t>
            </a:r>
            <a:r>
              <a:rPr lang="ko-KR" altLang="en-US" dirty="0"/>
              <a:t> 링크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453F1-4760-4BC0-890B-8653D04F0C99}"/>
              </a:ext>
            </a:extLst>
          </p:cNvPr>
          <p:cNvSpPr txBox="1"/>
          <p:nvPr/>
        </p:nvSpPr>
        <p:spPr>
          <a:xfrm>
            <a:off x="1906095" y="5017912"/>
            <a:ext cx="2828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AStar.h</a:t>
            </a:r>
            <a:r>
              <a:rPr lang="en-US" altLang="ko-KR" dirty="0"/>
              <a:t> /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문서 참조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89791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D4ED18-8EBE-1381-131F-4B6A3E3E2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660" y="112661"/>
            <a:ext cx="9071640" cy="609398"/>
          </a:xfrm>
        </p:spPr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구현내용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241FED-FF04-A0B4-B9E4-CC8FC5E7169E}"/>
              </a:ext>
            </a:extLst>
          </p:cNvPr>
          <p:cNvSpPr txBox="1"/>
          <p:nvPr/>
        </p:nvSpPr>
        <p:spPr>
          <a:xfrm>
            <a:off x="312419" y="654997"/>
            <a:ext cx="4381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투사체 동기화 및 충돌판정과 사망판정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E1F093-7EB4-CF55-CD36-1BBD877ACA50}"/>
              </a:ext>
            </a:extLst>
          </p:cNvPr>
          <p:cNvSpPr txBox="1"/>
          <p:nvPr/>
        </p:nvSpPr>
        <p:spPr>
          <a:xfrm>
            <a:off x="5296575" y="1431813"/>
            <a:ext cx="19785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hlinkClick r:id="rId2"/>
            </a:endParaRPr>
          </a:p>
          <a:p>
            <a:r>
              <a:rPr lang="en-US" altLang="ko-KR" dirty="0">
                <a:hlinkClick r:id="rId3"/>
              </a:rPr>
              <a:t>https://lovely-nasturtium-c18.notion.site/14cc647a121b80a6b676de48ace74437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40B13B7-0E0C-41E9-08A5-5A8151F04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930" y="1024329"/>
            <a:ext cx="4480560" cy="3890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68F931-4D34-F598-9117-972EA11B384B}"/>
              </a:ext>
            </a:extLst>
          </p:cNvPr>
          <p:cNvSpPr txBox="1"/>
          <p:nvPr/>
        </p:nvSpPr>
        <p:spPr>
          <a:xfrm>
            <a:off x="5266136" y="1108648"/>
            <a:ext cx="3878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화살 투사체 동기화 및 충돌판정과 사망 판정 구현 작동 영상 </a:t>
            </a:r>
            <a:r>
              <a:rPr lang="ko-KR" altLang="en-US" dirty="0" err="1"/>
              <a:t>노션</a:t>
            </a:r>
            <a:r>
              <a:rPr lang="ko-KR" altLang="en-US" dirty="0"/>
              <a:t> 링크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D48783-B410-9652-8A49-F249EA2161C1}"/>
              </a:ext>
            </a:extLst>
          </p:cNvPr>
          <p:cNvSpPr txBox="1"/>
          <p:nvPr/>
        </p:nvSpPr>
        <p:spPr>
          <a:xfrm>
            <a:off x="7444739" y="1754979"/>
            <a:ext cx="21820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5"/>
              </a:rPr>
              <a:t>https://lovely-nasturtium-c18.notion.site/14dc647a121b804f9785c0138bd66545?pvs=25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7895BE-814C-01C0-08E7-31B09C627FAA}"/>
              </a:ext>
            </a:extLst>
          </p:cNvPr>
          <p:cNvSpPr txBox="1"/>
          <p:nvPr/>
        </p:nvSpPr>
        <p:spPr>
          <a:xfrm>
            <a:off x="5405377" y="3587234"/>
            <a:ext cx="1303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vs </a:t>
            </a:r>
            <a:r>
              <a:rPr lang="ko-KR" altLang="en-US" dirty="0"/>
              <a:t>몬스터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1153EC-F7C7-542F-E051-5306AB7BE6C2}"/>
              </a:ext>
            </a:extLst>
          </p:cNvPr>
          <p:cNvSpPr txBox="1"/>
          <p:nvPr/>
        </p:nvSpPr>
        <p:spPr>
          <a:xfrm>
            <a:off x="7757160" y="3554968"/>
            <a:ext cx="1470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vs </a:t>
            </a:r>
            <a:r>
              <a:rPr lang="ko-KR" altLang="en-US" dirty="0"/>
              <a:t>플레이어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FB4E0-5121-5F0F-CEBF-D81222D79AE0}"/>
              </a:ext>
            </a:extLst>
          </p:cNvPr>
          <p:cNvSpPr txBox="1"/>
          <p:nvPr/>
        </p:nvSpPr>
        <p:spPr>
          <a:xfrm>
            <a:off x="312419" y="4992618"/>
            <a:ext cx="4381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Projectile.h</a:t>
            </a:r>
            <a:r>
              <a:rPr lang="en-US" altLang="ko-KR" dirty="0"/>
              <a:t> / </a:t>
            </a:r>
            <a:r>
              <a:rPr lang="en-US" altLang="ko-KR" dirty="0" err="1"/>
              <a:t>cpp</a:t>
            </a:r>
            <a:r>
              <a:rPr lang="ko-KR" altLang="en-US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10089503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A4ED6C-4CE9-90BE-3780-922977DF4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08" y="116608"/>
            <a:ext cx="9071640" cy="609398"/>
          </a:xfrm>
        </p:spPr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구현내용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CBBB67-9DD5-C96A-D6C0-CD076E81A50D}"/>
              </a:ext>
            </a:extLst>
          </p:cNvPr>
          <p:cNvSpPr txBox="1"/>
          <p:nvPr/>
        </p:nvSpPr>
        <p:spPr>
          <a:xfrm>
            <a:off x="266699" y="664873"/>
            <a:ext cx="4381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보스패턴 및 이동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9D3F0C9-E89B-CA73-8452-3B718D246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09" y="957732"/>
            <a:ext cx="3608292" cy="203454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6F36A09-9606-949A-C4FE-C8DB23C4B0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09" y="2992272"/>
            <a:ext cx="3608292" cy="25616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1F5BD14-9988-0DAA-2A88-771E89104099}"/>
              </a:ext>
            </a:extLst>
          </p:cNvPr>
          <p:cNvSpPr txBox="1"/>
          <p:nvPr/>
        </p:nvSpPr>
        <p:spPr>
          <a:xfrm>
            <a:off x="3733801" y="5184610"/>
            <a:ext cx="329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Server\\EnderDragon.cpp </a:t>
            </a:r>
            <a:r>
              <a:rPr lang="ko-KR" altLang="en-US" dirty="0"/>
              <a:t>참조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C73B0E-B0C3-6FA1-D007-FE4AE76D6965}"/>
              </a:ext>
            </a:extLst>
          </p:cNvPr>
          <p:cNvSpPr txBox="1"/>
          <p:nvPr/>
        </p:nvSpPr>
        <p:spPr>
          <a:xfrm>
            <a:off x="4472940" y="1104900"/>
            <a:ext cx="4168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보스 몬스터 작동 영상 </a:t>
            </a:r>
            <a:r>
              <a:rPr lang="ko-KR" altLang="en-US" dirty="0" err="1"/>
              <a:t>노션</a:t>
            </a:r>
            <a:r>
              <a:rPr lang="ko-KR" altLang="en-US" dirty="0"/>
              <a:t> 링크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C78636-E70B-37BB-B166-F5EC281CB11E}"/>
              </a:ext>
            </a:extLst>
          </p:cNvPr>
          <p:cNvSpPr txBox="1"/>
          <p:nvPr/>
        </p:nvSpPr>
        <p:spPr>
          <a:xfrm>
            <a:off x="4316732" y="1678324"/>
            <a:ext cx="20650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4"/>
              </a:rPr>
              <a:t>https://lovely-nasturtium-c18.notion.site/14ec647a121b80df8c0dd7fd73d9b2f7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245EF-DFD0-4ECF-A7BB-3A6C3D6F81D0}"/>
              </a:ext>
            </a:extLst>
          </p:cNvPr>
          <p:cNvSpPr txBox="1"/>
          <p:nvPr/>
        </p:nvSpPr>
        <p:spPr>
          <a:xfrm>
            <a:off x="6766559" y="1704032"/>
            <a:ext cx="20650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5"/>
              </a:rPr>
              <a:t>https://lovely-nasturtium-c18.notion.site/14ec647a121b80a3b5eccf4a4073e93a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474598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4A4B16-0723-2F19-D9B3-AD30E7E2A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940" y="173621"/>
            <a:ext cx="9071640" cy="609398"/>
          </a:xfrm>
        </p:spPr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구현내용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C8432E-6AF2-A56E-4F32-A6D37BFBCB4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7179" y="1085289"/>
            <a:ext cx="9071640" cy="3288240"/>
          </a:xfrm>
        </p:spPr>
        <p:txBody>
          <a:bodyPr>
            <a:normAutofit lnSpcReduction="10000"/>
          </a:bodyPr>
          <a:lstStyle/>
          <a:p>
            <a:pPr>
              <a:buAutoNum type="arabicPeriod"/>
            </a:pPr>
            <a:r>
              <a:rPr lang="en-US" altLang="ko-KR" sz="1200" dirty="0"/>
              <a:t>FSM</a:t>
            </a:r>
            <a:r>
              <a:rPr lang="ko-KR" altLang="en-US" sz="1200" dirty="0"/>
              <a:t>기반 몬스터 </a:t>
            </a:r>
            <a:r>
              <a:rPr lang="en-US" altLang="ko-KR" sz="1200" dirty="0"/>
              <a:t>AI</a:t>
            </a:r>
          </a:p>
          <a:p>
            <a:pPr>
              <a:buFontTx/>
              <a:buChar char="-"/>
            </a:pPr>
            <a:r>
              <a:rPr lang="en-US" altLang="ko-KR" sz="1200" dirty="0"/>
              <a:t>Server\\FSM.cpp , Server\\State.cpp </a:t>
            </a:r>
            <a:r>
              <a:rPr lang="ko-KR" altLang="en-US" sz="1200" dirty="0"/>
              <a:t>참조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2. </a:t>
            </a:r>
            <a:r>
              <a:rPr lang="ko-KR" altLang="en-US" sz="1200" dirty="0"/>
              <a:t>드랍 아이템 등장 및 획득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Server\\DropItem.cpp </a:t>
            </a:r>
            <a:r>
              <a:rPr lang="ko-KR" altLang="en-US" sz="1200" dirty="0"/>
              <a:t>참조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3. HP </a:t>
            </a:r>
            <a:r>
              <a:rPr lang="ko-KR" altLang="en-US" sz="1200" dirty="0"/>
              <a:t>및 사망 시스템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Server\\HP.cpp </a:t>
            </a:r>
            <a:r>
              <a:rPr lang="ko-KR" altLang="en-US" sz="1200" dirty="0"/>
              <a:t>참조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4. </a:t>
            </a:r>
            <a:r>
              <a:rPr lang="ko-KR" altLang="en-US" sz="1200" dirty="0" err="1"/>
              <a:t>게임스레드와</a:t>
            </a:r>
            <a:r>
              <a:rPr lang="ko-KR" altLang="en-US" sz="1200" dirty="0"/>
              <a:t> </a:t>
            </a:r>
            <a:r>
              <a:rPr lang="en-US" altLang="ko-KR" sz="1200" dirty="0"/>
              <a:t>IO</a:t>
            </a:r>
            <a:r>
              <a:rPr lang="ko-KR" altLang="en-US" sz="1200" dirty="0"/>
              <a:t>스레드가 통신하기 위한 </a:t>
            </a:r>
            <a:r>
              <a:rPr lang="en-US" altLang="ko-KR" sz="1200" dirty="0"/>
              <a:t>Lock-Free </a:t>
            </a:r>
            <a:r>
              <a:rPr lang="ko-KR" altLang="en-US" sz="1200" dirty="0"/>
              <a:t>큐 제작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Server\\LFQueue.hpp </a:t>
            </a:r>
            <a:r>
              <a:rPr lang="ko-KR" altLang="en-US" sz="1200" dirty="0"/>
              <a:t>참조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클라이언트 사이드에서 서버로부터 전달되는 유저</a:t>
            </a:r>
            <a:r>
              <a:rPr lang="en-US" altLang="ko-KR" sz="1200" dirty="0"/>
              <a:t>·</a:t>
            </a:r>
            <a:r>
              <a:rPr lang="ko-KR" altLang="en-US" sz="1200" dirty="0"/>
              <a:t>몬스터</a:t>
            </a:r>
            <a:r>
              <a:rPr lang="en-US" altLang="ko-KR" sz="1200" dirty="0"/>
              <a:t>·</a:t>
            </a:r>
            <a:r>
              <a:rPr lang="ko-KR" altLang="en-US" sz="1200" dirty="0"/>
              <a:t>각종 컨텐츠 정보 동기화 작업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Client\\</a:t>
            </a:r>
            <a:r>
              <a:rPr lang="en-US" altLang="ko-KR" sz="1200" dirty="0" err="1"/>
              <a:t>CaveGame</a:t>
            </a:r>
            <a:r>
              <a:rPr lang="en-US" altLang="ko-KR" sz="1200" dirty="0"/>
              <a:t>\\</a:t>
            </a:r>
            <a:r>
              <a:rPr lang="en-US" altLang="ko-KR" sz="1200" dirty="0" err="1"/>
              <a:t>ServerObjectManager.h</a:t>
            </a:r>
            <a:r>
              <a:rPr lang="en-US" altLang="ko-KR" sz="1200" dirty="0"/>
              <a:t> , Client\\ </a:t>
            </a:r>
            <a:r>
              <a:rPr lang="en-US" altLang="ko-KR" sz="1200" dirty="0" err="1"/>
              <a:t>CaveGame</a:t>
            </a:r>
            <a:r>
              <a:rPr lang="en-US" altLang="ko-KR" sz="1200" dirty="0"/>
              <a:t>\\ServerObjectManager.cpp </a:t>
            </a:r>
            <a:r>
              <a:rPr lang="ko-KR" altLang="en-US" sz="1200" dirty="0"/>
              <a:t>참조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6. OpenGL</a:t>
            </a:r>
            <a:r>
              <a:rPr lang="ko-KR" altLang="en-US" sz="1200" dirty="0"/>
              <a:t>을 이용한 클라이언트 게임 프레임워크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-    Client </a:t>
            </a:r>
            <a:r>
              <a:rPr lang="ko-KR" altLang="en-US" sz="1200" dirty="0"/>
              <a:t>폴더의 </a:t>
            </a:r>
            <a:r>
              <a:rPr lang="en-US" altLang="ko-KR" sz="1200" dirty="0" err="1"/>
              <a:t>MyOpenGL</a:t>
            </a:r>
            <a:r>
              <a:rPr lang="en-US" altLang="ko-KR" sz="1200" dirty="0"/>
              <a:t> </a:t>
            </a:r>
            <a:r>
              <a:rPr lang="ko-KR" altLang="en-US" sz="1200" dirty="0"/>
              <a:t>프로젝트</a:t>
            </a:r>
            <a:endParaRPr lang="en-US" altLang="ko-KR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D56080-3906-A484-79D0-15FB424229C9}"/>
              </a:ext>
            </a:extLst>
          </p:cNvPr>
          <p:cNvSpPr txBox="1"/>
          <p:nvPr/>
        </p:nvSpPr>
        <p:spPr>
          <a:xfrm>
            <a:off x="297179" y="715957"/>
            <a:ext cx="4381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기타 구현 내용</a:t>
            </a:r>
          </a:p>
        </p:txBody>
      </p:sp>
    </p:spTree>
    <p:extLst>
      <p:ext uri="{BB962C8B-B14F-4D97-AF65-F5344CB8AC3E}">
        <p14:creationId xmlns:p14="http://schemas.microsoft.com/office/powerpoint/2010/main" val="23931825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E0A9697-EA9D-20FD-C646-3064F53402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45630"/>
              </p:ext>
            </p:extLst>
          </p:nvPr>
        </p:nvGraphicFramePr>
        <p:xfrm>
          <a:off x="163513" y="346030"/>
          <a:ext cx="4647882" cy="5592873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9114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3456741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7446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Terraria-Replica(</a:t>
                      </a:r>
                      <a:r>
                        <a:rPr lang="ko-KR" altLang="en-US" sz="1600" dirty="0" err="1"/>
                        <a:t>테라리아</a:t>
                      </a:r>
                      <a:r>
                        <a:rPr lang="ko-KR" altLang="en-US" sz="1600" dirty="0"/>
                        <a:t> 모작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941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사이드 뷰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어드벤처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샌드박스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게임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7446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2023.05 ~ 2023.09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7446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</a:t>
                      </a:r>
                      <a:r>
                        <a:rPr lang="ko-KR" altLang="en-US" sz="1600" dirty="0"/>
                        <a:t>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30055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Win32API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4790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67369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hlinkClick r:id="rId2"/>
                        </a:rPr>
                        <a:t>https://github.com/hypernagox/TermProjectGameFrameWork</a:t>
                      </a:r>
                      <a:endParaRPr lang="en-US" altLang="ko-KR" sz="1600" dirty="0"/>
                    </a:p>
                    <a:p>
                      <a:pPr latinLnBrk="1"/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67369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hlinkClick r:id="rId3"/>
                        </a:rPr>
                        <a:t>https://www.youtube.com/watch?v=_183wB4UNio</a:t>
                      </a:r>
                      <a:endParaRPr lang="en-US" altLang="ko-KR" sz="1600" dirty="0"/>
                    </a:p>
                    <a:p>
                      <a:pPr latinLnBrk="1"/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48668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한국공학대학교 게임공학과 </a:t>
                      </a:r>
                      <a:r>
                        <a:rPr lang="ko-KR" altLang="en-US" sz="1200" dirty="0" err="1"/>
                        <a:t>과제전</a:t>
                      </a:r>
                      <a:r>
                        <a:rPr lang="ko-KR" altLang="en-US" sz="1200" dirty="0"/>
                        <a:t> 윈도우프로그래밍 분야 </a:t>
                      </a:r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5215710-C7F5-7721-DDA3-B96B3B0E55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293011"/>
              </p:ext>
            </p:extLst>
          </p:nvPr>
        </p:nvGraphicFramePr>
        <p:xfrm>
          <a:off x="5269230" y="251459"/>
          <a:ext cx="4647882" cy="580858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9114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3456741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7446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Terraria-Replica IOCP(</a:t>
                      </a:r>
                      <a:r>
                        <a:rPr lang="ko-KR" altLang="en-US" sz="1600" dirty="0" err="1"/>
                        <a:t>테라리아</a:t>
                      </a:r>
                      <a:r>
                        <a:rPr lang="ko-KR" altLang="en-US" sz="1600" dirty="0"/>
                        <a:t> 모작 </a:t>
                      </a:r>
                      <a:r>
                        <a:rPr lang="en-US" altLang="ko-KR" sz="1600" dirty="0"/>
                        <a:t>+ </a:t>
                      </a:r>
                      <a:r>
                        <a:rPr lang="ko-KR" altLang="en-US" sz="1600" dirty="0"/>
                        <a:t>서버연동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941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사이드 뷰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2D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어드벤처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샌드박스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게임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7446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2024.05 ~ 2024.07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7446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1</a:t>
                      </a:r>
                      <a:r>
                        <a:rPr lang="ko-KR" altLang="en-US" sz="1600" dirty="0"/>
                        <a:t>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30055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Win32API, IOCP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47906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앞서 제작했던 </a:t>
                      </a:r>
                      <a:r>
                        <a:rPr lang="en-US" altLang="ko-KR" sz="1100" dirty="0"/>
                        <a:t>Terraria-Replica</a:t>
                      </a:r>
                      <a:r>
                        <a:rPr lang="ko-KR" altLang="en-US" sz="1100" dirty="0"/>
                        <a:t>를 멀티플레이가 가능하도록 </a:t>
                      </a:r>
                      <a:r>
                        <a:rPr lang="en-US" altLang="ko-KR" sz="1100" dirty="0"/>
                        <a:t>IOCP </a:t>
                      </a:r>
                      <a:r>
                        <a:rPr lang="ko-KR" altLang="en-US" sz="1100" dirty="0"/>
                        <a:t>서버 연동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Protocol Buffers</a:t>
                      </a:r>
                      <a:r>
                        <a:rPr lang="ko-KR" altLang="en-US" sz="1100" dirty="0"/>
                        <a:t>라이브러리 사용 및 자동화 툴 제작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몬스터 </a:t>
                      </a:r>
                      <a:r>
                        <a:rPr lang="en-US" altLang="ko-KR" sz="1100" dirty="0"/>
                        <a:t>AI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A*</a:t>
                      </a:r>
                      <a:r>
                        <a:rPr lang="ko-KR" altLang="en-US" sz="1100" dirty="0"/>
                        <a:t>를 이용한 길 찾기 알고리즘 적용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원거리 투사체 충돌판정을 포함한 전투 시스템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메이플스토리의 포탈 시스템과 유사한 맵 구조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드랍아이템</a:t>
                      </a:r>
                      <a:r>
                        <a:rPr lang="ko-KR" altLang="en-US" sz="1100" dirty="0"/>
                        <a:t> 및 획득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사용 로직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67369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hlinkClick r:id="rId4"/>
                        </a:rPr>
                        <a:t>https://github.com/hypernagox/TUKGameServerTermProject</a:t>
                      </a:r>
                      <a:endParaRPr lang="en-US" altLang="ko-KR" sz="1600" dirty="0"/>
                    </a:p>
                    <a:p>
                      <a:pPr latinLnBrk="1"/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67369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48668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6034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D87873-BB95-064E-FEBC-8B546955B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결과물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BEB2E-DD30-CAF5-85D7-E74C9D691174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동접자</a:t>
            </a:r>
            <a:r>
              <a:rPr lang="ko-KR" altLang="en-US" dirty="0"/>
              <a:t> 수 측정결과첨부</a:t>
            </a:r>
          </a:p>
        </p:txBody>
      </p:sp>
    </p:spTree>
    <p:extLst>
      <p:ext uri="{BB962C8B-B14F-4D97-AF65-F5344CB8AC3E}">
        <p14:creationId xmlns:p14="http://schemas.microsoft.com/office/powerpoint/2010/main" val="520602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3269</TotalTime>
  <Words>6346</Words>
  <Application>Microsoft Office PowerPoint</Application>
  <PresentationFormat>사용자 지정</PresentationFormat>
  <Paragraphs>556</Paragraphs>
  <Slides>64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0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4.3 졸작 – 성능 향상을 위한 노력</vt:lpstr>
      <vt:lpstr>4.3 졸작 – 성능 향상을 위한 노력</vt:lpstr>
      <vt:lpstr>4.3 졸작 – 성능 향상을 위한 노력</vt:lpstr>
      <vt:lpstr>2. MPSQ 큐 (Multi Producer Single Consumer 큐)</vt:lpstr>
      <vt:lpstr>- tbb 큐 구현 vs MPSC 큐 구현</vt:lpstr>
      <vt:lpstr>- tbb 큐 성능 vs MPSC 큐 성능</vt:lpstr>
      <vt:lpstr>3. Custom shared_ptr 제작</vt:lpstr>
      <vt:lpstr>PowerPoint 프레젠테이션</vt:lpstr>
      <vt:lpstr>- Custom shared_ptr 제작으로 얻는 것: 1. 표준 shared_ptr에 비해 훨씬 더 적은 메모리로 구현 가능 2. 객체의 수명 보장을 위해 불필요한 shared_ptr의 복사가 여러 번 발생 하는 것을 한번에 레퍼런스 카운터를 1보다 더 큰 값을 증가시키는 것으로 대체 가능 3. 자기 자신에 대한 shared_ptr 생성(shared_from_this)에 발생했던 오버헤드를 크게 감소  </vt:lpstr>
      <vt:lpstr>4. Task vs std::function</vt:lpstr>
      <vt:lpstr>5. Cluster 공간분할</vt:lpstr>
      <vt:lpstr>6. view list (시야처리)</vt:lpstr>
      <vt:lpstr>PowerPoint 프레젠테이션</vt:lpstr>
      <vt:lpstr>4.4 기타 구현 내용</vt:lpstr>
      <vt:lpstr>PowerPoint 프레젠테이션</vt:lpstr>
      <vt:lpstr>5.2 서버구조</vt:lpstr>
      <vt:lpstr>5.2 서버구조</vt:lpstr>
      <vt:lpstr>PowerPoint 프레젠테이션</vt:lpstr>
      <vt:lpstr>5.4 구현내용</vt:lpstr>
      <vt:lpstr>5.4 구현내용</vt:lpstr>
      <vt:lpstr>5.4 구현내용</vt:lpstr>
      <vt:lpstr>5.4 구현내용</vt:lpstr>
      <vt:lpstr>PowerPoint 프레젠테이션</vt:lpstr>
      <vt:lpstr>4.4 졸작 - 결과물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최재혁 최재혁</cp:lastModifiedBy>
  <cp:revision>1327</cp:revision>
  <dcterms:created xsi:type="dcterms:W3CDTF">2025-08-16T11:18:25Z</dcterms:created>
  <dcterms:modified xsi:type="dcterms:W3CDTF">2025-09-12T07:34:57Z</dcterms:modified>
  <dc:language>ko-KR</dc:language>
</cp:coreProperties>
</file>