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9" r:id="rId45"/>
    <p:sldId id="312" r:id="rId46"/>
    <p:sldId id="311" r:id="rId47"/>
    <p:sldId id="262" r:id="rId48"/>
    <p:sldId id="263" r:id="rId49"/>
    <p:sldId id="264" r:id="rId50"/>
    <p:sldId id="266" r:id="rId51"/>
    <p:sldId id="267" r:id="rId52"/>
    <p:sldId id="268" r:id="rId53"/>
    <p:sldId id="269" r:id="rId54"/>
    <p:sldId id="271" r:id="rId55"/>
    <p:sldId id="272" r:id="rId56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1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jpg"/><Relationship Id="rId4" Type="http://schemas.openxmlformats.org/officeDocument/2006/relationships/image" Target="../media/image50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7" Type="http://schemas.openxmlformats.org/officeDocument/2006/relationships/image" Target="../media/image57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jpg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1.jpg"/><Relationship Id="rId4" Type="http://schemas.openxmlformats.org/officeDocument/2006/relationships/image" Target="../media/image60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4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jpg"/><Relationship Id="rId5" Type="http://schemas.openxmlformats.org/officeDocument/2006/relationships/image" Target="../media/image68.jpg"/><Relationship Id="rId4" Type="http://schemas.openxmlformats.org/officeDocument/2006/relationships/image" Target="../media/image67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8.jpg"/><Relationship Id="rId5" Type="http://schemas.openxmlformats.org/officeDocument/2006/relationships/image" Target="../media/image77.jpg"/><Relationship Id="rId4" Type="http://schemas.openxmlformats.org/officeDocument/2006/relationships/image" Target="../media/image76.jp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419010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105301"/>
            <a:ext cx="9071640" cy="179796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52474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8F22EE-A5C2-48BA-766B-5C65A85F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5699"/>
            <a:ext cx="3313113" cy="23918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0AAC39B-293E-347F-92F9-B336F32D0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7525"/>
            <a:ext cx="3313113" cy="25177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B89178-7475-7B21-EDAE-CDAFA6F859BD}"/>
              </a:ext>
            </a:extLst>
          </p:cNvPr>
          <p:cNvSpPr txBox="1"/>
          <p:nvPr/>
        </p:nvSpPr>
        <p:spPr>
          <a:xfrm>
            <a:off x="3228975" y="620967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9D4CB6-A90A-E457-ED35-78EE25360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667583"/>
            <a:ext cx="3838574" cy="8191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5313D9-B2D0-8BF0-3B40-5AAC56184C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1474005"/>
            <a:ext cx="3838575" cy="8858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AF91EB-6D20-9642-4339-B18EBB73D21D}"/>
              </a:ext>
            </a:extLst>
          </p:cNvPr>
          <p:cNvSpPr txBox="1"/>
          <p:nvPr/>
        </p:nvSpPr>
        <p:spPr>
          <a:xfrm>
            <a:off x="7616823" y="1630894"/>
            <a:ext cx="233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</a:t>
            </a:r>
            <a:r>
              <a:rPr lang="en-US" altLang="ko-KR" sz="800" dirty="0"/>
              <a:t>1</a:t>
            </a:r>
            <a:r>
              <a:rPr lang="ko-KR" altLang="en-US" sz="800" dirty="0" err="1"/>
              <a:t>억개의</a:t>
            </a:r>
            <a:r>
              <a:rPr lang="ko-KR" altLang="en-US" sz="800" dirty="0"/>
              <a:t>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3050ms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E5980-39C4-E624-8B76-B41A22C87E7E}"/>
              </a:ext>
            </a:extLst>
          </p:cNvPr>
          <p:cNvSpPr txBox="1"/>
          <p:nvPr/>
        </p:nvSpPr>
        <p:spPr>
          <a:xfrm>
            <a:off x="7616823" y="711233"/>
            <a:ext cx="24638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천만개의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1350ms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92F7C5-0773-50C7-3D7B-1DD219E0C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730345"/>
            <a:ext cx="2989264" cy="18002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138F247-754F-C77B-4193-2A6FDCE3FB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486" y="3730345"/>
            <a:ext cx="3259139" cy="1800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FFCB30-BB8B-FA85-9033-84D3DC2B639E}"/>
              </a:ext>
            </a:extLst>
          </p:cNvPr>
          <p:cNvSpPr txBox="1"/>
          <p:nvPr/>
        </p:nvSpPr>
        <p:spPr>
          <a:xfrm>
            <a:off x="3778249" y="3361013"/>
            <a:ext cx="4560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자료구조 작성 시 고민했던 문제들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D015B0-DE39-780A-0142-73170003D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033" y="2691605"/>
            <a:ext cx="1562100" cy="19796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F82CD0-8018-83E9-E996-285A1119E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450" y="2691605"/>
            <a:ext cx="2634583" cy="19796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08C56-CD97-6E9E-E222-A406593D1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2" y="2232025"/>
            <a:ext cx="3810000" cy="3402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3F319-0C3F-3B9C-38D7-E37E58D2120B}"/>
              </a:ext>
            </a:extLst>
          </p:cNvPr>
          <p:cNvSpPr txBox="1"/>
          <p:nvPr/>
        </p:nvSpPr>
        <p:spPr>
          <a:xfrm>
            <a:off x="4453351" y="353292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F0887-AD97-C5EB-0FF9-26C8F43EDF22}"/>
              </a:ext>
            </a:extLst>
          </p:cNvPr>
          <p:cNvSpPr txBox="1"/>
          <p:nvPr/>
        </p:nvSpPr>
        <p:spPr>
          <a:xfrm>
            <a:off x="5348288" y="4733925"/>
            <a:ext cx="4643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직접만든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과 표준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shared_from_this</a:t>
            </a:r>
            <a:r>
              <a:rPr lang="ko-KR" altLang="en-US" sz="1200" dirty="0"/>
              <a:t>를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억번씩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호출하였을때</a:t>
            </a:r>
            <a:r>
              <a:rPr lang="ko-KR" altLang="en-US" sz="1200" dirty="0"/>
              <a:t> 약 </a:t>
            </a:r>
            <a:r>
              <a:rPr lang="en-US" altLang="ko-KR" sz="1200" dirty="0"/>
              <a:t>500ms</a:t>
            </a:r>
            <a:r>
              <a:rPr lang="ko-KR" altLang="en-US" sz="1200" dirty="0"/>
              <a:t> 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371873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46C9DA-7059-88A3-6835-99BA38DF6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788" y="2218631"/>
            <a:ext cx="2271712" cy="2795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639A8D-F0AB-958D-FC7D-6C29D3AE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" y="2218631"/>
            <a:ext cx="2088201" cy="2795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F139E8-606F-429F-EF9A-9CC0A4EC1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812" y="3619057"/>
            <a:ext cx="1447800" cy="13978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35EA786-765E-C3CA-6BDB-743A7643C0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574" y="2218631"/>
            <a:ext cx="1438275" cy="13978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6679C0-6709-DAD7-B3C3-0D62F8DB17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24" y="2218631"/>
            <a:ext cx="2219325" cy="27956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92A3BE-3F48-1721-2660-217F5AA524A8}"/>
              </a:ext>
            </a:extLst>
          </p:cNvPr>
          <p:cNvSpPr txBox="1"/>
          <p:nvPr/>
        </p:nvSpPr>
        <p:spPr>
          <a:xfrm>
            <a:off x="4815708" y="345010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07DF41-8C60-43A6-22A3-4541609D6F66}"/>
              </a:ext>
            </a:extLst>
          </p:cNvPr>
          <p:cNvSpPr txBox="1"/>
          <p:nvPr/>
        </p:nvSpPr>
        <p:spPr>
          <a:xfrm>
            <a:off x="595312" y="5057775"/>
            <a:ext cx="9001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직접 만든 </a:t>
            </a:r>
            <a:r>
              <a:rPr lang="en-US" altLang="ko-KR" sz="1200" dirty="0"/>
              <a:t>Task</a:t>
            </a:r>
            <a:r>
              <a:rPr lang="ko-KR" altLang="en-US" sz="1200" dirty="0"/>
              <a:t>와 </a:t>
            </a:r>
            <a:r>
              <a:rPr lang="en-US" altLang="ko-KR" sz="1200" dirty="0"/>
              <a:t>std::function</a:t>
            </a:r>
            <a:r>
              <a:rPr lang="ko-KR" altLang="en-US" sz="1200" dirty="0"/>
              <a:t>을 동일한 멤버함수 포인터와 매개변수를 캡처하여 생성 및 각각 천만번 씩 호출했을 때 </a:t>
            </a:r>
            <a:r>
              <a:rPr lang="en-US" altLang="ko-KR" sz="1200" dirty="0"/>
              <a:t>Task </a:t>
            </a:r>
            <a:r>
              <a:rPr lang="ko-KR" altLang="en-US" sz="1200" dirty="0"/>
              <a:t>클래스가 약 </a:t>
            </a:r>
            <a:r>
              <a:rPr lang="en-US" altLang="ko-KR" sz="1200" dirty="0"/>
              <a:t>250ms </a:t>
            </a:r>
            <a:r>
              <a:rPr lang="ko-KR" altLang="en-US" sz="1200" dirty="0"/>
              <a:t>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888" y="507854"/>
            <a:ext cx="9071640" cy="276999"/>
          </a:xfrm>
        </p:spPr>
        <p:txBody>
          <a:bodyPr/>
          <a:lstStyle/>
          <a:p>
            <a:r>
              <a:rPr lang="en-US" altLang="ko-KR" sz="2000" dirty="0"/>
              <a:t>5. Cluster </a:t>
            </a:r>
            <a:r>
              <a:rPr lang="ko-KR" altLang="en-US" sz="2000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00148"/>
            <a:ext cx="9071640" cy="2619832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BF3793-4307-4A39-591B-9E8ABF10C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3" y="2670188"/>
            <a:ext cx="3648487" cy="23256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A702473-ACFE-8C9B-8454-3B05D96E8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13" y="2670188"/>
            <a:ext cx="3951287" cy="2325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B5F1F3-060B-F75F-8757-15B6FE820E55}"/>
              </a:ext>
            </a:extLst>
          </p:cNvPr>
          <p:cNvSpPr txBox="1"/>
          <p:nvPr/>
        </p:nvSpPr>
        <p:spPr>
          <a:xfrm>
            <a:off x="3654878" y="363297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3E69D-4442-3C38-E045-A9111F616426}"/>
              </a:ext>
            </a:extLst>
          </p:cNvPr>
          <p:cNvSpPr txBox="1"/>
          <p:nvPr/>
        </p:nvSpPr>
        <p:spPr>
          <a:xfrm>
            <a:off x="8161020" y="2670188"/>
            <a:ext cx="181737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더미 클라이언트를 이용한 동시접속자 </a:t>
            </a:r>
            <a:r>
              <a:rPr lang="en-US" altLang="ko-KR" sz="1000" dirty="0"/>
              <a:t>2000</a:t>
            </a:r>
            <a:r>
              <a:rPr lang="ko-KR" altLang="en-US" sz="1000" dirty="0"/>
              <a:t>명 시뮬레이션 결과 </a:t>
            </a:r>
            <a:endParaRPr lang="en-US" altLang="ko-KR" sz="1000" dirty="0"/>
          </a:p>
          <a:p>
            <a:r>
              <a:rPr lang="ko-KR" altLang="en-US" sz="1000" dirty="0"/>
              <a:t>공간분할 유무에 따른 엄청난 성능차이가 발생한다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특히 공간분할 적용 후의 서버의 </a:t>
            </a:r>
            <a:r>
              <a:rPr lang="en-US" altLang="ko-KR" sz="1000" dirty="0"/>
              <a:t>CPU</a:t>
            </a:r>
            <a:r>
              <a:rPr lang="ko-KR" altLang="en-US" sz="1000" dirty="0"/>
              <a:t>는 아직도 여유가 있는 상태</a:t>
            </a:r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000" dirty="0"/>
          </a:p>
          <a:p>
            <a:r>
              <a:rPr lang="en-US" altLang="ko-KR" sz="800" dirty="0"/>
              <a:t>(</a:t>
            </a:r>
            <a:r>
              <a:rPr lang="ko-KR" altLang="en-US" sz="800" dirty="0"/>
              <a:t>자세한 코드는 </a:t>
            </a:r>
            <a:r>
              <a:rPr lang="en-US" altLang="ko-KR" sz="800" dirty="0" err="1"/>
              <a:t>ClusterInfoHelper.h</a:t>
            </a:r>
            <a:r>
              <a:rPr lang="en-US" altLang="ko-KR" sz="800" dirty="0"/>
              <a:t> / </a:t>
            </a:r>
            <a:r>
              <a:rPr lang="en-US" altLang="ko-KR" sz="800" dirty="0" err="1"/>
              <a:t>cpp</a:t>
            </a:r>
            <a:r>
              <a:rPr lang="ko-KR" altLang="en-US" sz="800" dirty="0"/>
              <a:t> 및</a:t>
            </a:r>
            <a:endParaRPr lang="en-US" altLang="ko-KR" sz="800" dirty="0"/>
          </a:p>
          <a:p>
            <a:r>
              <a:rPr lang="en-US" altLang="ko-KR" sz="800" dirty="0"/>
              <a:t>main.cpp </a:t>
            </a:r>
            <a:r>
              <a:rPr lang="ko-KR" altLang="en-US" sz="800" dirty="0"/>
              <a:t>의 </a:t>
            </a:r>
            <a:r>
              <a:rPr lang="en-US" altLang="ko-KR" sz="800" dirty="0"/>
              <a:t>main </a:t>
            </a:r>
            <a:r>
              <a:rPr lang="ko-KR" altLang="en-US" sz="800" dirty="0"/>
              <a:t>함수 밑 </a:t>
            </a:r>
            <a:endParaRPr lang="en-US" altLang="ko-KR" sz="800" dirty="0"/>
          </a:p>
          <a:p>
            <a:r>
              <a:rPr lang="en-US" altLang="ko-KR" sz="800" dirty="0" err="1"/>
              <a:t>GlobalClusterFilter</a:t>
            </a:r>
            <a:r>
              <a:rPr lang="en-US" altLang="ko-KR" sz="800" dirty="0"/>
              <a:t> </a:t>
            </a:r>
            <a:r>
              <a:rPr lang="ko-KR" altLang="en-US" sz="800" dirty="0"/>
              <a:t>참조</a:t>
            </a:r>
            <a:endParaRPr lang="en-US" altLang="ko-KR" sz="800" dirty="0"/>
          </a:p>
          <a:p>
            <a:r>
              <a:rPr lang="ko-KR" altLang="en-US" sz="800" dirty="0"/>
              <a:t>컨텐츠 단에서 어디에서 누구를 어떻게 쪼개고 필터링 할 것인가에 대한 </a:t>
            </a:r>
            <a:r>
              <a:rPr lang="ko-KR" altLang="en-US" sz="800" dirty="0" err="1"/>
              <a:t>함수포인터를</a:t>
            </a:r>
            <a:r>
              <a:rPr lang="ko-KR" altLang="en-US" sz="800" dirty="0"/>
              <a:t> </a:t>
            </a:r>
            <a:r>
              <a:rPr lang="ko-KR" altLang="en-US" sz="800" dirty="0" err="1"/>
              <a:t>서버엔진쪽에</a:t>
            </a:r>
            <a:r>
              <a:rPr lang="ko-KR" altLang="en-US" sz="800" dirty="0"/>
              <a:t> 전달하는 식으로 동작한다</a:t>
            </a:r>
            <a:r>
              <a:rPr lang="en-US" altLang="ko-KR" sz="800" dirty="0"/>
              <a:t>.)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31F36A-642E-9414-9C14-E93E95F9A1DB}"/>
              </a:ext>
            </a:extLst>
          </p:cNvPr>
          <p:cNvSpPr txBox="1"/>
          <p:nvPr/>
        </p:nvSpPr>
        <p:spPr>
          <a:xfrm>
            <a:off x="741362" y="509804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X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2000ms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93%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1AA8F-0AB2-65A1-2C23-BCA9D39ED458}"/>
              </a:ext>
            </a:extLst>
          </p:cNvPr>
          <p:cNvSpPr txBox="1"/>
          <p:nvPr/>
        </p:nvSpPr>
        <p:spPr>
          <a:xfrm>
            <a:off x="4901708" y="512471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O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10ms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63%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312396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74983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성능을 위해 </a:t>
            </a:r>
            <a:r>
              <a:rPr lang="en-US" altLang="ko-KR" sz="1200" dirty="0"/>
              <a:t>Concurrency Visualizer</a:t>
            </a:r>
            <a:r>
              <a:rPr lang="ko-KR" altLang="en-US" sz="1200" dirty="0"/>
              <a:t>로 프로파일링 해본 결과 </a:t>
            </a:r>
            <a:r>
              <a:rPr lang="en-US" altLang="ko-KR" sz="1200" dirty="0"/>
              <a:t>Move</a:t>
            </a:r>
            <a:r>
              <a:rPr lang="ko-KR" altLang="en-US" sz="1200" dirty="0"/>
              <a:t>패킷 전달 시 발생하는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오버헤드가 가장 문제라고 판단하였다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하지만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함수는 내부 구현에 접근할 수 없어서 직접 최적화를 시도하는 것은 불가능하였다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따라서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호출 횟수를 줄이는 방향으로 접근하였고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각 </a:t>
            </a:r>
            <a:r>
              <a:rPr lang="en-US" altLang="ko-KR" sz="1200" dirty="0"/>
              <a:t>Player</a:t>
            </a:r>
            <a:r>
              <a:rPr lang="ko-KR" altLang="en-US" sz="12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를 호출하도록 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이 자료구조를 업데이트 할 때 순회와 검색이 둘 다 많이 발생하여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와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조합해 메모리에서 연속적인 구조를 유지하면서도 검색</a:t>
            </a:r>
            <a:r>
              <a:rPr lang="en-US" altLang="ko-KR" sz="1200" dirty="0"/>
              <a:t>/</a:t>
            </a:r>
            <a:r>
              <a:rPr lang="ko-KR" altLang="en-US" sz="1200" dirty="0"/>
              <a:t>삽입</a:t>
            </a:r>
            <a:r>
              <a:rPr lang="en-US" altLang="ko-KR" sz="1200" dirty="0"/>
              <a:t>/</a:t>
            </a:r>
            <a:r>
              <a:rPr lang="ko-KR" altLang="en-US" sz="1200" dirty="0"/>
              <a:t>삭제에 </a:t>
            </a:r>
            <a:r>
              <a:rPr lang="en-US" altLang="ko-KR" sz="1200" dirty="0"/>
              <a:t>O(1) </a:t>
            </a:r>
            <a:r>
              <a:rPr lang="ko-KR" altLang="en-US" sz="1200" dirty="0" err="1"/>
              <a:t>시간복잡도를</a:t>
            </a:r>
            <a:r>
              <a:rPr lang="ko-KR" altLang="en-US" sz="1200" dirty="0"/>
              <a:t> 가진 자료구조를 제작하였다</a:t>
            </a:r>
            <a:r>
              <a:rPr lang="en-US" altLang="ko-KR" sz="1200" dirty="0"/>
              <a:t>.</a:t>
            </a:r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코드는 </a:t>
            </a:r>
            <a:r>
              <a:rPr lang="en-US" altLang="ko-KR" sz="1000" dirty="0" err="1"/>
              <a:t>MoveBroadcaster.h</a:t>
            </a:r>
            <a:r>
              <a:rPr lang="en-US" altLang="ko-KR" sz="1000" dirty="0"/>
              <a:t> /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/>
              <a:t>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115484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122EC0-99C6-5230-431D-160C2E8E1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25" y="2873620"/>
            <a:ext cx="4596637" cy="23508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F91431-4069-D442-E87B-82B76392C398}"/>
              </a:ext>
            </a:extLst>
          </p:cNvPr>
          <p:cNvSpPr txBox="1"/>
          <p:nvPr/>
        </p:nvSpPr>
        <p:spPr>
          <a:xfrm>
            <a:off x="94425" y="5270440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이용한 </a:t>
            </a:r>
            <a:r>
              <a:rPr lang="en-US" altLang="ko-KR" sz="1000" dirty="0" err="1"/>
              <a:t>view_list</a:t>
            </a:r>
            <a:r>
              <a:rPr lang="en-US" altLang="ko-KR" sz="1000" dirty="0"/>
              <a:t> </a:t>
            </a:r>
            <a:r>
              <a:rPr lang="ko-KR" altLang="en-US" sz="1000" dirty="0"/>
              <a:t>적용 전 성능분석 결과</a:t>
            </a:r>
            <a:endParaRPr lang="en-US" altLang="ko-KR" sz="1000" dirty="0"/>
          </a:p>
          <a:p>
            <a:r>
              <a:rPr lang="en-US" altLang="ko-KR" sz="1000" dirty="0"/>
              <a:t>Send</a:t>
            </a:r>
            <a:r>
              <a:rPr lang="ko-KR" altLang="en-US" sz="1000" dirty="0"/>
              <a:t>관련 함수의 오버헤드가 가장 높게 측정되었다</a:t>
            </a:r>
            <a:r>
              <a:rPr lang="en-US" altLang="ko-KR" sz="1000" dirty="0"/>
              <a:t>. (</a:t>
            </a:r>
            <a:r>
              <a:rPr lang="ko-KR" altLang="en-US" sz="1000" dirty="0"/>
              <a:t>약 </a:t>
            </a:r>
            <a:r>
              <a:rPr lang="en-US" altLang="ko-KR" sz="1000" dirty="0"/>
              <a:t>40%</a:t>
            </a:r>
            <a:r>
              <a:rPr lang="ko-KR" altLang="en-US" sz="1000" dirty="0"/>
              <a:t>의 지분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9176921-1FE4-9E8C-2555-72E4266C6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854447"/>
            <a:ext cx="4475988" cy="2389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753236-5A66-9E05-8E08-69B7498490A4}"/>
              </a:ext>
            </a:extLst>
          </p:cNvPr>
          <p:cNvSpPr txBox="1"/>
          <p:nvPr/>
        </p:nvSpPr>
        <p:spPr>
          <a:xfrm>
            <a:off x="4895850" y="5280668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전 </a:t>
            </a:r>
            <a:r>
              <a:rPr lang="en-US" altLang="ko-KR" sz="1000" dirty="0"/>
              <a:t>2</a:t>
            </a:r>
            <a:r>
              <a:rPr lang="ko-KR" altLang="en-US" sz="1000" dirty="0"/>
              <a:t>천명의 더미 클라이언트 부하테스트 결과</a:t>
            </a:r>
            <a:endParaRPr lang="en-US" altLang="ko-KR" sz="1000" dirty="0"/>
          </a:p>
          <a:p>
            <a:r>
              <a:rPr lang="ko-KR" altLang="en-US" sz="1000" dirty="0"/>
              <a:t>약 </a:t>
            </a:r>
            <a:r>
              <a:rPr lang="en-US" altLang="ko-KR" sz="1000" dirty="0"/>
              <a:t>160ms</a:t>
            </a:r>
            <a:r>
              <a:rPr lang="ko-KR" altLang="en-US" sz="1000" dirty="0"/>
              <a:t>의 딜레이와 </a:t>
            </a:r>
            <a:r>
              <a:rPr lang="en-US" altLang="ko-KR" sz="1000" dirty="0"/>
              <a:t>92%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B961FE-EE1F-CC8E-4912-64C73AAE2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" y="483479"/>
            <a:ext cx="4559299" cy="237227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2D56A9-3924-B275-6AF6-7EEAC7CE1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793" y="3051177"/>
            <a:ext cx="4610100" cy="21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096858-7852-8323-2059-C16831A6BC58}"/>
              </a:ext>
            </a:extLst>
          </p:cNvPr>
          <p:cNvSpPr txBox="1"/>
          <p:nvPr/>
        </p:nvSpPr>
        <p:spPr>
          <a:xfrm>
            <a:off x="5211793" y="5171217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시야리스트 업데이트 알고리즘의 수도코드</a:t>
            </a:r>
            <a:endParaRPr lang="en-US" altLang="ko-KR" sz="1000" dirty="0"/>
          </a:p>
          <a:p>
            <a:r>
              <a:rPr lang="ko-KR" altLang="en-US" sz="1000" dirty="0"/>
              <a:t>상세한 코드는 </a:t>
            </a:r>
            <a:r>
              <a:rPr lang="en-US" altLang="ko-KR" sz="1000" dirty="0"/>
              <a:t>MoveBroadcaster.cpp</a:t>
            </a:r>
            <a:r>
              <a:rPr lang="ko-KR" altLang="en-US" sz="1000" dirty="0"/>
              <a:t> 참조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A00D2D-4E52-60D0-0D10-9EE4708E6C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2700" y="99223"/>
            <a:ext cx="4848286" cy="25201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82D61F-9F8B-E4E5-ABEC-5E174BFDDA0C}"/>
              </a:ext>
            </a:extLst>
          </p:cNvPr>
          <p:cNvSpPr txBox="1"/>
          <p:nvPr/>
        </p:nvSpPr>
        <p:spPr>
          <a:xfrm>
            <a:off x="119859" y="2835275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적용 후 개선된 프로파일링 결과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4459A-9739-4909-A951-BDD24A50E197}"/>
              </a:ext>
            </a:extLst>
          </p:cNvPr>
          <p:cNvSpPr txBox="1"/>
          <p:nvPr/>
        </p:nvSpPr>
        <p:spPr>
          <a:xfrm>
            <a:off x="5597494" y="2651067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더미클라이언트</a:t>
            </a:r>
            <a:r>
              <a:rPr lang="ko-KR" altLang="en-US" sz="1000" dirty="0"/>
              <a:t> </a:t>
            </a:r>
            <a:r>
              <a:rPr lang="en-US" altLang="ko-KR" sz="1000" dirty="0"/>
              <a:t>5</a:t>
            </a:r>
            <a:r>
              <a:rPr lang="ko-KR" altLang="en-US" sz="1000" dirty="0"/>
              <a:t>천명 수준에서 </a:t>
            </a:r>
            <a:r>
              <a:rPr lang="en-US" altLang="ko-KR" sz="1000" dirty="0"/>
              <a:t>10ms </a:t>
            </a:r>
            <a:r>
              <a:rPr lang="ko-KR" altLang="en-US" sz="1000" dirty="0"/>
              <a:t>딜레이와 </a:t>
            </a:r>
            <a:r>
              <a:rPr lang="en-US" altLang="ko-KR" sz="1000" dirty="0"/>
              <a:t>41%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DC54C8-2093-4710-421A-96E06413C9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48150"/>
            <a:ext cx="4491038" cy="110347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1BB91BA-9F42-97AB-4E64-26E2F9DD82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20039"/>
            <a:ext cx="4491037" cy="12281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4F27B04-CF3D-AD6F-871A-4738C6B8478B}"/>
              </a:ext>
            </a:extLst>
          </p:cNvPr>
          <p:cNvSpPr txBox="1"/>
          <p:nvPr/>
        </p:nvSpPr>
        <p:spPr>
          <a:xfrm>
            <a:off x="-68262" y="5351621"/>
            <a:ext cx="5230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vector</a:t>
            </a:r>
            <a:r>
              <a:rPr lang="ko-KR" altLang="en-US" sz="1000" dirty="0"/>
              <a:t>와 해시테이블을 같이 이용하여 메모리에서 연속적인 구조를 유지하면서 검색</a:t>
            </a:r>
            <a:r>
              <a:rPr lang="en-US" altLang="ko-KR" sz="1000" dirty="0"/>
              <a:t>/</a:t>
            </a:r>
            <a:r>
              <a:rPr lang="ko-KR" altLang="en-US" sz="1000" dirty="0"/>
              <a:t>삽입</a:t>
            </a:r>
            <a:r>
              <a:rPr lang="en-US" altLang="ko-KR" sz="1000" dirty="0"/>
              <a:t>/</a:t>
            </a:r>
            <a:r>
              <a:rPr lang="ko-KR" altLang="en-US" sz="1000" dirty="0"/>
              <a:t>삭제에 </a:t>
            </a:r>
            <a:r>
              <a:rPr lang="en-US" altLang="ko-KR" sz="1000" dirty="0"/>
              <a:t>O(1) </a:t>
            </a:r>
            <a:r>
              <a:rPr lang="ko-KR" altLang="en-US" sz="1000" dirty="0" err="1"/>
              <a:t>시간복잡도를</a:t>
            </a:r>
            <a:r>
              <a:rPr lang="ko-KR" altLang="en-US" sz="1000" dirty="0"/>
              <a:t> 가진 커스텀 자료구조 </a:t>
            </a:r>
            <a:r>
              <a:rPr lang="en-US" altLang="ko-KR" sz="1000" dirty="0"/>
              <a:t>(VectorHash.hpp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4F694-6EB7-0B18-DC21-2ACA7E39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66" y="108851"/>
            <a:ext cx="9071640" cy="524562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기타 구현 내용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73FF06-3B31-ECEA-32CD-CD78FBB3BF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0166" y="547001"/>
            <a:ext cx="9071640" cy="477996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sz="4800" dirty="0"/>
              <a:t>1. DB</a:t>
            </a:r>
            <a:r>
              <a:rPr lang="ko-KR" altLang="en-US" sz="4800" dirty="0"/>
              <a:t> 쿼리서버</a:t>
            </a:r>
            <a:endParaRPr lang="en-US" altLang="ko-KR" sz="4800" dirty="0"/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en-US" altLang="ko-KR" sz="4800" dirty="0"/>
              <a:t>DB</a:t>
            </a:r>
            <a:r>
              <a:rPr lang="ko-KR" altLang="en-US" sz="4800" dirty="0"/>
              <a:t>관련 로직을 수행하는 서버를 따로 제작하여 메인 서버는 해당 서버의 소켓으로 관련 요청만 보내게 함으로써 메인 서버의 부하를 감소시켰다</a:t>
            </a:r>
            <a:r>
              <a:rPr lang="en-US" altLang="ko-KR" sz="4800" dirty="0"/>
              <a:t>. (</a:t>
            </a:r>
            <a:r>
              <a:rPr lang="ko-KR" altLang="en-US" sz="4800" dirty="0"/>
              <a:t>첨부된 </a:t>
            </a:r>
            <a:r>
              <a:rPr lang="en-US" altLang="ko-KR" sz="4800" dirty="0"/>
              <a:t>Git</a:t>
            </a:r>
            <a:r>
              <a:rPr lang="ko-KR" altLang="en-US" sz="4800" dirty="0"/>
              <a:t>의 </a:t>
            </a:r>
            <a:r>
              <a:rPr lang="en-US" altLang="ko-KR" sz="4800" dirty="0" err="1"/>
              <a:t>DBQueryServer</a:t>
            </a:r>
            <a:r>
              <a:rPr lang="en-US" altLang="ko-KR" sz="4800" dirty="0"/>
              <a:t> </a:t>
            </a:r>
            <a:r>
              <a:rPr lang="ko-KR" altLang="en-US" sz="4800" dirty="0"/>
              <a:t>솔루션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2. </a:t>
            </a:r>
            <a:r>
              <a:rPr lang="ko-KR" altLang="en-US" sz="4800" dirty="0" err="1"/>
              <a:t>행동트리</a:t>
            </a:r>
            <a:r>
              <a:rPr lang="ko-KR" altLang="en-US" sz="4800" dirty="0"/>
              <a:t> 및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sz="4800" dirty="0" err="1"/>
              <a:t>행동트리</a:t>
            </a:r>
            <a:r>
              <a:rPr lang="ko-KR" altLang="en-US" sz="4800" dirty="0"/>
              <a:t> 프레임워크를 직접 제작하여 보스와 같은 복잡한 몬스터는 </a:t>
            </a:r>
            <a:r>
              <a:rPr lang="ko-KR" altLang="en-US" sz="4800" dirty="0" err="1"/>
              <a:t>행동트리를</a:t>
            </a:r>
            <a:r>
              <a:rPr lang="en-US" altLang="ko-KR" sz="4800" dirty="0"/>
              <a:t>, </a:t>
            </a:r>
            <a:r>
              <a:rPr lang="ko-KR" altLang="en-US" sz="4800" dirty="0"/>
              <a:t>간단한 일반 몬스터의 경우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  <a:r>
              <a:rPr lang="ko-KR" altLang="en-US" sz="4800" dirty="0"/>
              <a:t>를 구현하였다</a:t>
            </a:r>
            <a:r>
              <a:rPr lang="en-US" altLang="ko-KR" sz="4800" dirty="0"/>
              <a:t>. ( </a:t>
            </a:r>
            <a:r>
              <a:rPr lang="en-US" altLang="ko-KR" sz="4800" dirty="0" err="1"/>
              <a:t>TickTimer.h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BehaviorTree.hpp , </a:t>
            </a:r>
            <a:r>
              <a:rPr lang="en-US" altLang="ko-KR" sz="4800" dirty="0" err="1"/>
              <a:t>ContentsBehaviorNode.h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BossBehaviorNode.h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3. </a:t>
            </a:r>
            <a:r>
              <a:rPr lang="ko-KR" altLang="en-US" sz="4800" dirty="0"/>
              <a:t>채널 및 인스턴스 던전 구조</a:t>
            </a:r>
            <a:endParaRPr lang="en-US" altLang="ko-KR" sz="4800" dirty="0"/>
          </a:p>
          <a:p>
            <a:pPr>
              <a:lnSpc>
                <a:spcPct val="17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유저를 분산시키기 위한 채널 및 파티 퀘스트 수행을 위한 인스턴스 던전을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</a:t>
            </a:r>
            <a:r>
              <a:rPr lang="en-US" altLang="ko-KR" sz="4800" dirty="0"/>
              <a:t>, </a:t>
            </a:r>
            <a:r>
              <a:rPr lang="en-US" altLang="ko-KR" sz="4800" dirty="0" err="1"/>
              <a:t>FieldMgr.h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4. </a:t>
            </a:r>
            <a:r>
              <a:rPr lang="ko-KR" altLang="en-US" sz="4800" dirty="0"/>
              <a:t>파티 퀘스트 컨텐츠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인스턴스 던전에서 수행할 파티 퀘스트 컨텐츠들을 구현하였다</a:t>
            </a:r>
            <a:r>
              <a:rPr lang="en-US" altLang="ko-KR" sz="4800" dirty="0"/>
              <a:t>. (NPC</a:t>
            </a:r>
            <a:r>
              <a:rPr lang="ko-KR" altLang="en-US" sz="4800" dirty="0"/>
              <a:t> </a:t>
            </a:r>
            <a:r>
              <a:rPr lang="ko-KR" altLang="en-US" sz="4800" dirty="0" err="1"/>
              <a:t>호위퀘스트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사냥 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침투 퀘스트</a:t>
            </a:r>
            <a:r>
              <a:rPr lang="en-US" altLang="ko-KR" sz="4800" dirty="0"/>
              <a:t>) (</a:t>
            </a:r>
            <a:r>
              <a:rPr lang="en-US" altLang="ko-KR" sz="4800" dirty="0" err="1"/>
              <a:t>QuestRoom.h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 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5. </a:t>
            </a:r>
            <a:r>
              <a:rPr lang="ko-KR" altLang="en-US" sz="4800" dirty="0"/>
              <a:t>파티시스템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수락 </a:t>
            </a:r>
            <a:r>
              <a:rPr lang="en-US" altLang="ko-KR" sz="4800" dirty="0"/>
              <a:t>, </a:t>
            </a:r>
            <a:r>
              <a:rPr lang="ko-KR" altLang="en-US" sz="4800" dirty="0"/>
              <a:t>거절이 가능하며 파티 퀘스트 수행 도중 파티장이 나간다면 그 다음 유저가 자동으로 파티장이 되는 파티 시스템을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6. </a:t>
            </a:r>
            <a:r>
              <a:rPr lang="ko-KR" altLang="en-US" sz="4800" dirty="0"/>
              <a:t>움직임 보간 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클라이언트 사이드에서 다른 유저의 위치 동기화를 </a:t>
            </a:r>
            <a:r>
              <a:rPr lang="en-US" altLang="ko-KR" sz="4800" dirty="0"/>
              <a:t>0.1</a:t>
            </a:r>
            <a:r>
              <a:rPr lang="ko-KR" altLang="en-US" sz="4800" dirty="0"/>
              <a:t>초 </a:t>
            </a:r>
            <a:r>
              <a:rPr lang="en-US" altLang="ko-KR" sz="4800" dirty="0"/>
              <a:t>~ 0.5</a:t>
            </a:r>
            <a:r>
              <a:rPr lang="ko-KR" altLang="en-US" sz="4800" dirty="0"/>
              <a:t>초에 한번만 해도 자연스럽게 보이도록 보간 시스템을 구현하였다</a:t>
            </a:r>
            <a:r>
              <a:rPr lang="en-US" altLang="ko-KR" sz="4800" dirty="0"/>
              <a:t>. (</a:t>
            </a:r>
            <a:r>
              <a:rPr lang="ko-KR" altLang="en-US" sz="4800" dirty="0"/>
              <a:t>서버 부하 감소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 (</a:t>
            </a:r>
            <a:r>
              <a:rPr lang="ko-KR" altLang="en-US" sz="4800" dirty="0"/>
              <a:t>클라이언트 쪽 솔루션의 </a:t>
            </a:r>
            <a:r>
              <a:rPr lang="en-US" altLang="ko-KR" sz="4800" dirty="0" err="1"/>
              <a:t>MovePacketSender.h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MoveInterpolator.h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Interpolator.hpp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7. </a:t>
            </a:r>
            <a:r>
              <a:rPr lang="ko-KR" altLang="en-US" sz="4800" dirty="0"/>
              <a:t>클라이언트 사이드에서의 네트워크 관련 로직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 - </a:t>
            </a:r>
            <a:r>
              <a:rPr lang="ko-KR" altLang="en-US" sz="4800" dirty="0"/>
              <a:t>클라이언트 사이드에서 연결 및 패킷 송수신 로직을 구현하고</a:t>
            </a:r>
            <a:r>
              <a:rPr lang="en-US" altLang="ko-KR" sz="4800" dirty="0"/>
              <a:t>, </a:t>
            </a:r>
            <a:r>
              <a:rPr lang="ko-KR" altLang="en-US" sz="4800" dirty="0"/>
              <a:t>서버로부터 전달되는 유저</a:t>
            </a:r>
            <a:r>
              <a:rPr lang="en-US" altLang="ko-KR" sz="4800" dirty="0"/>
              <a:t>·</a:t>
            </a:r>
            <a:r>
              <a:rPr lang="ko-KR" altLang="en-US" sz="4800" dirty="0"/>
              <a:t>몬스터</a:t>
            </a:r>
            <a:r>
              <a:rPr lang="en-US" altLang="ko-KR" sz="4800" dirty="0"/>
              <a:t>·</a:t>
            </a:r>
            <a:r>
              <a:rPr lang="ko-KR" altLang="en-US" sz="4800" dirty="0"/>
              <a:t>각종 컨텐츠 정보를 동기화하였다</a:t>
            </a:r>
            <a:r>
              <a:rPr lang="en-US" altLang="ko-KR" sz="4800" dirty="0"/>
              <a:t>.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8.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 및 자동화 툴 제작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라이브러리를 이용하여 프로토콜 및 패킷을 정의하였고 이를 간편하게 사용하기 위해 </a:t>
            </a:r>
            <a:r>
              <a:rPr lang="ko-KR" altLang="en-US" sz="4800" dirty="0" err="1"/>
              <a:t>파이썬과</a:t>
            </a:r>
            <a:r>
              <a:rPr lang="ko-KR" altLang="en-US" sz="4800" dirty="0"/>
              <a:t> </a:t>
            </a:r>
            <a:r>
              <a:rPr lang="en-US" altLang="ko-KR" sz="4800" dirty="0"/>
              <a:t>Jinja2 </a:t>
            </a:r>
            <a:r>
              <a:rPr lang="ko-KR" altLang="en-US" sz="4800" dirty="0"/>
              <a:t>라이브러리를 이용한 툴을 제작해 프로토콜 및 패킷 작성을 자동화하였다</a:t>
            </a:r>
            <a:r>
              <a:rPr lang="en-US" altLang="ko-KR" sz="4800" dirty="0"/>
              <a:t>.</a:t>
            </a:r>
            <a:r>
              <a:rPr lang="ko-KR" altLang="en-US" sz="4800" dirty="0"/>
              <a:t> 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dirty="0"/>
              <a:t>9. </a:t>
            </a:r>
            <a:r>
              <a:rPr lang="ko-KR" altLang="en-US" dirty="0"/>
              <a:t>더미 클라이언트를 이용한 부하 테스트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- </a:t>
            </a:r>
            <a:r>
              <a:rPr lang="ko-KR" altLang="en-US" dirty="0"/>
              <a:t>단순한 랜덤 움직임이 아닌 가까운 채집물들 중 </a:t>
            </a:r>
            <a:r>
              <a:rPr lang="en-US" altLang="ko-KR" dirty="0"/>
              <a:t>k</a:t>
            </a:r>
            <a:r>
              <a:rPr lang="ko-KR" altLang="en-US" dirty="0"/>
              <a:t>번째로 가까운 채집물을 향해 채집을 시도하고</a:t>
            </a:r>
            <a:r>
              <a:rPr lang="en-US" altLang="ko-KR" dirty="0"/>
              <a:t>, </a:t>
            </a:r>
            <a:r>
              <a:rPr lang="ko-KR" altLang="en-US" dirty="0"/>
              <a:t>공격 및 스킬을 사용하여 간단한 전투가 가능한 </a:t>
            </a:r>
            <a:r>
              <a:rPr lang="ko-KR" altLang="en-US" dirty="0" err="1"/>
              <a:t>더미클라이언트를</a:t>
            </a:r>
            <a:r>
              <a:rPr lang="ko-KR" altLang="en-US" dirty="0"/>
              <a:t> 이용해 서버의 안정성 테스트 및 성능 측정이 가능하도록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0331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2284</TotalTime>
  <Words>5536</Words>
  <Application>Microsoft Office PowerPoint</Application>
  <PresentationFormat>사용자 지정</PresentationFormat>
  <Paragraphs>423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1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6. view list (시야처리)</vt:lpstr>
      <vt:lpstr>PowerPoint 프레젠테이션</vt:lpstr>
      <vt:lpstr>4.4 기타 구현 내용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1068</cp:revision>
  <dcterms:created xsi:type="dcterms:W3CDTF">2025-08-16T11:18:25Z</dcterms:created>
  <dcterms:modified xsi:type="dcterms:W3CDTF">2025-09-11T14:18:31Z</dcterms:modified>
  <dc:language>ko-KR</dc:language>
</cp:coreProperties>
</file>